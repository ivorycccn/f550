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85" r:id="rId3"/>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82" r:id="rId19"/>
    <p:sldId id="271" r:id="rId20"/>
    <p:sldId id="272" r:id="rId21"/>
    <p:sldId id="273" r:id="rId22"/>
    <p:sldId id="274" r:id="rId23"/>
    <p:sldId id="275" r:id="rId24"/>
    <p:sldId id="283" r:id="rId25"/>
    <p:sldId id="284" r:id="rId2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5df25b6-d1b8-478e-abd0-4a872af2edc1}">
          <p14:sldIdLst>
            <p14:sldId id="285"/>
          </p14:sldIdLst>
        </p14:section>
        <p14:section name="exercise1" id="{d377b1fd-0617-401b-b373-a0f4df3fe926}">
          <p14:sldIdLst>
            <p14:sldId id="256"/>
            <p14:sldId id="257"/>
            <p14:sldId id="258"/>
            <p14:sldId id="259"/>
            <p14:sldId id="260"/>
            <p14:sldId id="261"/>
            <p14:sldId id="262"/>
            <p14:sldId id="263"/>
            <p14:sldId id="264"/>
            <p14:sldId id="265"/>
            <p14:sldId id="266"/>
            <p14:sldId id="267"/>
            <p14:sldId id="268"/>
            <p14:sldId id="269"/>
          </p14:sldIdLst>
        </p14:section>
        <p14:section name="exercise2" id="{784eb723-925c-496f-a884-99a9ef28b1ca}">
          <p14:sldIdLst>
            <p14:sldId id="282"/>
            <p14:sldId id="271"/>
            <p14:sldId id="272"/>
            <p14:sldId id="273"/>
            <p14:sldId id="274"/>
            <p14:sldId id="275"/>
          </p14:sldIdLst>
        </p14:section>
        <p14:section name="appendix" id="{0e89bb30-87cd-4bd3-998f-5d0149a075ca}">
          <p14:sldIdLst>
            <p14:sldId id="283"/>
            <p14:sldId id="2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5DC"/>
    <a:srgbClr val="FAF7F4"/>
    <a:srgbClr val="8B3A1A"/>
    <a:srgbClr val="C8692A"/>
    <a:srgbClr val="FDEFE6"/>
    <a:srgbClr val="F0AB7C"/>
    <a:srgbClr val="F4C2A1"/>
    <a:srgbClr val="D9C9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1.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8" Type="http://schemas.openxmlformats.org/officeDocument/2006/relationships/notesSlide" Target="../notesSlides/notesSlide2.xml"/><Relationship Id="rId17" Type="http://schemas.openxmlformats.org/officeDocument/2006/relationships/slideLayout" Target="../slideLayouts/slideLayout1.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8" Type="http://schemas.openxmlformats.org/officeDocument/2006/relationships/notesSlide" Target="../notesSlides/notesSlide3.xml"/><Relationship Id="rId17" Type="http://schemas.openxmlformats.org/officeDocument/2006/relationships/slideLayout" Target="../slideLayouts/slideLayout1.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3" Type="http://schemas.openxmlformats.org/officeDocument/2006/relationships/notesSlide" Target="../notesSlides/notesSlide4.xml"/><Relationship Id="rId22" Type="http://schemas.openxmlformats.org/officeDocument/2006/relationships/slideLayout" Target="../slideLayouts/slideLayout1.xml"/><Relationship Id="rId21" Type="http://schemas.openxmlformats.org/officeDocument/2006/relationships/tags" Target="../tags/tag73.xml"/><Relationship Id="rId20" Type="http://schemas.openxmlformats.org/officeDocument/2006/relationships/tags" Target="../tags/tag72.xml"/><Relationship Id="rId2" Type="http://schemas.openxmlformats.org/officeDocument/2006/relationships/tags" Target="../tags/tag54.xml"/><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tags" Target="../tags/tag69.xml"/><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6" Type="http://schemas.openxmlformats.org/officeDocument/2006/relationships/notesSlide" Target="../notesSlides/notesSlide6.xml"/><Relationship Id="rId15" Type="http://schemas.openxmlformats.org/officeDocument/2006/relationships/slideLayout" Target="../slideLayouts/slideLayout1.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9" Type="http://schemas.openxmlformats.org/officeDocument/2006/relationships/notesSlide" Target="../notesSlides/notesSlide7.xml"/><Relationship Id="rId18" Type="http://schemas.openxmlformats.org/officeDocument/2006/relationships/slideLayout" Target="../slideLayouts/slideLayout1.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3" Type="http://schemas.openxmlformats.org/officeDocument/2006/relationships/notesSlide" Target="../notesSlides/notesSlide8.xml"/><Relationship Id="rId12" Type="http://schemas.openxmlformats.org/officeDocument/2006/relationships/slideLayout" Target="../slideLayouts/slideLayout1.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2" Type="http://schemas.openxmlformats.org/officeDocument/2006/relationships/notesSlide" Target="../notesSlides/notesSlide9.xml"/><Relationship Id="rId11" Type="http://schemas.openxmlformats.org/officeDocument/2006/relationships/slideLayout" Target="../slideLayouts/slideLayout1.xml"/><Relationship Id="rId10" Type="http://schemas.openxmlformats.org/officeDocument/2006/relationships/tags" Target="../tags/tag121.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9" Type="http://schemas.openxmlformats.org/officeDocument/2006/relationships/notesSlide" Target="../notesSlides/notesSlide11.xml"/><Relationship Id="rId18" Type="http://schemas.openxmlformats.org/officeDocument/2006/relationships/slideLayout" Target="../slideLayouts/slideLayout1.xml"/><Relationship Id="rId17" Type="http://schemas.openxmlformats.org/officeDocument/2006/relationships/tags" Target="../tags/tag149.xml"/><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3" Type="http://schemas.openxmlformats.org/officeDocument/2006/relationships/notesSlide" Target="../notesSlides/notesSlide12.xml"/><Relationship Id="rId12" Type="http://schemas.openxmlformats.org/officeDocument/2006/relationships/slideLayout" Target="../slideLayouts/slideLayout1.xml"/><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6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4.bin"/><Relationship Id="rId7" Type="http://schemas.openxmlformats.org/officeDocument/2006/relationships/image" Target="../media/image12.wmf"/><Relationship Id="rId6" Type="http://schemas.openxmlformats.org/officeDocument/2006/relationships/oleObject" Target="../embeddings/oleObject3.bin"/><Relationship Id="rId5" Type="http://schemas.openxmlformats.org/officeDocument/2006/relationships/image" Target="../media/image11.wmf"/><Relationship Id="rId4" Type="http://schemas.openxmlformats.org/officeDocument/2006/relationships/oleObject" Target="../embeddings/oleObject2.bin"/><Relationship Id="rId3" Type="http://schemas.openxmlformats.org/officeDocument/2006/relationships/image" Target="../media/image10.wmf"/><Relationship Id="rId2" Type="http://schemas.openxmlformats.org/officeDocument/2006/relationships/oleObject" Target="../embeddings/oleObject1.bin"/><Relationship Id="rId13" Type="http://schemas.openxmlformats.org/officeDocument/2006/relationships/vmlDrawing" Target="../drawings/vmlDrawing1.vml"/><Relationship Id="rId12" Type="http://schemas.openxmlformats.org/officeDocument/2006/relationships/slideLayout" Target="../slideLayouts/slideLayout1.xml"/><Relationship Id="rId11" Type="http://schemas.openxmlformats.org/officeDocument/2006/relationships/image" Target="../media/image14.wmf"/><Relationship Id="rId10" Type="http://schemas.openxmlformats.org/officeDocument/2006/relationships/oleObject" Target="../embeddings/oleObject5.bin"/><Relationship Id="rId1" Type="http://schemas.openxmlformats.org/officeDocument/2006/relationships/tags" Target="../tags/tag161.xml"/></Relationships>
</file>

<file path=ppt/slides/_rels/slide23.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9.bin"/><Relationship Id="rId7" Type="http://schemas.openxmlformats.org/officeDocument/2006/relationships/image" Target="../media/image17.wmf"/><Relationship Id="rId6" Type="http://schemas.openxmlformats.org/officeDocument/2006/relationships/oleObject" Target="../embeddings/oleObject8.bin"/><Relationship Id="rId5" Type="http://schemas.openxmlformats.org/officeDocument/2006/relationships/image" Target="../media/image16.wmf"/><Relationship Id="rId4" Type="http://schemas.openxmlformats.org/officeDocument/2006/relationships/oleObject" Target="../embeddings/oleObject7.bin"/><Relationship Id="rId3" Type="http://schemas.openxmlformats.org/officeDocument/2006/relationships/image" Target="../media/image15.wmf"/><Relationship Id="rId2" Type="http://schemas.openxmlformats.org/officeDocument/2006/relationships/oleObject" Target="../embeddings/oleObject6.bin"/><Relationship Id="rId17" Type="http://schemas.openxmlformats.org/officeDocument/2006/relationships/vmlDrawing" Target="../drawings/vmlDrawing2.vml"/><Relationship Id="rId16" Type="http://schemas.openxmlformats.org/officeDocument/2006/relationships/slideLayout" Target="../slideLayouts/slideLayout1.xml"/><Relationship Id="rId15" Type="http://schemas.openxmlformats.org/officeDocument/2006/relationships/image" Target="../media/image21.wmf"/><Relationship Id="rId14" Type="http://schemas.openxmlformats.org/officeDocument/2006/relationships/oleObject" Target="../embeddings/oleObject12.bin"/><Relationship Id="rId13" Type="http://schemas.openxmlformats.org/officeDocument/2006/relationships/image" Target="../media/image20.wmf"/><Relationship Id="rId12" Type="http://schemas.openxmlformats.org/officeDocument/2006/relationships/oleObject" Target="../embeddings/oleObject11.bin"/><Relationship Id="rId11" Type="http://schemas.openxmlformats.org/officeDocument/2006/relationships/image" Target="../media/image19.wmf"/><Relationship Id="rId10" Type="http://schemas.openxmlformats.org/officeDocument/2006/relationships/oleObject" Target="../embeddings/oleObject10.bin"/><Relationship Id="rId1" Type="http://schemas.openxmlformats.org/officeDocument/2006/relationships/tags" Target="../tags/tag1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607945" y="0"/>
            <a:ext cx="3927475"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chemeClr val="accent2">
              <a:lumMod val="75000"/>
            </a:schemeClr>
          </a:solidFill>
          <a:ln w="12700">
            <a:solidFill>
              <a:schemeClr val="accent2">
                <a:lumMod val="75000"/>
              </a:schemeClr>
            </a:solidFill>
            <a:prstDash val="solid"/>
          </a:ln>
        </p:spPr>
      </p:sp>
      <p:sp>
        <p:nvSpPr>
          <p:cNvPr id="3" name="Shape 1"/>
          <p:cNvSpPr/>
          <p:nvPr/>
        </p:nvSpPr>
        <p:spPr>
          <a:xfrm>
            <a:off x="3474720" y="0"/>
            <a:ext cx="109728" cy="5143500"/>
          </a:xfrm>
          <a:prstGeom prst="rect">
            <a:avLst/>
          </a:prstGeom>
          <a:solidFill>
            <a:schemeClr val="accent2">
              <a:lumMod val="60000"/>
              <a:lumOff val="40000"/>
            </a:schemeClr>
          </a:solidFill>
          <a:ln w="12700">
            <a:solidFill>
              <a:schemeClr val="accent2">
                <a:lumMod val="60000"/>
                <a:lumOff val="40000"/>
              </a:schemeClr>
            </a:solidFill>
            <a:prstDash val="solid"/>
          </a:ln>
        </p:spPr>
      </p:sp>
      <p:sp>
        <p:nvSpPr>
          <p:cNvPr id="4" name="Text 2"/>
          <p:cNvSpPr/>
          <p:nvPr/>
        </p:nvSpPr>
        <p:spPr>
          <a:xfrm>
            <a:off x="274320" y="411480"/>
            <a:ext cx="2926080" cy="320040"/>
          </a:xfrm>
          <a:prstGeom prst="rect">
            <a:avLst/>
          </a:prstGeom>
          <a:noFill/>
        </p:spPr>
        <p:txBody>
          <a:bodyPr wrap="square" lIns="0" tIns="0" rIns="0" bIns="0" rtlCol="0" anchor="ctr"/>
          <a:lstStyle/>
          <a:p>
            <a:pPr marL="0" indent="0">
              <a:buNone/>
            </a:pPr>
            <a:r>
              <a:rPr lang="en-US" sz="1000" i="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Application of AI in Finance</a:t>
            </a:r>
            <a:endParaRPr lang="en-US" sz="1000" i="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274320" y="960120"/>
            <a:ext cx="3017520" cy="1645920"/>
          </a:xfrm>
          <a:prstGeom prst="rect">
            <a:avLst/>
          </a:prstGeom>
          <a:noFill/>
        </p:spPr>
        <p:txBody>
          <a:bodyPr wrap="square" lIns="0" tIns="0" rIns="0" bIns="0" rtlCol="0" anchor="t"/>
          <a:lstStyle/>
          <a:p>
            <a:pPr marL="0" indent="0">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Forward-Looking</a:t>
            </a:r>
            <a:endParaRPr lang="en-US" sz="2600" dirty="0"/>
          </a:p>
          <a:p>
            <a:pPr marL="0" indent="0">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Sentiment Indicators</a:t>
            </a:r>
            <a:endParaRPr lang="en-US" sz="2600" dirty="0"/>
          </a:p>
        </p:txBody>
      </p:sp>
      <p:sp>
        <p:nvSpPr>
          <p:cNvPr id="6" name="Text 4"/>
          <p:cNvSpPr/>
          <p:nvPr/>
        </p:nvSpPr>
        <p:spPr>
          <a:xfrm>
            <a:off x="274320" y="2697480"/>
            <a:ext cx="3017520" cy="292608"/>
          </a:xfrm>
          <a:prstGeom prst="rect">
            <a:avLst/>
          </a:prstGeom>
          <a:noFill/>
        </p:spPr>
        <p:txBody>
          <a:bodyPr wrap="square" lIns="0" tIns="0" rIns="0" bIns="0" rtlCol="0" anchor="ctr"/>
          <a:lstStyle/>
          <a:p>
            <a:pPr marL="0" indent="0">
              <a:buNone/>
            </a:pPr>
            <a:r>
              <a:rPr lang="en-US" sz="1200"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IT vs Industrials  ·  S&amp;P 500  ·  2024</a:t>
            </a:r>
            <a:endParaRPr lang="en-US" sz="1200"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p:nvPr/>
        </p:nvSpPr>
        <p:spPr>
          <a:xfrm>
            <a:off x="274320" y="3072384"/>
            <a:ext cx="1645920" cy="256032"/>
          </a:xfrm>
          <a:prstGeom prst="rect">
            <a:avLst/>
          </a:prstGeom>
          <a:noFill/>
        </p:spPr>
        <p:txBody>
          <a:bodyPr wrap="square" lIns="0" tIns="0" rIns="0" bIns="0" rtlCol="0" anchor="ctr"/>
          <a:lstStyle/>
          <a:p>
            <a:pPr marL="0" indent="0">
              <a:buNone/>
            </a:pPr>
            <a:r>
              <a:rPr lang="en-US" sz="1000" i="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Exercise 1</a:t>
            </a:r>
            <a:endParaRPr lang="en-US" sz="1000" i="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custDataLst>
              <p:tags r:id="rId1"/>
            </p:custDataLst>
          </p:nvPr>
        </p:nvSpPr>
        <p:spPr>
          <a:xfrm>
            <a:off x="3886200" y="822960"/>
            <a:ext cx="329184" cy="329184"/>
          </a:xfrm>
          <a:prstGeom prst="ellipse">
            <a:avLst/>
          </a:prstGeom>
          <a:solidFill>
            <a:srgbClr val="C8692A"/>
          </a:solidFill>
          <a:ln w="12700">
            <a:solidFill>
              <a:srgbClr val="C8692A"/>
            </a:solidFill>
            <a:prstDash val="solid"/>
          </a:ln>
        </p:spPr>
      </p:sp>
      <p:sp>
        <p:nvSpPr>
          <p:cNvPr id="9" name="Text 7"/>
          <p:cNvSpPr/>
          <p:nvPr>
            <p:custDataLst>
              <p:tags r:id="rId2"/>
            </p:custDataLst>
          </p:nvPr>
        </p:nvSpPr>
        <p:spPr>
          <a:xfrm>
            <a:off x="3886200" y="82296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custDataLst>
              <p:tags r:id="rId3"/>
            </p:custDataLst>
          </p:nvPr>
        </p:nvSpPr>
        <p:spPr>
          <a:xfrm>
            <a:off x="4325112" y="822960"/>
            <a:ext cx="4572000" cy="20116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Sample Selection</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custDataLst>
              <p:tags r:id="rId4"/>
            </p:custDataLst>
          </p:nvPr>
        </p:nvSpPr>
        <p:spPr>
          <a:xfrm>
            <a:off x="4325112" y="1024128"/>
            <a:ext cx="4572000" cy="201168"/>
          </a:xfrm>
          <a:prstGeom prst="rect">
            <a:avLst/>
          </a:prstGeom>
          <a:noFill/>
        </p:spPr>
        <p:txBody>
          <a:bodyPr wrap="square" lIns="0" tIns="0" rIns="0" bIns="0" rtlCol="0" anchor="ctr"/>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178 companies · survivorship-bias corrected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custDataLst>
              <p:tags r:id="rId5"/>
            </p:custDataLst>
          </p:nvPr>
        </p:nvSpPr>
        <p:spPr>
          <a:xfrm>
            <a:off x="3886200" y="1591056"/>
            <a:ext cx="329184" cy="329184"/>
          </a:xfrm>
          <a:prstGeom prst="ellipse">
            <a:avLst/>
          </a:prstGeom>
          <a:solidFill>
            <a:srgbClr val="C8692A"/>
          </a:solidFill>
          <a:ln w="12700">
            <a:solidFill>
              <a:srgbClr val="C8692A"/>
            </a:solidFill>
            <a:prstDash val="solid"/>
          </a:ln>
        </p:spPr>
      </p:sp>
      <p:sp>
        <p:nvSpPr>
          <p:cNvPr id="13" name="Text 11"/>
          <p:cNvSpPr/>
          <p:nvPr>
            <p:custDataLst>
              <p:tags r:id="rId6"/>
            </p:custDataLst>
          </p:nvPr>
        </p:nvSpPr>
        <p:spPr>
          <a:xfrm>
            <a:off x="3886200" y="159105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custDataLst>
              <p:tags r:id="rId7"/>
            </p:custDataLst>
          </p:nvPr>
        </p:nvSpPr>
        <p:spPr>
          <a:xfrm>
            <a:off x="4325112" y="1591056"/>
            <a:ext cx="4572000" cy="20116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Text Segmentation</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custDataLst>
              <p:tags r:id="rId8"/>
            </p:custDataLst>
          </p:nvPr>
        </p:nvSpPr>
        <p:spPr>
          <a:xfrm>
            <a:off x="4325112" y="1792224"/>
            <a:ext cx="4572000" cy="201168"/>
          </a:xfrm>
          <a:prstGeom prst="rect">
            <a:avLst/>
          </a:prstGeom>
          <a:noFill/>
        </p:spPr>
        <p:txBody>
          <a:bodyPr wrap="square" lIns="0" tIns="0" rIns="0" bIns="0" rtlCol="0" anchor="ctr"/>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60,305 forward-looking sentences</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custDataLst>
              <p:tags r:id="rId9"/>
            </p:custDataLst>
          </p:nvPr>
        </p:nvSpPr>
        <p:spPr>
          <a:xfrm>
            <a:off x="3886200" y="2359152"/>
            <a:ext cx="329184" cy="329184"/>
          </a:xfrm>
          <a:prstGeom prst="ellipse">
            <a:avLst/>
          </a:prstGeom>
          <a:solidFill>
            <a:srgbClr val="C8692A"/>
          </a:solidFill>
          <a:ln w="12700">
            <a:solidFill>
              <a:srgbClr val="C8692A"/>
            </a:solidFill>
            <a:prstDash val="solid"/>
          </a:ln>
        </p:spPr>
      </p:sp>
      <p:sp>
        <p:nvSpPr>
          <p:cNvPr id="17" name="Text 15"/>
          <p:cNvSpPr/>
          <p:nvPr>
            <p:custDataLst>
              <p:tags r:id="rId10"/>
            </p:custDataLst>
          </p:nvPr>
        </p:nvSpPr>
        <p:spPr>
          <a:xfrm>
            <a:off x="3886200" y="235915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custDataLst>
              <p:tags r:id="rId11"/>
            </p:custDataLst>
          </p:nvPr>
        </p:nvSpPr>
        <p:spPr>
          <a:xfrm>
            <a:off x="4325112" y="2359152"/>
            <a:ext cx="4572000" cy="20116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Three-Method Scoring</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custDataLst>
              <p:tags r:id="rId12"/>
            </p:custDataLst>
          </p:nvPr>
        </p:nvSpPr>
        <p:spPr>
          <a:xfrm>
            <a:off x="4325112" y="2560320"/>
            <a:ext cx="4572000" cy="201168"/>
          </a:xfrm>
          <a:prstGeom prst="rect">
            <a:avLst/>
          </a:prstGeom>
          <a:noFill/>
        </p:spPr>
        <p:txBody>
          <a:bodyPr wrap="square" lIns="0" tIns="0" rIns="0" bIns="0" rtlCol="0" anchor="ctr"/>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LM Lexicon · FinBERT · GPT Intensity</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custDataLst>
              <p:tags r:id="rId13"/>
            </p:custDataLst>
          </p:nvPr>
        </p:nvSpPr>
        <p:spPr>
          <a:xfrm>
            <a:off x="3886200" y="3127248"/>
            <a:ext cx="329184" cy="329184"/>
          </a:xfrm>
          <a:prstGeom prst="ellipse">
            <a:avLst/>
          </a:prstGeom>
          <a:solidFill>
            <a:srgbClr val="C8692A"/>
          </a:solidFill>
          <a:ln w="12700">
            <a:solidFill>
              <a:srgbClr val="C8692A"/>
            </a:solidFill>
            <a:prstDash val="solid"/>
          </a:ln>
        </p:spPr>
      </p:sp>
      <p:sp>
        <p:nvSpPr>
          <p:cNvPr id="21" name="Text 19"/>
          <p:cNvSpPr/>
          <p:nvPr>
            <p:custDataLst>
              <p:tags r:id="rId14"/>
            </p:custDataLst>
          </p:nvPr>
        </p:nvSpPr>
        <p:spPr>
          <a:xfrm>
            <a:off x="3886200" y="312724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custDataLst>
              <p:tags r:id="rId15"/>
            </p:custDataLst>
          </p:nvPr>
        </p:nvSpPr>
        <p:spPr>
          <a:xfrm>
            <a:off x="4325112" y="3127248"/>
            <a:ext cx="4572000" cy="20116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Index Aggregation</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custDataLst>
              <p:tags r:id="rId16"/>
            </p:custDataLst>
          </p:nvPr>
        </p:nvSpPr>
        <p:spPr>
          <a:xfrm>
            <a:off x="4325112" y="3328416"/>
            <a:ext cx="4572000" cy="201168"/>
          </a:xfrm>
          <a:prstGeom prst="rect">
            <a:avLst/>
          </a:prstGeom>
          <a:noFill/>
        </p:spPr>
        <p:txBody>
          <a:bodyPr wrap="square" lIns="0" tIns="0" rIns="0" bIns="0" rtlCol="0" anchor="ctr"/>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Market-cap weighted · quarterly sector index</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custDataLst>
              <p:tags r:id="rId17"/>
            </p:custDataLst>
          </p:nvPr>
        </p:nvSpPr>
        <p:spPr>
          <a:xfrm>
            <a:off x="3886200" y="3895344"/>
            <a:ext cx="329184" cy="329184"/>
          </a:xfrm>
          <a:prstGeom prst="ellipse">
            <a:avLst/>
          </a:prstGeom>
          <a:solidFill>
            <a:srgbClr val="C8692A"/>
          </a:solidFill>
          <a:ln w="12700">
            <a:solidFill>
              <a:srgbClr val="C8692A"/>
            </a:solidFill>
            <a:prstDash val="solid"/>
          </a:ln>
        </p:spPr>
      </p:sp>
      <p:sp>
        <p:nvSpPr>
          <p:cNvPr id="25" name="Text 23"/>
          <p:cNvSpPr/>
          <p:nvPr>
            <p:custDataLst>
              <p:tags r:id="rId18"/>
            </p:custDataLst>
          </p:nvPr>
        </p:nvSpPr>
        <p:spPr>
          <a:xfrm>
            <a:off x="3886200" y="389534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custDataLst>
              <p:tags r:id="rId19"/>
            </p:custDataLst>
          </p:nvPr>
        </p:nvSpPr>
        <p:spPr>
          <a:xfrm>
            <a:off x="4325112" y="3895344"/>
            <a:ext cx="4572000" cy="20116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Analysis &amp; Findings</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custDataLst>
              <p:tags r:id="rId20"/>
            </p:custDataLst>
          </p:nvPr>
        </p:nvSpPr>
        <p:spPr>
          <a:xfrm>
            <a:off x="4325112" y="4096512"/>
            <a:ext cx="4572000" cy="201168"/>
          </a:xfrm>
          <a:prstGeom prst="rect">
            <a:avLst/>
          </a:prstGeom>
          <a:noFill/>
        </p:spPr>
        <p:txBody>
          <a:bodyPr wrap="square" lIns="0" tIns="0" rIns="0" bIns="0" rtlCol="0" anchor="ctr"/>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Sub-sector · divergence · uncertainty</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0" y="4800600"/>
            <a:ext cx="9144000" cy="342900"/>
          </a:xfrm>
          <a:prstGeom prst="rect">
            <a:avLst/>
          </a:prstGeom>
          <a:solidFill>
            <a:schemeClr val="accent2">
              <a:lumMod val="50000"/>
            </a:schemeClr>
          </a:solidFill>
          <a:ln w="12700">
            <a:solidFill>
              <a:schemeClr val="accent2">
                <a:lumMod val="50000"/>
              </a:schemeClr>
            </a:solidFill>
            <a:prstDash val="solid"/>
          </a:ln>
        </p:spPr>
      </p:sp>
      <p:sp>
        <p:nvSpPr>
          <p:cNvPr id="29" name="Text 27"/>
          <p:cNvSpPr/>
          <p:nvPr/>
        </p:nvSpPr>
        <p:spPr>
          <a:xfrm>
            <a:off x="274320" y="4818888"/>
            <a:ext cx="8595360" cy="292608"/>
          </a:xfrm>
          <a:prstGeom prst="rect">
            <a:avLst/>
          </a:prstGeom>
          <a:noFill/>
        </p:spPr>
        <p:txBody>
          <a:bodyPr wrap="square" lIns="0" tIns="0" rIns="0" bIns="0" rtlCol="0" anchor="ctr"/>
          <a:lstStyle/>
          <a:p>
            <a:pPr marL="0" indent="0" algn="r">
              <a:buNone/>
            </a:pPr>
            <a:r>
              <a:rPr lang="en-US" sz="900" dirty="0">
                <a:solidFill>
                  <a:srgbClr val="6B5040"/>
                </a:solidFill>
                <a:latin typeface="Calibri" panose="020F0502020204030204" pitchFamily="34" charset="0"/>
                <a:ea typeface="Calibri" panose="020F0502020204030204" pitchFamily="34" charset="-122"/>
                <a:cs typeface="Calibri" panose="020F0502020204030204" pitchFamily="34" charset="-120"/>
              </a:rPr>
              <a:t>F550 Final Project  ·  2024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Sample Selection &amp; Survivorship Bias</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5" name="Shape 3"/>
          <p:cNvSpPr/>
          <p:nvPr>
            <p:custDataLst>
              <p:tags r:id="rId1"/>
            </p:custDataLst>
          </p:nvPr>
        </p:nvSpPr>
        <p:spPr>
          <a:xfrm>
            <a:off x="320040" y="777240"/>
            <a:ext cx="1920240" cy="1005840"/>
          </a:xfrm>
          <a:prstGeom prst="rect">
            <a:avLst/>
          </a:prstGeom>
          <a:solidFill>
            <a:srgbClr val="F2EDE6"/>
          </a:solidFill>
          <a:ln w="9525">
            <a:solidFill>
              <a:srgbClr val="D9C9BB"/>
            </a:solidFill>
            <a:prstDash val="solid"/>
          </a:ln>
        </p:spPr>
      </p:sp>
      <p:sp>
        <p:nvSpPr>
          <p:cNvPr id="6" name="Shape 4"/>
          <p:cNvSpPr/>
          <p:nvPr>
            <p:custDataLst>
              <p:tags r:id="rId2"/>
            </p:custDataLst>
          </p:nvPr>
        </p:nvSpPr>
        <p:spPr>
          <a:xfrm>
            <a:off x="320040" y="777240"/>
            <a:ext cx="1920240" cy="64008"/>
          </a:xfrm>
          <a:prstGeom prst="rect">
            <a:avLst/>
          </a:prstGeom>
          <a:solidFill>
            <a:srgbClr val="C8692A"/>
          </a:solidFill>
          <a:ln w="12700">
            <a:solidFill>
              <a:srgbClr val="C8692A"/>
            </a:solidFill>
            <a:prstDash val="solid"/>
          </a:ln>
        </p:spPr>
      </p:sp>
      <p:sp>
        <p:nvSpPr>
          <p:cNvPr id="7" name="Text 5"/>
          <p:cNvSpPr/>
          <p:nvPr>
            <p:custDataLst>
              <p:tags r:id="rId3"/>
            </p:custDataLst>
          </p:nvPr>
        </p:nvSpPr>
        <p:spPr>
          <a:xfrm>
            <a:off x="320040" y="841248"/>
            <a:ext cx="1920240" cy="502920"/>
          </a:xfrm>
          <a:prstGeom prst="rect">
            <a:avLst/>
          </a:prstGeom>
          <a:noFill/>
        </p:spPr>
        <p:txBody>
          <a:bodyPr wrap="square" lIns="0" tIns="0" rIns="0" bIns="0" rtlCol="0" anchor="ctr"/>
          <a:lstStyle/>
          <a:p>
            <a:pPr marL="0" indent="0" algn="ctr">
              <a:buNone/>
            </a:pPr>
            <a:r>
              <a:rPr lang="en-US" sz="3400" b="1" dirty="0">
                <a:solidFill>
                  <a:srgbClr val="C8692A"/>
                </a:solidFill>
                <a:latin typeface="Georgia" panose="02040502050405020303" pitchFamily="34" charset="0"/>
                <a:ea typeface="Georgia" panose="02040502050405020303" pitchFamily="34" charset="-122"/>
                <a:cs typeface="Georgia" panose="02040502050405020303" pitchFamily="34" charset="-120"/>
              </a:rPr>
              <a:t>178</a:t>
            </a:r>
            <a:endParaRPr lang="en-US" sz="3400" dirty="0"/>
          </a:p>
        </p:txBody>
      </p:sp>
      <p:sp>
        <p:nvSpPr>
          <p:cNvPr id="8" name="Text 6"/>
          <p:cNvSpPr/>
          <p:nvPr>
            <p:custDataLst>
              <p:tags r:id="rId4"/>
            </p:custDataLst>
          </p:nvPr>
        </p:nvSpPr>
        <p:spPr>
          <a:xfrm>
            <a:off x="320040" y="1344168"/>
            <a:ext cx="1920240" cy="384048"/>
          </a:xfrm>
          <a:prstGeom prst="rect">
            <a:avLst/>
          </a:prstGeom>
          <a:noFill/>
        </p:spPr>
        <p:txBody>
          <a:bodyPr wrap="square" lIns="0" tIns="0" rIns="0" bIns="0" rtlCol="0" anchor="ctr"/>
          <a:lstStyle/>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Total companies</a:t>
            </a:r>
            <a:endParaRPr lang="en-US" sz="1200" dirty="0"/>
          </a:p>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in sample</a:t>
            </a:r>
            <a:endPar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custDataLst>
              <p:tags r:id="rId5"/>
            </p:custDataLst>
          </p:nvPr>
        </p:nvSpPr>
        <p:spPr>
          <a:xfrm>
            <a:off x="2496312" y="777240"/>
            <a:ext cx="1920240" cy="1005840"/>
          </a:xfrm>
          <a:prstGeom prst="rect">
            <a:avLst/>
          </a:prstGeom>
          <a:solidFill>
            <a:srgbClr val="F2EDE6"/>
          </a:solidFill>
          <a:ln w="9525">
            <a:solidFill>
              <a:srgbClr val="D9C9BB"/>
            </a:solidFill>
            <a:prstDash val="solid"/>
          </a:ln>
        </p:spPr>
      </p:sp>
      <p:sp>
        <p:nvSpPr>
          <p:cNvPr id="10" name="Shape 8"/>
          <p:cNvSpPr/>
          <p:nvPr>
            <p:custDataLst>
              <p:tags r:id="rId6"/>
            </p:custDataLst>
          </p:nvPr>
        </p:nvSpPr>
        <p:spPr>
          <a:xfrm>
            <a:off x="2496312" y="777240"/>
            <a:ext cx="1920240" cy="64008"/>
          </a:xfrm>
          <a:prstGeom prst="rect">
            <a:avLst/>
          </a:prstGeom>
          <a:solidFill>
            <a:srgbClr val="C8692A"/>
          </a:solidFill>
          <a:ln w="12700">
            <a:solidFill>
              <a:srgbClr val="C8692A"/>
            </a:solidFill>
            <a:prstDash val="solid"/>
          </a:ln>
        </p:spPr>
      </p:sp>
      <p:sp>
        <p:nvSpPr>
          <p:cNvPr id="11" name="Text 9"/>
          <p:cNvSpPr/>
          <p:nvPr>
            <p:custDataLst>
              <p:tags r:id="rId7"/>
            </p:custDataLst>
          </p:nvPr>
        </p:nvSpPr>
        <p:spPr>
          <a:xfrm>
            <a:off x="2496312" y="841248"/>
            <a:ext cx="1920240" cy="502920"/>
          </a:xfrm>
          <a:prstGeom prst="rect">
            <a:avLst/>
          </a:prstGeom>
          <a:noFill/>
        </p:spPr>
        <p:txBody>
          <a:bodyPr wrap="square" lIns="0" tIns="0" rIns="0" bIns="0" rtlCol="0" anchor="ctr"/>
          <a:lstStyle/>
          <a:p>
            <a:pPr marL="0" indent="0" algn="ctr">
              <a:buNone/>
            </a:pPr>
            <a:r>
              <a:rPr lang="en-US" sz="3400" b="1" dirty="0">
                <a:solidFill>
                  <a:srgbClr val="C8692A"/>
                </a:solidFill>
                <a:latin typeface="Georgia" panose="02040502050405020303" pitchFamily="34" charset="0"/>
                <a:ea typeface="Georgia" panose="02040502050405020303" pitchFamily="34" charset="-122"/>
                <a:cs typeface="Georgia" panose="02040502050405020303" pitchFamily="34" charset="-120"/>
              </a:rPr>
              <a:t>167</a:t>
            </a:r>
            <a:endParaRPr lang="en-US" sz="3400" dirty="0"/>
          </a:p>
        </p:txBody>
      </p:sp>
      <p:sp>
        <p:nvSpPr>
          <p:cNvPr id="12" name="Text 10"/>
          <p:cNvSpPr/>
          <p:nvPr>
            <p:custDataLst>
              <p:tags r:id="rId8"/>
            </p:custDataLst>
          </p:nvPr>
        </p:nvSpPr>
        <p:spPr>
          <a:xfrm>
            <a:off x="2496312" y="1344168"/>
            <a:ext cx="1920240" cy="384048"/>
          </a:xfrm>
          <a:prstGeom prst="rect">
            <a:avLst/>
          </a:prstGeom>
          <a:noFill/>
        </p:spPr>
        <p:txBody>
          <a:bodyPr wrap="square" lIns="0" tIns="0" rIns="0" bIns="0" rtlCol="0" anchor="ctr"/>
          <a:lstStyle/>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Stable full-year</a:t>
            </a:r>
            <a:endParaRPr lang="en-US" sz="1200" dirty="0"/>
          </a:p>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constituents</a:t>
            </a:r>
            <a:endPar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custDataLst>
              <p:tags r:id="rId9"/>
            </p:custDataLst>
          </p:nvPr>
        </p:nvSpPr>
        <p:spPr>
          <a:xfrm>
            <a:off x="4672584" y="777240"/>
            <a:ext cx="1920240" cy="1005840"/>
          </a:xfrm>
          <a:prstGeom prst="rect">
            <a:avLst/>
          </a:prstGeom>
          <a:solidFill>
            <a:srgbClr val="F2EDE6"/>
          </a:solidFill>
          <a:ln w="9525">
            <a:solidFill>
              <a:srgbClr val="D9C9BB"/>
            </a:solidFill>
            <a:prstDash val="solid"/>
          </a:ln>
        </p:spPr>
      </p:sp>
      <p:sp>
        <p:nvSpPr>
          <p:cNvPr id="14" name="Shape 12"/>
          <p:cNvSpPr/>
          <p:nvPr>
            <p:custDataLst>
              <p:tags r:id="rId10"/>
            </p:custDataLst>
          </p:nvPr>
        </p:nvSpPr>
        <p:spPr>
          <a:xfrm>
            <a:off x="4672584" y="777240"/>
            <a:ext cx="1920240" cy="64008"/>
          </a:xfrm>
          <a:prstGeom prst="rect">
            <a:avLst/>
          </a:prstGeom>
          <a:solidFill>
            <a:srgbClr val="8B3A1A"/>
          </a:solidFill>
          <a:ln w="12700">
            <a:solidFill>
              <a:srgbClr val="8B3A1A"/>
            </a:solidFill>
            <a:prstDash val="solid"/>
          </a:ln>
        </p:spPr>
      </p:sp>
      <p:sp>
        <p:nvSpPr>
          <p:cNvPr id="15" name="Text 13"/>
          <p:cNvSpPr/>
          <p:nvPr>
            <p:custDataLst>
              <p:tags r:id="rId11"/>
            </p:custDataLst>
          </p:nvPr>
        </p:nvSpPr>
        <p:spPr>
          <a:xfrm>
            <a:off x="4672584" y="841248"/>
            <a:ext cx="1920240" cy="502920"/>
          </a:xfrm>
          <a:prstGeom prst="rect">
            <a:avLst/>
          </a:prstGeom>
          <a:noFill/>
        </p:spPr>
        <p:txBody>
          <a:bodyPr wrap="square" lIns="0" tIns="0" rIns="0" bIns="0" rtlCol="0" anchor="ctr"/>
          <a:lstStyle/>
          <a:p>
            <a:pPr marL="0" indent="0" algn="ctr">
              <a:buNone/>
            </a:pPr>
            <a:r>
              <a:rPr lang="en-US" sz="3400" b="1" dirty="0">
                <a:solidFill>
                  <a:srgbClr val="8B3A1A"/>
                </a:solidFill>
                <a:latin typeface="Georgia" panose="02040502050405020303" pitchFamily="34" charset="0"/>
                <a:ea typeface="Georgia" panose="02040502050405020303" pitchFamily="34" charset="-122"/>
                <a:cs typeface="Georgia" panose="02040502050405020303" pitchFamily="34" charset="-120"/>
              </a:rPr>
              <a:t>11</a:t>
            </a:r>
            <a:endParaRPr lang="en-US" sz="3400" dirty="0"/>
          </a:p>
        </p:txBody>
      </p:sp>
      <p:sp>
        <p:nvSpPr>
          <p:cNvPr id="16" name="Text 14"/>
          <p:cNvSpPr/>
          <p:nvPr>
            <p:custDataLst>
              <p:tags r:id="rId12"/>
            </p:custDataLst>
          </p:nvPr>
        </p:nvSpPr>
        <p:spPr>
          <a:xfrm>
            <a:off x="4672584" y="1344168"/>
            <a:ext cx="1920240" cy="384048"/>
          </a:xfrm>
          <a:prstGeom prst="rect">
            <a:avLst/>
          </a:prstGeom>
          <a:noFill/>
        </p:spPr>
        <p:txBody>
          <a:bodyPr wrap="square" lIns="0" tIns="0" rIns="0" bIns="0" rtlCol="0" anchor="ctr"/>
          <a:lstStyle/>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Removed companies</a:t>
            </a:r>
            <a:endPar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during 2024</a:t>
            </a:r>
            <a:endPar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custDataLst>
              <p:tags r:id="rId13"/>
            </p:custDataLst>
          </p:nvPr>
        </p:nvSpPr>
        <p:spPr>
          <a:xfrm>
            <a:off x="6848856" y="777240"/>
            <a:ext cx="1920240" cy="1005840"/>
          </a:xfrm>
          <a:prstGeom prst="rect">
            <a:avLst/>
          </a:prstGeom>
          <a:solidFill>
            <a:srgbClr val="F2EDE6"/>
          </a:solidFill>
          <a:ln w="9525">
            <a:solidFill>
              <a:srgbClr val="D9C9BB"/>
            </a:solidFill>
            <a:prstDash val="solid"/>
          </a:ln>
        </p:spPr>
      </p:sp>
      <p:sp>
        <p:nvSpPr>
          <p:cNvPr id="18" name="Shape 16"/>
          <p:cNvSpPr/>
          <p:nvPr>
            <p:custDataLst>
              <p:tags r:id="rId14"/>
            </p:custDataLst>
          </p:nvPr>
        </p:nvSpPr>
        <p:spPr>
          <a:xfrm>
            <a:off x="6848856" y="777240"/>
            <a:ext cx="1920240" cy="64008"/>
          </a:xfrm>
          <a:prstGeom prst="rect">
            <a:avLst/>
          </a:prstGeom>
          <a:solidFill>
            <a:srgbClr val="C8692A"/>
          </a:solidFill>
          <a:ln w="12700">
            <a:solidFill>
              <a:srgbClr val="C8692A"/>
            </a:solidFill>
            <a:prstDash val="solid"/>
          </a:ln>
        </p:spPr>
      </p:sp>
      <p:sp>
        <p:nvSpPr>
          <p:cNvPr id="19" name="Text 17"/>
          <p:cNvSpPr/>
          <p:nvPr>
            <p:custDataLst>
              <p:tags r:id="rId15"/>
            </p:custDataLst>
          </p:nvPr>
        </p:nvSpPr>
        <p:spPr>
          <a:xfrm>
            <a:off x="6848856" y="841248"/>
            <a:ext cx="1920240" cy="502920"/>
          </a:xfrm>
          <a:prstGeom prst="rect">
            <a:avLst/>
          </a:prstGeom>
          <a:noFill/>
        </p:spPr>
        <p:txBody>
          <a:bodyPr wrap="square" lIns="0" tIns="0" rIns="0" bIns="0" rtlCol="0" anchor="ctr"/>
          <a:lstStyle/>
          <a:p>
            <a:pPr marL="0" indent="0" algn="ctr">
              <a:buNone/>
            </a:pPr>
            <a:r>
              <a:rPr lang="en-US" sz="3400" b="1" dirty="0">
                <a:solidFill>
                  <a:srgbClr val="C8692A"/>
                </a:solidFill>
                <a:latin typeface="Georgia" panose="02040502050405020303" pitchFamily="34" charset="0"/>
                <a:ea typeface="Georgia" panose="02040502050405020303" pitchFamily="34" charset="-122"/>
                <a:cs typeface="Georgia" panose="02040502050405020303" pitchFamily="34" charset="-120"/>
              </a:rPr>
              <a:t>713</a:t>
            </a:r>
            <a:endParaRPr lang="en-US" sz="3400" dirty="0"/>
          </a:p>
        </p:txBody>
      </p:sp>
      <p:sp>
        <p:nvSpPr>
          <p:cNvPr id="20" name="Text 18"/>
          <p:cNvSpPr/>
          <p:nvPr>
            <p:custDataLst>
              <p:tags r:id="rId16"/>
            </p:custDataLst>
          </p:nvPr>
        </p:nvSpPr>
        <p:spPr>
          <a:xfrm>
            <a:off x="6848856" y="1344168"/>
            <a:ext cx="1920240" cy="384048"/>
          </a:xfrm>
          <a:prstGeom prst="rect">
            <a:avLst/>
          </a:prstGeom>
          <a:noFill/>
        </p:spPr>
        <p:txBody>
          <a:bodyPr wrap="square" lIns="0" tIns="0" rIns="0" bIns="0" rtlCol="0" anchor="ctr"/>
          <a:lstStyle/>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Earnings call</a:t>
            </a:r>
            <a:endParaRPr lang="en-US" sz="1200" dirty="0"/>
          </a:p>
          <a:p>
            <a:pPr marL="0" indent="0" algn="ctr">
              <a:buNone/>
            </a:pPr>
            <a:r>
              <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rPr>
              <a:t>transcripts</a:t>
            </a:r>
            <a:endParaRPr lang="en-US" sz="12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320040" y="1920240"/>
            <a:ext cx="4069080" cy="2825115"/>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22" name="Text 20"/>
          <p:cNvSpPr/>
          <p:nvPr/>
        </p:nvSpPr>
        <p:spPr>
          <a:xfrm>
            <a:off x="429768" y="2011680"/>
            <a:ext cx="3849624" cy="256032"/>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Data Source</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429895" y="2286000"/>
            <a:ext cx="3849370" cy="1415415"/>
          </a:xfrm>
          <a:prstGeom prst="rect">
            <a:avLst/>
          </a:prstGeom>
          <a:noFill/>
        </p:spPr>
        <p:txBody>
          <a:bodyPr wrap="square" lIns="0" tIns="0" rIns="0" bIns="0" rtlCol="0" anchor="t"/>
          <a:lstStyle/>
          <a:p>
            <a:pPr indent="0" fontAlgn="auto">
              <a:lnSpc>
                <a:spcPct val="125000"/>
              </a:lnSpc>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LSEG (London Stock Exchange Group) Workspace / Eikon</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a:p>
            <a:pPr indent="0" fontAlgn="auto">
              <a:lnSpc>
                <a:spcPct val="125000"/>
              </a:lnSpc>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Earnings call transcripts filtered from Events module by time, event type, and industry</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a:p>
            <a:pPr indent="0" fontAlgn="auto">
              <a:lnSpc>
                <a:spcPct val="125000"/>
              </a:lnSpc>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Period: 01/01/2024 – 31/12/2024 (Q4 2023 – Q3 2024 reporting periods)</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a:p>
            <a:pPr indent="0" fontAlgn="auto">
              <a:lnSpc>
                <a:spcPct val="125000"/>
              </a:lnSpc>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GICS sub-industry labels (Level 3)</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a:p>
            <a:pPr indent="0" fontAlgn="auto">
              <a:lnSpc>
                <a:spcPct val="125000"/>
              </a:lnSpc>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Market cap for weighting</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4572000" y="1920240"/>
            <a:ext cx="4197350" cy="1270000"/>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25" name="Text 23"/>
          <p:cNvSpPr/>
          <p:nvPr/>
        </p:nvSpPr>
        <p:spPr>
          <a:xfrm>
            <a:off x="4681728" y="2011680"/>
            <a:ext cx="4032504" cy="256032"/>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Sample Selection Logic</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4681728" y="2286000"/>
            <a:ext cx="4032504" cy="217627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All companies in ≥1 quarterly snapshot included</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Removal companies (11) retained → avoids survivorship bias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Index rebalances treated as natural add/drop events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 Full-year stable companies form the core sample</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Period: Q4 2023 – Q3 2024  ·  Sectors: Information Technology  ·  Industrials  ·  Source: LSEG</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19"/>
          <p:cNvSpPr/>
          <p:nvPr/>
        </p:nvSpPr>
        <p:spPr>
          <a:xfrm>
            <a:off x="4572000" y="3327400"/>
            <a:ext cx="4197350" cy="1414145"/>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28" name="文本框 27"/>
          <p:cNvSpPr txBox="1"/>
          <p:nvPr/>
        </p:nvSpPr>
        <p:spPr>
          <a:xfrm>
            <a:off x="4586605" y="3656965"/>
            <a:ext cx="4157345" cy="993140"/>
          </a:xfrm>
          <a:prstGeom prst="rect">
            <a:avLst/>
          </a:prstGeom>
        </p:spPr>
        <p:txBody>
          <a:bodyPr wrap="square">
            <a:noAutofit/>
          </a:bodyPr>
          <a:p>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T</a:t>
            </a: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he sample covers all earnings calls held between 01/01/2024 and 31/12/2024, corresponding to Q4 2023 through Q3 2024 reporting periods. </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a:p>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This ensures full coverage of management forward-looking statements made during the calendar year 2024.</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23"/>
          <p:cNvSpPr/>
          <p:nvPr/>
        </p:nvSpPr>
        <p:spPr>
          <a:xfrm>
            <a:off x="4681728" y="3382010"/>
            <a:ext cx="4032504" cy="256032"/>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Note</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Text Segmentation &amp; Forward-Looking Extraction</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5" name="Shape 3"/>
          <p:cNvSpPr/>
          <p:nvPr/>
        </p:nvSpPr>
        <p:spPr>
          <a:xfrm>
            <a:off x="320040" y="822960"/>
            <a:ext cx="2011680" cy="1554480"/>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6" name="Shape 4"/>
          <p:cNvSpPr/>
          <p:nvPr/>
        </p:nvSpPr>
        <p:spPr>
          <a:xfrm>
            <a:off x="320040" y="822960"/>
            <a:ext cx="2011680" cy="54864"/>
          </a:xfrm>
          <a:prstGeom prst="rect">
            <a:avLst/>
          </a:prstGeom>
          <a:solidFill>
            <a:srgbClr val="C8692A"/>
          </a:solidFill>
          <a:ln w="12700">
            <a:solidFill>
              <a:srgbClr val="C8692A"/>
            </a:solidFill>
            <a:prstDash val="solid"/>
          </a:ln>
        </p:spPr>
      </p:sp>
      <p:sp>
        <p:nvSpPr>
          <p:cNvPr id="7" name="Text 5"/>
          <p:cNvSpPr/>
          <p:nvPr/>
        </p:nvSpPr>
        <p:spPr>
          <a:xfrm>
            <a:off x="429768" y="877824"/>
            <a:ext cx="1792224" cy="29260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Raw Transcript</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429768" y="1188720"/>
            <a:ext cx="1792224" cy="1133856"/>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PDF → text extraction</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713 transcripts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178 companies</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custDataLst>
              <p:tags r:id="rId1"/>
            </p:custDataLst>
          </p:nvPr>
        </p:nvSpPr>
        <p:spPr>
          <a:xfrm>
            <a:off x="2331720" y="1600200"/>
            <a:ext cx="502920" cy="0"/>
          </a:xfrm>
          <a:prstGeom prst="line">
            <a:avLst/>
          </a:prstGeom>
          <a:noFill/>
          <a:ln w="19050">
            <a:solidFill>
              <a:srgbClr val="C8692A"/>
            </a:solidFill>
            <a:prstDash val="solid"/>
          </a:ln>
        </p:spPr>
      </p:sp>
      <p:sp>
        <p:nvSpPr>
          <p:cNvPr id="10" name="Shape 8"/>
          <p:cNvSpPr/>
          <p:nvPr>
            <p:custDataLst>
              <p:tags r:id="rId2"/>
            </p:custDataLst>
          </p:nvPr>
        </p:nvSpPr>
        <p:spPr>
          <a:xfrm>
            <a:off x="2514600" y="822960"/>
            <a:ext cx="2011680" cy="1554480"/>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11" name="Shape 9"/>
          <p:cNvSpPr/>
          <p:nvPr>
            <p:custDataLst>
              <p:tags r:id="rId3"/>
            </p:custDataLst>
          </p:nvPr>
        </p:nvSpPr>
        <p:spPr>
          <a:xfrm>
            <a:off x="2514600" y="822960"/>
            <a:ext cx="2011680" cy="54864"/>
          </a:xfrm>
          <a:prstGeom prst="rect">
            <a:avLst/>
          </a:prstGeom>
          <a:solidFill>
            <a:srgbClr val="C8692A"/>
          </a:solidFill>
          <a:ln w="12700">
            <a:solidFill>
              <a:srgbClr val="C8692A"/>
            </a:solidFill>
            <a:prstDash val="solid"/>
          </a:ln>
        </p:spPr>
      </p:sp>
      <p:sp>
        <p:nvSpPr>
          <p:cNvPr id="12" name="Text 10"/>
          <p:cNvSpPr/>
          <p:nvPr>
            <p:custDataLst>
              <p:tags r:id="rId4"/>
            </p:custDataLst>
          </p:nvPr>
        </p:nvSpPr>
        <p:spPr>
          <a:xfrm>
            <a:off x="2624328" y="877824"/>
            <a:ext cx="1792224" cy="29260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Speaker Tagging</a:t>
            </a:r>
            <a:endParaRPr lang="en-US" sz="1400" dirty="0"/>
          </a:p>
        </p:txBody>
      </p:sp>
      <p:sp>
        <p:nvSpPr>
          <p:cNvPr id="13" name="Text 11"/>
          <p:cNvSpPr/>
          <p:nvPr>
            <p:custDataLst>
              <p:tags r:id="rId5"/>
            </p:custDataLst>
          </p:nvPr>
        </p:nvSpPr>
        <p:spPr>
          <a:xfrm>
            <a:off x="2624328" y="1188720"/>
            <a:ext cx="1792224" cy="1133856"/>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CEO/CFO → management</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Analysts → analyst</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Avg 26 mgmt + 17 analyst</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segs / transcript (IT)</a:t>
            </a:r>
            <a:endParaRPr lang="en-US" sz="1200" dirty="0"/>
          </a:p>
        </p:txBody>
      </p:sp>
      <p:sp>
        <p:nvSpPr>
          <p:cNvPr id="14" name="Shape 12"/>
          <p:cNvSpPr/>
          <p:nvPr>
            <p:custDataLst>
              <p:tags r:id="rId6"/>
            </p:custDataLst>
          </p:nvPr>
        </p:nvSpPr>
        <p:spPr>
          <a:xfrm>
            <a:off x="4526280" y="1600200"/>
            <a:ext cx="502920" cy="0"/>
          </a:xfrm>
          <a:prstGeom prst="line">
            <a:avLst/>
          </a:prstGeom>
          <a:noFill/>
          <a:ln w="19050">
            <a:solidFill>
              <a:srgbClr val="C8692A"/>
            </a:solidFill>
            <a:prstDash val="solid"/>
          </a:ln>
        </p:spPr>
      </p:sp>
      <p:sp>
        <p:nvSpPr>
          <p:cNvPr id="15" name="Shape 13"/>
          <p:cNvSpPr/>
          <p:nvPr>
            <p:custDataLst>
              <p:tags r:id="rId7"/>
            </p:custDataLst>
          </p:nvPr>
        </p:nvSpPr>
        <p:spPr>
          <a:xfrm>
            <a:off x="4709160" y="822960"/>
            <a:ext cx="2011680" cy="1554480"/>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16" name="Shape 14"/>
          <p:cNvSpPr/>
          <p:nvPr>
            <p:custDataLst>
              <p:tags r:id="rId8"/>
            </p:custDataLst>
          </p:nvPr>
        </p:nvSpPr>
        <p:spPr>
          <a:xfrm>
            <a:off x="4709160" y="822960"/>
            <a:ext cx="2011680" cy="54864"/>
          </a:xfrm>
          <a:prstGeom prst="rect">
            <a:avLst/>
          </a:prstGeom>
          <a:solidFill>
            <a:srgbClr val="C8692A"/>
          </a:solidFill>
          <a:ln w="12700">
            <a:solidFill>
              <a:srgbClr val="C8692A"/>
            </a:solidFill>
            <a:prstDash val="solid"/>
          </a:ln>
        </p:spPr>
      </p:sp>
      <p:sp>
        <p:nvSpPr>
          <p:cNvPr id="17" name="Text 15"/>
          <p:cNvSpPr/>
          <p:nvPr>
            <p:custDataLst>
              <p:tags r:id="rId9"/>
            </p:custDataLst>
          </p:nvPr>
        </p:nvSpPr>
        <p:spPr>
          <a:xfrm>
            <a:off x="4818888" y="877824"/>
            <a:ext cx="1792224" cy="29260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FL Sentence Extraction</a:t>
            </a:r>
            <a:endParaRPr lang="en-US" sz="1400" dirty="0"/>
          </a:p>
        </p:txBody>
      </p:sp>
      <p:sp>
        <p:nvSpPr>
          <p:cNvPr id="18" name="Text 16"/>
          <p:cNvSpPr/>
          <p:nvPr>
            <p:custDataLst>
              <p:tags r:id="rId10"/>
            </p:custDataLst>
          </p:nvPr>
        </p:nvSpPr>
        <p:spPr>
          <a:xfrm>
            <a:off x="4818888" y="1188720"/>
            <a:ext cx="1792224" cy="1133856"/>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Keyword + syntactic rules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(will, expect, anticipate…)</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Forward-looking only</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Avg 84.6 FL sents / call</a:t>
            </a:r>
            <a:endParaRPr lang="en-US" sz="1200" dirty="0"/>
          </a:p>
        </p:txBody>
      </p:sp>
      <p:sp>
        <p:nvSpPr>
          <p:cNvPr id="19" name="Shape 17"/>
          <p:cNvSpPr/>
          <p:nvPr>
            <p:custDataLst>
              <p:tags r:id="rId11"/>
            </p:custDataLst>
          </p:nvPr>
        </p:nvSpPr>
        <p:spPr>
          <a:xfrm>
            <a:off x="6720840" y="1600200"/>
            <a:ext cx="502920" cy="0"/>
          </a:xfrm>
          <a:prstGeom prst="line">
            <a:avLst/>
          </a:prstGeom>
          <a:noFill/>
          <a:ln w="19050">
            <a:solidFill>
              <a:srgbClr val="C8692A"/>
            </a:solidFill>
            <a:prstDash val="solid"/>
          </a:ln>
        </p:spPr>
      </p:sp>
      <p:sp>
        <p:nvSpPr>
          <p:cNvPr id="20" name="Shape 18"/>
          <p:cNvSpPr/>
          <p:nvPr>
            <p:custDataLst>
              <p:tags r:id="rId12"/>
            </p:custDataLst>
          </p:nvPr>
        </p:nvSpPr>
        <p:spPr>
          <a:xfrm>
            <a:off x="6903720" y="822960"/>
            <a:ext cx="2011680" cy="1554480"/>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21" name="Shape 19"/>
          <p:cNvSpPr/>
          <p:nvPr>
            <p:custDataLst>
              <p:tags r:id="rId13"/>
            </p:custDataLst>
          </p:nvPr>
        </p:nvSpPr>
        <p:spPr>
          <a:xfrm>
            <a:off x="6903720" y="822960"/>
            <a:ext cx="2011680" cy="54864"/>
          </a:xfrm>
          <a:prstGeom prst="rect">
            <a:avLst/>
          </a:prstGeom>
          <a:solidFill>
            <a:srgbClr val="C8692A"/>
          </a:solidFill>
          <a:ln w="12700">
            <a:solidFill>
              <a:srgbClr val="C8692A"/>
            </a:solidFill>
            <a:prstDash val="solid"/>
          </a:ln>
        </p:spPr>
      </p:sp>
      <p:sp>
        <p:nvSpPr>
          <p:cNvPr id="22" name="Text 20"/>
          <p:cNvSpPr/>
          <p:nvPr>
            <p:custDataLst>
              <p:tags r:id="rId14"/>
            </p:custDataLst>
          </p:nvPr>
        </p:nvSpPr>
        <p:spPr>
          <a:xfrm>
            <a:off x="7013448" y="877824"/>
            <a:ext cx="1792224" cy="292608"/>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Scored Dataset</a:t>
            </a:r>
            <a:endParaRPr lang="en-US" sz="1400" dirty="0"/>
          </a:p>
        </p:txBody>
      </p:sp>
      <p:sp>
        <p:nvSpPr>
          <p:cNvPr id="23" name="Text 21"/>
          <p:cNvSpPr/>
          <p:nvPr>
            <p:custDataLst>
              <p:tags r:id="rId15"/>
            </p:custDataLst>
          </p:nvPr>
        </p:nvSpPr>
        <p:spPr>
          <a:xfrm>
            <a:off x="7013448" y="1188720"/>
            <a:ext cx="1792224" cy="1133856"/>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60,305 FL sentences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12,308 Guidance sentences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786 Removal sentences</a:t>
            </a:r>
            <a:endParaRPr lang="en-US" sz="1200" dirty="0"/>
          </a:p>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Ready for scoring</a:t>
            </a:r>
            <a:endParaRPr lang="en-US" sz="1200" dirty="0"/>
          </a:p>
        </p:txBody>
      </p:sp>
      <p:sp>
        <p:nvSpPr>
          <p:cNvPr id="24" name="Text 22"/>
          <p:cNvSpPr/>
          <p:nvPr/>
        </p:nvSpPr>
        <p:spPr>
          <a:xfrm>
            <a:off x="320040" y="2523490"/>
            <a:ext cx="4176395" cy="274320"/>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Speaker Segmentation by Sector</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25" name="Table 0"/>
          <p:cNvGraphicFramePr>
            <a:graphicFrameLocks noGrp="1"/>
          </p:cNvGraphicFramePr>
          <p:nvPr>
            <p:custDataLst>
              <p:tags r:id="rId16"/>
            </p:custDataLst>
          </p:nvPr>
        </p:nvGraphicFramePr>
        <p:xfrm>
          <a:off x="315595" y="2858135"/>
          <a:ext cx="4180840" cy="1983740"/>
        </p:xfrm>
        <a:graphic>
          <a:graphicData uri="http://schemas.openxmlformats.org/drawingml/2006/table">
            <a:tbl>
              <a:tblPr/>
              <a:tblGrid>
                <a:gridCol w="835660"/>
                <a:gridCol w="815975"/>
                <a:gridCol w="833120"/>
                <a:gridCol w="1696085"/>
              </a:tblGrid>
              <a:tr h="570865">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Sector</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8B3A1A"/>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Mgmt segs/call</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8B3A1A"/>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Analyst segs/call</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8B3A1A"/>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Companies</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8B3A1A"/>
                    </a:solidFill>
                  </a:tcPr>
                </a:tc>
              </a:tr>
              <a:tr h="465455">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IT</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26.4</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17.1</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~90  (Semi, Software, IT Services, Hardware…)</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r>
              <a:tr h="466725">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Industrials</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31.7</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22.1</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~77  (Machinery, Aerospace, Airlines…)</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r>
              <a:tr h="480695">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Removal</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26.9</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lgn="ctr">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19.3</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c>
                  <a:txBody>
                    <a:bodyPr/>
                    <a:lstStyle/>
                    <a:p>
                      <a:pPr marL="0" indent="0">
                        <a:buNone/>
                      </a:pPr>
                      <a:r>
                        <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rPr>
                        <a:t>11  (survivorship bias control sample)</a:t>
                      </a:r>
                      <a:endParaRPr lang="en-US" sz="1000" dirty="0">
                        <a:solidFill>
                          <a:srgbClr val="2C1A0E"/>
                        </a:solidFill>
                        <a:latin typeface="Calibri" panose="020F0502020204030204" pitchFamily="34" charset="0"/>
                        <a:ea typeface="Calibri" panose="020F0502020204030204" pitchFamily="34" charset="-122"/>
                        <a:cs typeface="Calibri" panose="020F0502020204030204" pitchFamily="34" charset="-120"/>
                      </a:endParaRPr>
                    </a:p>
                  </a:txBody>
                  <a:tcPr anchor="ctr" anchorCtr="0">
                    <a:lnL w="6350" cap="flat" cmpd="sng" algn="ctr">
                      <a:solidFill>
                        <a:srgbClr val="D9C9BB"/>
                      </a:solidFill>
                      <a:prstDash val="solid"/>
                      <a:round/>
                      <a:headEnd type="none" w="med" len="med"/>
                      <a:tailEnd type="none" w="med" len="med"/>
                    </a:lnL>
                    <a:lnR w="6350" cap="flat" cmpd="sng" algn="ctr">
                      <a:solidFill>
                        <a:srgbClr val="D9C9BB"/>
                      </a:solidFill>
                      <a:prstDash val="solid"/>
                      <a:round/>
                      <a:headEnd type="none" w="med" len="med"/>
                      <a:tailEnd type="none" w="med" len="med"/>
                    </a:lnR>
                    <a:lnT w="6350" cap="flat" cmpd="sng" algn="ctr">
                      <a:solidFill>
                        <a:srgbClr val="D9C9BB"/>
                      </a:solidFill>
                      <a:prstDash val="solid"/>
                      <a:round/>
                      <a:headEnd type="none" w="med" len="med"/>
                      <a:tailEnd type="none" w="med" len="med"/>
                    </a:lnT>
                    <a:lnB w="6350" cap="flat" cmpd="sng" algn="ctr">
                      <a:solidFill>
                        <a:srgbClr val="D9C9BB"/>
                      </a:solidFill>
                      <a:prstDash val="solid"/>
                      <a:round/>
                      <a:headEnd type="none" w="med" len="med"/>
                      <a:tailEnd type="none" w="med" len="med"/>
                    </a:lnB>
                    <a:solidFill>
                      <a:srgbClr val="FAF7F4"/>
                    </a:solidFill>
                  </a:tcPr>
                </a:tc>
              </a:tr>
            </a:tbl>
          </a:graphicData>
        </a:graphic>
      </p:graphicFrame>
      <p:sp>
        <p:nvSpPr>
          <p:cNvPr id="34" name="圆角矩形 33"/>
          <p:cNvSpPr/>
          <p:nvPr/>
        </p:nvSpPr>
        <p:spPr>
          <a:xfrm>
            <a:off x="4709160" y="2570480"/>
            <a:ext cx="410210" cy="490855"/>
          </a:xfrm>
          <a:prstGeom prst="roundRect">
            <a:avLst/>
          </a:prstGeom>
          <a:solidFill>
            <a:srgbClr val="C8692A"/>
          </a:solidFill>
          <a:ln>
            <a:solidFill>
              <a:srgbClr val="C8692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Text 23"/>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FL = Forward-Looking  ·  Segmentation via regex + syntactic parsing  ·  Q4 2023 – Q3 2024</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圆角矩形 28"/>
          <p:cNvSpPr/>
          <p:nvPr/>
        </p:nvSpPr>
        <p:spPr>
          <a:xfrm>
            <a:off x="4709160" y="2834640"/>
            <a:ext cx="4206240" cy="2012315"/>
          </a:xfrm>
          <a:prstGeom prst="roundRect">
            <a:avLst>
              <a:gd name="adj" fmla="val 10708"/>
            </a:avLst>
          </a:prstGeom>
          <a:solidFill>
            <a:srgbClr val="EDE5DC"/>
          </a:solidFill>
          <a:ln>
            <a:solidFill>
              <a:srgbClr val="EDE5D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9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22"/>
          <p:cNvSpPr/>
          <p:nvPr/>
        </p:nvSpPr>
        <p:spPr>
          <a:xfrm>
            <a:off x="4709160" y="2560320"/>
            <a:ext cx="410845" cy="27432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Code </a:t>
            </a:r>
            <a:endPar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sym typeface="+mn-ea"/>
            </a:endParaRPr>
          </a:p>
        </p:txBody>
      </p:sp>
      <p:sp>
        <p:nvSpPr>
          <p:cNvPr id="35" name="文本框 34"/>
          <p:cNvSpPr txBox="1"/>
          <p:nvPr/>
        </p:nvSpPr>
        <p:spPr>
          <a:xfrm>
            <a:off x="5119370" y="2604770"/>
            <a:ext cx="3620135" cy="229870"/>
          </a:xfrm>
          <a:prstGeom prst="rect">
            <a:avLst/>
          </a:prstGeom>
          <a:noFill/>
        </p:spPr>
        <p:txBody>
          <a:bodyPr wrap="square" rtlCol="0" anchor="t">
            <a:spAutoFit/>
          </a:bodyPr>
          <a:p>
            <a:pPr marL="0" indent="0" algn="l">
              <a:buNone/>
            </a:pPr>
            <a:r>
              <a:rPr sz="900" b="1">
                <a:solidFill>
                  <a:srgbClr val="8B3A1A"/>
                </a:solidFill>
                <a:latin typeface="Calibri" panose="020F0502020204030204"/>
                <a:sym typeface="+mn-ea"/>
              </a:rPr>
              <a:t>Two-pass filter: require FL trigger AND exclude backward-looking signals</a:t>
            </a:r>
            <a:endParaRPr lang="zh-CN" altLang="en-US" sz="900" b="1">
              <a:solidFill>
                <a:srgbClr val="8B3A1A"/>
              </a:solidFill>
              <a:latin typeface="Calibri" panose="020F0502020204030204"/>
              <a:sym typeface="+mn-ea"/>
            </a:endParaRPr>
          </a:p>
        </p:txBody>
      </p:sp>
      <p:sp>
        <p:nvSpPr>
          <p:cNvPr id="36" name="文本框 35"/>
          <p:cNvSpPr txBox="1"/>
          <p:nvPr/>
        </p:nvSpPr>
        <p:spPr>
          <a:xfrm>
            <a:off x="4705985" y="2834640"/>
            <a:ext cx="4209415" cy="2012315"/>
          </a:xfrm>
          <a:prstGeom prst="rect">
            <a:avLst/>
          </a:prstGeom>
          <a:noFill/>
        </p:spPr>
        <p:txBody>
          <a:bodyPr wrap="square" rtlCol="0" anchor="t">
            <a:noAutofit/>
          </a:bodyPr>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FL_RE = re.compile(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r"\b(will|expect|anticipate|forecast|outlook|guidance|"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r"going forward|next quarter|positioned to|pipeline)\b",</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re.IGNORECASE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BL_RE = re.compile(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r"\b(last quarter|reported|delivered|achieved|"</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r"year-over-year|quarter-over-quarter)\b",</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re.IGNORECASE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def is_forward_looking(sentence):</a:t>
            </a:r>
            <a:endParaRPr lang="en-US" sz="900" dirty="0">
              <a:solidFill>
                <a:srgbClr val="5C3D2E"/>
              </a:solidFill>
              <a:latin typeface="Courier New" panose="02070309020205020404" charset="0"/>
              <a:ea typeface="Calibri" panose="020F0502020204030204" pitchFamily="34" charset="-122"/>
              <a:cs typeface="Courier New" panose="02070309020205020404" charset="0"/>
            </a:endParaRPr>
          </a:p>
          <a:p>
            <a:pPr algn="l">
              <a:buClrTx/>
              <a:buSzTx/>
              <a:buNone/>
            </a:pPr>
            <a:r>
              <a:rPr lang="en-US" sz="900" dirty="0">
                <a:solidFill>
                  <a:srgbClr val="5C3D2E"/>
                </a:solidFill>
                <a:latin typeface="Courier New" panose="02070309020205020404" charset="0"/>
                <a:ea typeface="Calibri" panose="020F0502020204030204" pitchFamily="34" charset="-122"/>
                <a:cs typeface="Courier New" panose="02070309020205020404" charset="0"/>
                <a:sym typeface="+mn-ea"/>
              </a:rPr>
              <a:t>    </a:t>
            </a:r>
            <a:r>
              <a:rPr lang="en-US" altLang="zh-CN" sz="900" dirty="0">
                <a:solidFill>
                  <a:srgbClr val="5C3D2E"/>
                </a:solidFill>
                <a:latin typeface="Courier New" panose="02070309020205020404" charset="0"/>
                <a:ea typeface="Calibri" panose="020F0502020204030204" pitchFamily="34" charset="-122"/>
                <a:cs typeface="Courier New" panose="02070309020205020404" charset="0"/>
              </a:rPr>
              <a:t>bool(FL_RE.search(sentence)) and not bool(BL_RE.search(sentence))</a:t>
            </a:r>
            <a:endParaRPr lang="en-US" altLang="zh-CN" sz="900" dirty="0">
              <a:solidFill>
                <a:srgbClr val="5C3D2E"/>
              </a:solidFill>
              <a:latin typeface="Courier New" panose="02070309020205020404" charset="0"/>
              <a:ea typeface="Calibri" panose="020F0502020204030204" pitchFamily="34" charset="-122"/>
              <a:cs typeface="Courier New" panose="020703090202050204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Three-Method Scoring Framework</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5" name="Shape 3"/>
          <p:cNvSpPr/>
          <p:nvPr>
            <p:custDataLst>
              <p:tags r:id="rId1"/>
            </p:custDataLst>
          </p:nvPr>
        </p:nvSpPr>
        <p:spPr>
          <a:xfrm>
            <a:off x="320040" y="804545"/>
            <a:ext cx="2743200" cy="2016760"/>
          </a:xfrm>
          <a:prstGeom prst="rect">
            <a:avLst/>
          </a:prstGeom>
          <a:solidFill>
            <a:srgbClr val="F2EDE6"/>
          </a:solidFill>
          <a:ln w="9525">
            <a:solidFill>
              <a:srgbClr val="D9C9BB"/>
            </a:solidFill>
            <a:prstDash val="solid"/>
          </a:ln>
          <a:effectLst>
            <a:outerShdw blurRad="63500" dist="12700" dir="8100000" algn="bl" rotWithShape="0">
              <a:srgbClr val="000000">
                <a:alpha val="7000"/>
              </a:srgbClr>
            </a:outerShdw>
          </a:effectLst>
        </p:spPr>
      </p:sp>
      <p:sp>
        <p:nvSpPr>
          <p:cNvPr id="6" name="Shape 4"/>
          <p:cNvSpPr/>
          <p:nvPr>
            <p:custDataLst>
              <p:tags r:id="rId2"/>
            </p:custDataLst>
          </p:nvPr>
        </p:nvSpPr>
        <p:spPr>
          <a:xfrm>
            <a:off x="320040" y="804672"/>
            <a:ext cx="2743200" cy="475488"/>
          </a:xfrm>
          <a:prstGeom prst="rect">
            <a:avLst/>
          </a:prstGeom>
          <a:solidFill>
            <a:srgbClr val="6B3A1A"/>
          </a:solidFill>
          <a:ln w="12700">
            <a:solidFill>
              <a:srgbClr val="6B3A1A"/>
            </a:solidFill>
            <a:prstDash val="solid"/>
          </a:ln>
        </p:spPr>
      </p:sp>
      <p:sp>
        <p:nvSpPr>
          <p:cNvPr id="7" name="Text 5"/>
          <p:cNvSpPr/>
          <p:nvPr>
            <p:custDataLst>
              <p:tags r:id="rId3"/>
            </p:custDataLst>
          </p:nvPr>
        </p:nvSpPr>
        <p:spPr>
          <a:xfrm>
            <a:off x="429768" y="822960"/>
            <a:ext cx="2523744" cy="256032"/>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LM Lexicon</a:t>
            </a:r>
            <a:endParaRPr lang="en-US" sz="1400" dirty="0"/>
          </a:p>
        </p:txBody>
      </p:sp>
      <p:sp>
        <p:nvSpPr>
          <p:cNvPr id="8" name="Text 6"/>
          <p:cNvSpPr/>
          <p:nvPr>
            <p:custDataLst>
              <p:tags r:id="rId4"/>
            </p:custDataLst>
          </p:nvPr>
        </p:nvSpPr>
        <p:spPr>
          <a:xfrm>
            <a:off x="429768" y="1060704"/>
            <a:ext cx="2523744" cy="182880"/>
          </a:xfrm>
          <a:prstGeom prst="rect">
            <a:avLst/>
          </a:prstGeom>
          <a:noFill/>
        </p:spPr>
        <p:txBody>
          <a:bodyPr wrap="square" lIns="0" tIns="0" rIns="0" bIns="0" rtlCol="0" anchor="ctr"/>
          <a:lstStyle/>
          <a:p>
            <a:pPr marL="0" indent="0">
              <a:buNone/>
            </a:pPr>
            <a:r>
              <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rPr>
              <a:t>Lexicon-based</a:t>
            </a:r>
            <a:endPar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custDataLst>
              <p:tags r:id="rId5"/>
            </p:custDataLst>
          </p:nvPr>
        </p:nvSpPr>
        <p:spPr>
          <a:xfrm>
            <a:off x="429768" y="1389888"/>
            <a:ext cx="2523744" cy="182880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Loughran-McDonald finance dictionary</a:t>
            </a:r>
            <a:endParaRPr lang="en-US" sz="1100" dirty="0"/>
          </a:p>
          <a:p>
            <a:pPr marL="0" indent="0">
              <a:buNone/>
            </a:pP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Positive &amp; Negative word lists</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Uncertainty word list (separate index)</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Score = (pos − neg) / total words</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Phrase-level negation handling</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custDataLst>
              <p:tags r:id="rId6"/>
            </p:custDataLst>
          </p:nvPr>
        </p:nvSpPr>
        <p:spPr>
          <a:xfrm>
            <a:off x="320040" y="2583688"/>
            <a:ext cx="2743200" cy="237744"/>
          </a:xfrm>
          <a:prstGeom prst="rect">
            <a:avLst/>
          </a:prstGeom>
          <a:solidFill>
            <a:srgbClr val="F5EDE0">
              <a:alpha val="70000"/>
            </a:srgbClr>
          </a:solidFill>
          <a:ln w="12700">
            <a:solidFill>
              <a:srgbClr val="6B3A1A"/>
            </a:solidFill>
            <a:prstDash val="solid"/>
          </a:ln>
        </p:spPr>
      </p:sp>
      <p:sp>
        <p:nvSpPr>
          <p:cNvPr id="11" name="Text 9"/>
          <p:cNvSpPr/>
          <p:nvPr>
            <p:custDataLst>
              <p:tags r:id="rId7"/>
            </p:custDataLst>
          </p:nvPr>
        </p:nvSpPr>
        <p:spPr>
          <a:xfrm>
            <a:off x="429768" y="2583688"/>
            <a:ext cx="2523744" cy="237744"/>
          </a:xfrm>
          <a:prstGeom prst="rect">
            <a:avLst/>
          </a:prstGeom>
          <a:noFill/>
        </p:spPr>
        <p:txBody>
          <a:bodyPr wrap="square" lIns="0" tIns="0" rIns="0" bIns="0" rtlCol="0" anchor="ctr"/>
          <a:lstStyle/>
          <a:p>
            <a:pPr marL="0" indent="0">
              <a:buNone/>
            </a:pPr>
            <a:r>
              <a:rPr lang="en-US" sz="950" b="1" dirty="0">
                <a:solidFill>
                  <a:srgbClr val="6B3A1A"/>
                </a:solidFill>
                <a:latin typeface="Calibri" panose="020F0502020204030204" pitchFamily="34" charset="0"/>
                <a:ea typeface="Calibri" panose="020F0502020204030204" pitchFamily="34" charset="-122"/>
                <a:cs typeface="Calibri" panose="020F0502020204030204" pitchFamily="34" charset="-120"/>
              </a:rPr>
              <a:t>✓  Transparent · domain-specific · fast</a:t>
            </a:r>
            <a:endParaRPr lang="en-US" sz="950" b="1" dirty="0">
              <a:solidFill>
                <a:srgbClr val="6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custDataLst>
              <p:tags r:id="rId8"/>
            </p:custDataLst>
          </p:nvPr>
        </p:nvSpPr>
        <p:spPr>
          <a:xfrm>
            <a:off x="3264535" y="804545"/>
            <a:ext cx="2743200" cy="2016760"/>
          </a:xfrm>
          <a:prstGeom prst="rect">
            <a:avLst/>
          </a:prstGeom>
          <a:solidFill>
            <a:srgbClr val="F2EDE6"/>
          </a:solidFill>
          <a:ln w="9525">
            <a:solidFill>
              <a:srgbClr val="D9C9BB"/>
            </a:solidFill>
            <a:prstDash val="solid"/>
          </a:ln>
          <a:effectLst>
            <a:outerShdw blurRad="63500" dist="12700" dir="8100000" algn="bl" rotWithShape="0">
              <a:srgbClr val="000000">
                <a:alpha val="7000"/>
              </a:srgbClr>
            </a:outerShdw>
          </a:effectLst>
        </p:spPr>
      </p:sp>
      <p:sp>
        <p:nvSpPr>
          <p:cNvPr id="13" name="Shape 11"/>
          <p:cNvSpPr/>
          <p:nvPr>
            <p:custDataLst>
              <p:tags r:id="rId9"/>
            </p:custDataLst>
          </p:nvPr>
        </p:nvSpPr>
        <p:spPr>
          <a:xfrm>
            <a:off x="3264408" y="804672"/>
            <a:ext cx="2743200" cy="475488"/>
          </a:xfrm>
          <a:prstGeom prst="rect">
            <a:avLst/>
          </a:prstGeom>
          <a:solidFill>
            <a:srgbClr val="C8692A"/>
          </a:solidFill>
          <a:ln w="12700">
            <a:solidFill>
              <a:srgbClr val="C8692A"/>
            </a:solidFill>
            <a:prstDash val="solid"/>
          </a:ln>
        </p:spPr>
      </p:sp>
      <p:sp>
        <p:nvSpPr>
          <p:cNvPr id="14" name="Text 12"/>
          <p:cNvSpPr/>
          <p:nvPr>
            <p:custDataLst>
              <p:tags r:id="rId10"/>
            </p:custDataLst>
          </p:nvPr>
        </p:nvSpPr>
        <p:spPr>
          <a:xfrm>
            <a:off x="3374136" y="822960"/>
            <a:ext cx="2523744" cy="256032"/>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FinBERT</a:t>
            </a:r>
            <a:endParaRPr lang="en-US" sz="1400" dirty="0"/>
          </a:p>
        </p:txBody>
      </p:sp>
      <p:sp>
        <p:nvSpPr>
          <p:cNvPr id="15" name="Text 13"/>
          <p:cNvSpPr/>
          <p:nvPr>
            <p:custDataLst>
              <p:tags r:id="rId11"/>
            </p:custDataLst>
          </p:nvPr>
        </p:nvSpPr>
        <p:spPr>
          <a:xfrm>
            <a:off x="3374136" y="1060704"/>
            <a:ext cx="2523744" cy="182880"/>
          </a:xfrm>
          <a:prstGeom prst="rect">
            <a:avLst/>
          </a:prstGeom>
          <a:noFill/>
        </p:spPr>
        <p:txBody>
          <a:bodyPr wrap="square" lIns="0" tIns="0" rIns="0" bIns="0" rtlCol="0" anchor="ctr"/>
          <a:lstStyle/>
          <a:p>
            <a:pPr marL="0" indent="0">
              <a:buNone/>
            </a:pPr>
            <a:r>
              <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rPr>
              <a:t>Deep Learning</a:t>
            </a:r>
            <a:endPar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custDataLst>
              <p:tags r:id="rId12"/>
            </p:custDataLst>
          </p:nvPr>
        </p:nvSpPr>
        <p:spPr>
          <a:xfrm>
            <a:off x="3374136" y="1389888"/>
            <a:ext cx="2523744" cy="182880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BERT fine-tuned on financial text</a:t>
            </a:r>
            <a:endParaRPr lang="en-US" sz="1100" dirty="0"/>
          </a:p>
          <a:p>
            <a:pPr marL="0" indent="0">
              <a:buNone/>
            </a:pP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Sentence-level classification</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Labels: positive / negative / neutral</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Context-aware (negations, hedges)</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Score averaged across FL sentences</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custDataLst>
              <p:tags r:id="rId13"/>
            </p:custDataLst>
          </p:nvPr>
        </p:nvSpPr>
        <p:spPr>
          <a:xfrm>
            <a:off x="3264408" y="2583688"/>
            <a:ext cx="2743200" cy="237744"/>
          </a:xfrm>
          <a:prstGeom prst="rect">
            <a:avLst/>
          </a:prstGeom>
          <a:solidFill>
            <a:srgbClr val="F5EDE0">
              <a:alpha val="70000"/>
            </a:srgbClr>
          </a:solidFill>
          <a:ln w="12700">
            <a:solidFill>
              <a:srgbClr val="C8692A"/>
            </a:solidFill>
            <a:prstDash val="solid"/>
          </a:ln>
        </p:spPr>
      </p:sp>
      <p:sp>
        <p:nvSpPr>
          <p:cNvPr id="18" name="Text 16"/>
          <p:cNvSpPr/>
          <p:nvPr>
            <p:custDataLst>
              <p:tags r:id="rId14"/>
            </p:custDataLst>
          </p:nvPr>
        </p:nvSpPr>
        <p:spPr>
          <a:xfrm>
            <a:off x="3374136" y="2583688"/>
            <a:ext cx="2523744" cy="237744"/>
          </a:xfrm>
          <a:prstGeom prst="rect">
            <a:avLst/>
          </a:prstGeom>
          <a:noFill/>
        </p:spPr>
        <p:txBody>
          <a:bodyPr wrap="square" lIns="0" tIns="0" rIns="0" bIns="0" rtlCol="0" anchor="ctr"/>
          <a:lstStyle/>
          <a:p>
            <a:pPr marL="0" indent="0">
              <a:buNone/>
            </a:pPr>
            <a:r>
              <a:rPr lang="en-US" sz="950" b="1" dirty="0">
                <a:solidFill>
                  <a:srgbClr val="C8692A"/>
                </a:solidFill>
                <a:latin typeface="Calibri" panose="020F0502020204030204" pitchFamily="34" charset="0"/>
                <a:ea typeface="Calibri" panose="020F0502020204030204" pitchFamily="34" charset="-122"/>
                <a:cs typeface="Calibri" panose="020F0502020204030204" pitchFamily="34" charset="-120"/>
              </a:rPr>
              <a:t>✓  Context-sensitive · state-of-art NLP</a:t>
            </a:r>
            <a:endParaRPr lang="en-US" sz="95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custDataLst>
              <p:tags r:id="rId15"/>
            </p:custDataLst>
          </p:nvPr>
        </p:nvSpPr>
        <p:spPr>
          <a:xfrm>
            <a:off x="6209030" y="804545"/>
            <a:ext cx="2743200" cy="2016760"/>
          </a:xfrm>
          <a:prstGeom prst="rect">
            <a:avLst/>
          </a:prstGeom>
          <a:solidFill>
            <a:srgbClr val="F2EDE6"/>
          </a:solidFill>
          <a:ln w="9525">
            <a:solidFill>
              <a:srgbClr val="D9C9BB"/>
            </a:solidFill>
            <a:prstDash val="solid"/>
          </a:ln>
          <a:effectLst>
            <a:outerShdw blurRad="63500" dist="12700" dir="8100000" algn="bl" rotWithShape="0">
              <a:srgbClr val="000000">
                <a:alpha val="7000"/>
              </a:srgbClr>
            </a:outerShdw>
          </a:effectLst>
        </p:spPr>
      </p:sp>
      <p:sp>
        <p:nvSpPr>
          <p:cNvPr id="20" name="Shape 18"/>
          <p:cNvSpPr/>
          <p:nvPr>
            <p:custDataLst>
              <p:tags r:id="rId16"/>
            </p:custDataLst>
          </p:nvPr>
        </p:nvSpPr>
        <p:spPr>
          <a:xfrm>
            <a:off x="6208776" y="804672"/>
            <a:ext cx="2743200" cy="475488"/>
          </a:xfrm>
          <a:prstGeom prst="rect">
            <a:avLst/>
          </a:prstGeom>
          <a:solidFill>
            <a:srgbClr val="B07040"/>
          </a:solidFill>
          <a:ln w="12700">
            <a:solidFill>
              <a:srgbClr val="B07040"/>
            </a:solidFill>
            <a:prstDash val="solid"/>
          </a:ln>
        </p:spPr>
      </p:sp>
      <p:sp>
        <p:nvSpPr>
          <p:cNvPr id="21" name="Text 19"/>
          <p:cNvSpPr/>
          <p:nvPr>
            <p:custDataLst>
              <p:tags r:id="rId17"/>
            </p:custDataLst>
          </p:nvPr>
        </p:nvSpPr>
        <p:spPr>
          <a:xfrm>
            <a:off x="6318504" y="822960"/>
            <a:ext cx="2523744" cy="256032"/>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GPT Intensity</a:t>
            </a:r>
            <a:endParaRPr lang="en-US" sz="1400" dirty="0"/>
          </a:p>
        </p:txBody>
      </p:sp>
      <p:sp>
        <p:nvSpPr>
          <p:cNvPr id="22" name="Text 20"/>
          <p:cNvSpPr/>
          <p:nvPr>
            <p:custDataLst>
              <p:tags r:id="rId18"/>
            </p:custDataLst>
          </p:nvPr>
        </p:nvSpPr>
        <p:spPr>
          <a:xfrm>
            <a:off x="6318504" y="1060704"/>
            <a:ext cx="2523744" cy="182880"/>
          </a:xfrm>
          <a:prstGeom prst="rect">
            <a:avLst/>
          </a:prstGeom>
          <a:noFill/>
        </p:spPr>
        <p:txBody>
          <a:bodyPr wrap="square" lIns="0" tIns="0" rIns="0" bIns="0" rtlCol="0" anchor="ctr"/>
          <a:lstStyle/>
          <a:p>
            <a:pPr marL="0" indent="0">
              <a:buNone/>
            </a:pPr>
            <a:r>
              <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rPr>
              <a:t>LLM Scoring</a:t>
            </a:r>
            <a:endParaRPr lang="en-US" sz="1000" i="1" dirty="0">
              <a:solidFill>
                <a:srgbClr val="D4B090"/>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custDataLst>
              <p:tags r:id="rId19"/>
            </p:custDataLst>
          </p:nvPr>
        </p:nvSpPr>
        <p:spPr>
          <a:xfrm>
            <a:off x="6318504" y="1389888"/>
            <a:ext cx="2523744" cy="182880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GPT-4o scoring on 0–10 scale</a:t>
            </a:r>
            <a:endParaRPr lang="en-US" sz="1100" dirty="0"/>
          </a:p>
          <a:p>
            <a:pPr marL="0" indent="0">
              <a:buNone/>
            </a:pP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Continuous intensity output</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CEO vs analyst scored separately</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Tone intensity weighting variant</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 Normalised to [0,1] for aggregation</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custDataLst>
              <p:tags r:id="rId20"/>
            </p:custDataLst>
          </p:nvPr>
        </p:nvSpPr>
        <p:spPr>
          <a:xfrm>
            <a:off x="6208776" y="2583688"/>
            <a:ext cx="2743200" cy="237744"/>
          </a:xfrm>
          <a:prstGeom prst="rect">
            <a:avLst/>
          </a:prstGeom>
          <a:solidFill>
            <a:srgbClr val="F5EDE0">
              <a:alpha val="70000"/>
            </a:srgbClr>
          </a:solidFill>
          <a:ln w="12700">
            <a:solidFill>
              <a:srgbClr val="B07040"/>
            </a:solidFill>
            <a:prstDash val="solid"/>
          </a:ln>
        </p:spPr>
      </p:sp>
      <p:sp>
        <p:nvSpPr>
          <p:cNvPr id="25" name="Text 23"/>
          <p:cNvSpPr/>
          <p:nvPr>
            <p:custDataLst>
              <p:tags r:id="rId21"/>
            </p:custDataLst>
          </p:nvPr>
        </p:nvSpPr>
        <p:spPr>
          <a:xfrm>
            <a:off x="6318504" y="2583688"/>
            <a:ext cx="2523744" cy="237744"/>
          </a:xfrm>
          <a:prstGeom prst="rect">
            <a:avLst/>
          </a:prstGeom>
          <a:noFill/>
        </p:spPr>
        <p:txBody>
          <a:bodyPr wrap="square" lIns="0" tIns="0" rIns="0" bIns="0" rtlCol="0" anchor="ctr"/>
          <a:lstStyle/>
          <a:p>
            <a:pPr marL="0" indent="0">
              <a:buNone/>
            </a:pPr>
            <a:r>
              <a:rPr lang="en-US" sz="950" b="1" dirty="0">
                <a:solidFill>
                  <a:srgbClr val="B07040"/>
                </a:solidFill>
                <a:latin typeface="Calibri" panose="020F0502020204030204" pitchFamily="34" charset="0"/>
                <a:ea typeface="Calibri" panose="020F0502020204030204" pitchFamily="34" charset="-122"/>
                <a:cs typeface="Calibri" panose="020F0502020204030204" pitchFamily="34" charset="-120"/>
              </a:rPr>
              <a:t>✓  Captures nuance · distinguishes tone strength</a:t>
            </a:r>
            <a:endParaRPr lang="en-US" sz="950" b="1" dirty="0">
              <a:solidFill>
                <a:srgbClr val="B07040"/>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29" name="组合 28"/>
          <p:cNvGrpSpPr/>
          <p:nvPr/>
        </p:nvGrpSpPr>
        <p:grpSpPr>
          <a:xfrm>
            <a:off x="320040" y="4449445"/>
            <a:ext cx="8632190" cy="336550"/>
            <a:chOff x="504" y="6813"/>
            <a:chExt cx="13392" cy="530"/>
          </a:xfrm>
        </p:grpSpPr>
        <p:sp>
          <p:nvSpPr>
            <p:cNvPr id="26" name="Shape 24"/>
            <p:cNvSpPr/>
            <p:nvPr/>
          </p:nvSpPr>
          <p:spPr>
            <a:xfrm>
              <a:off x="504" y="6813"/>
              <a:ext cx="13392" cy="531"/>
            </a:xfrm>
            <a:prstGeom prst="rect">
              <a:avLst/>
            </a:prstGeom>
            <a:solidFill>
              <a:srgbClr val="F5EDE0"/>
            </a:solidFill>
            <a:ln w="9525">
              <a:solidFill>
                <a:srgbClr val="E09B5A"/>
              </a:solidFill>
              <a:prstDash val="solid"/>
            </a:ln>
          </p:spPr>
        </p:sp>
        <p:sp>
          <p:nvSpPr>
            <p:cNvPr id="27" name="Text 25"/>
            <p:cNvSpPr/>
            <p:nvPr/>
          </p:nvSpPr>
          <p:spPr>
            <a:xfrm>
              <a:off x="720" y="6861"/>
              <a:ext cx="12960" cy="440"/>
            </a:xfrm>
            <a:prstGeom prst="rect">
              <a:avLst/>
            </a:prstGeom>
            <a:noFill/>
          </p:spPr>
          <p:txBody>
            <a:bodyPr wrap="square" lIns="0" tIns="0" rIns="0" bIns="0" rtlCol="0" anchor="ctr"/>
            <a:lstStyle/>
            <a:p>
              <a:pPr marL="0" indent="0">
                <a:buNone/>
              </a:pPr>
              <a:r>
                <a:rPr lang="en-US" sz="1000" dirty="0">
                  <a:solidFill>
                    <a:srgbClr val="5C3D2E"/>
                  </a:solidFill>
                  <a:latin typeface="Calibri" panose="020F0502020204030204" pitchFamily="34" charset="0"/>
                  <a:ea typeface="Calibri" panose="020F0502020204030204" pitchFamily="34" charset="-122"/>
                  <a:cs typeface="Calibri" panose="020F0502020204030204" pitchFamily="34" charset="-120"/>
                </a:rPr>
                <a:t>All three methods applied to the same FL sentence pool. Cross-method consistency validates robustness; divergences reveal analytical blind spots.</a:t>
              </a:r>
              <a:endParaRPr lang="en-US" sz="10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8" name="Text 26"/>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Minimum one lexicon-based method required per project spec  ·  LM = Loughran-McDonald (2011)</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圆角矩形 33"/>
          <p:cNvSpPr/>
          <p:nvPr/>
        </p:nvSpPr>
        <p:spPr>
          <a:xfrm>
            <a:off x="603885" y="2948940"/>
            <a:ext cx="410210" cy="490855"/>
          </a:xfrm>
          <a:prstGeom prst="roundRect">
            <a:avLst/>
          </a:prstGeom>
          <a:solidFill>
            <a:srgbClr val="C8692A"/>
          </a:solidFill>
          <a:ln>
            <a:solidFill>
              <a:srgbClr val="C8692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Text 22"/>
          <p:cNvSpPr/>
          <p:nvPr/>
        </p:nvSpPr>
        <p:spPr>
          <a:xfrm>
            <a:off x="603885" y="2938780"/>
            <a:ext cx="410845" cy="27432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Code </a:t>
            </a:r>
            <a:endPar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sym typeface="+mn-ea"/>
            </a:endParaRPr>
          </a:p>
        </p:txBody>
      </p:sp>
      <p:sp>
        <p:nvSpPr>
          <p:cNvPr id="32" name="圆角矩形 31"/>
          <p:cNvSpPr/>
          <p:nvPr/>
        </p:nvSpPr>
        <p:spPr>
          <a:xfrm>
            <a:off x="603885" y="3213100"/>
            <a:ext cx="3866515" cy="1028065"/>
          </a:xfrm>
          <a:prstGeom prst="roundRect">
            <a:avLst>
              <a:gd name="adj" fmla="val 10708"/>
            </a:avLst>
          </a:prstGeom>
          <a:solidFill>
            <a:srgbClr val="EDE5DC"/>
          </a:solidFill>
          <a:ln>
            <a:solidFill>
              <a:srgbClr val="EDE5D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sz="900">
              <a:solidFill>
                <a:srgbClr val="5C3D2E"/>
              </a:solidFill>
              <a:latin typeface="Courier New" panose="02070309020205020404"/>
              <a:sym typeface="+mn-ea"/>
            </a:endParaRPr>
          </a:p>
          <a:p>
            <a:pPr algn="l"/>
            <a:endParaRPr sz="900">
              <a:solidFill>
                <a:srgbClr val="5C3D2E"/>
              </a:solidFill>
              <a:latin typeface="Courier New" panose="02070309020205020404"/>
              <a:sym typeface="+mn-ea"/>
            </a:endParaRPr>
          </a:p>
          <a:p>
            <a:pPr algn="l"/>
            <a:r>
              <a:rPr sz="900">
                <a:solidFill>
                  <a:srgbClr val="5C3D2E"/>
                </a:solidFill>
                <a:latin typeface="Courier New" panose="02070309020205020404"/>
                <a:sym typeface="+mn-ea"/>
              </a:rPr>
              <a:t>lm_score = (pos - neg) / (pos + neg + 1)</a:t>
            </a:r>
            <a:endParaRPr sz="900" b="0">
              <a:solidFill>
                <a:srgbClr val="5C3D2E"/>
              </a:solidFill>
              <a:latin typeface="Courier New" panose="02070309020205020404"/>
            </a:endParaRPr>
          </a:p>
          <a:p>
            <a:pPr algn="l"/>
            <a:r>
              <a:rPr sz="900">
                <a:solidFill>
                  <a:srgbClr val="5C3D2E"/>
                </a:solidFill>
                <a:latin typeface="Courier New" panose="02070309020205020404"/>
                <a:sym typeface="+mn-ea"/>
              </a:rPr>
              <a:t>lm_unc   = uncertainty_words / word_count</a:t>
            </a:r>
            <a:endParaRPr lang="en-US" altLang="en-US" sz="9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Box 29"/>
          <p:cNvSpPr txBox="1"/>
          <p:nvPr/>
        </p:nvSpPr>
        <p:spPr>
          <a:xfrm>
            <a:off x="658495" y="3365500"/>
            <a:ext cx="2889885" cy="245110"/>
          </a:xfrm>
          <a:prstGeom prst="rect">
            <a:avLst/>
          </a:prstGeom>
          <a:noFill/>
        </p:spPr>
        <p:txBody>
          <a:bodyPr wrap="square">
            <a:spAutoFit/>
          </a:bodyPr>
          <a:lstStyle/>
          <a:p>
            <a:pPr algn="l"/>
            <a:r>
              <a:rPr sz="1000" b="1">
                <a:solidFill>
                  <a:srgbClr val="6B3A1A"/>
                </a:solidFill>
                <a:latin typeface="Calibri" panose="020F0502020204030204"/>
              </a:rPr>
              <a:t>LM: smoothed net score + uncertainty density</a:t>
            </a:r>
            <a:endParaRPr sz="1000" b="1">
              <a:solidFill>
                <a:srgbClr val="6B3A1A"/>
              </a:solidFill>
              <a:latin typeface="Calibri" panose="020F0502020204030204"/>
            </a:endParaRPr>
          </a:p>
        </p:txBody>
      </p:sp>
      <p:grpSp>
        <p:nvGrpSpPr>
          <p:cNvPr id="40" name="组合 39"/>
          <p:cNvGrpSpPr/>
          <p:nvPr/>
        </p:nvGrpSpPr>
        <p:grpSpPr>
          <a:xfrm rot="0">
            <a:off x="4674235" y="2938780"/>
            <a:ext cx="3865880" cy="1301750"/>
            <a:chOff x="8009" y="4628"/>
            <a:chExt cx="6088" cy="2050"/>
          </a:xfrm>
        </p:grpSpPr>
        <p:sp>
          <p:nvSpPr>
            <p:cNvPr id="36" name="圆角矩形 35"/>
            <p:cNvSpPr/>
            <p:nvPr/>
          </p:nvSpPr>
          <p:spPr>
            <a:xfrm>
              <a:off x="8009" y="4644"/>
              <a:ext cx="646" cy="773"/>
            </a:xfrm>
            <a:prstGeom prst="roundRect">
              <a:avLst/>
            </a:prstGeom>
            <a:solidFill>
              <a:srgbClr val="C8692A"/>
            </a:solidFill>
            <a:ln>
              <a:solidFill>
                <a:srgbClr val="C8692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Text 22"/>
            <p:cNvSpPr/>
            <p:nvPr/>
          </p:nvSpPr>
          <p:spPr>
            <a:xfrm>
              <a:off x="8009" y="4628"/>
              <a:ext cx="647" cy="432"/>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Code </a:t>
              </a:r>
              <a:endPar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sym typeface="+mn-ea"/>
              </a:endParaRPr>
            </a:p>
          </p:txBody>
        </p:sp>
        <p:sp>
          <p:nvSpPr>
            <p:cNvPr id="38" name="圆角矩形 37"/>
            <p:cNvSpPr/>
            <p:nvPr/>
          </p:nvSpPr>
          <p:spPr>
            <a:xfrm>
              <a:off x="8009" y="5060"/>
              <a:ext cx="6089" cy="1619"/>
            </a:xfrm>
            <a:prstGeom prst="roundRect">
              <a:avLst>
                <a:gd name="adj" fmla="val 10708"/>
              </a:avLst>
            </a:prstGeom>
            <a:solidFill>
              <a:srgbClr val="EDE5DC"/>
            </a:solidFill>
            <a:ln>
              <a:solidFill>
                <a:srgbClr val="EDE5D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sz="900">
                <a:solidFill>
                  <a:srgbClr val="5C3D2E"/>
                </a:solidFill>
                <a:latin typeface="Courier New" panose="02070309020205020404"/>
                <a:sym typeface="+mn-ea"/>
              </a:endParaRPr>
            </a:p>
            <a:p>
              <a:pPr algn="l"/>
              <a:endParaRPr sz="900">
                <a:solidFill>
                  <a:srgbClr val="5C3D2E"/>
                </a:solidFill>
                <a:latin typeface="Courier New" panose="02070309020205020404"/>
                <a:sym typeface="+mn-ea"/>
              </a:endParaRPr>
            </a:p>
            <a:p>
              <a:pPr algn="l"/>
              <a:r>
                <a:rPr sz="900">
                  <a:solidFill>
                    <a:srgbClr val="5C3D2E"/>
                  </a:solidFill>
                  <a:latin typeface="Courier New" panose="02070309020205020404"/>
                  <a:sym typeface="+mn-ea"/>
                </a:rPr>
                <a:t>"score":     0–10  (0=bearish … 10=bullish)</a:t>
              </a:r>
              <a:endParaRPr sz="900" b="0">
                <a:solidFill>
                  <a:srgbClr val="5C3D2E"/>
                </a:solidFill>
                <a:latin typeface="Courier New" panose="02070309020205020404"/>
              </a:endParaRPr>
            </a:p>
            <a:p>
              <a:pPr algn="l"/>
              <a:r>
                <a:rPr sz="900">
                  <a:solidFill>
                    <a:srgbClr val="5C3D2E"/>
                  </a:solidFill>
                  <a:latin typeface="Courier New" panose="02070309020205020404"/>
                  <a:sym typeface="+mn-ea"/>
                </a:rPr>
                <a:t>"intensity": 1–3   (1=mild, 2=moderate, 3=emphatic)</a:t>
              </a:r>
              <a:endParaRPr lang="en-US" altLang="en-US" sz="9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Box 29"/>
            <p:cNvSpPr txBox="1"/>
            <p:nvPr/>
          </p:nvSpPr>
          <p:spPr>
            <a:xfrm>
              <a:off x="8095" y="5300"/>
              <a:ext cx="4551" cy="386"/>
            </a:xfrm>
            <a:prstGeom prst="rect">
              <a:avLst/>
            </a:prstGeom>
            <a:noFill/>
          </p:spPr>
          <p:txBody>
            <a:bodyPr wrap="square">
              <a:spAutoFit/>
            </a:bodyPr>
            <a:lstStyle/>
            <a:p>
              <a:pPr algn="l"/>
              <a:r>
                <a:rPr sz="1000" b="1">
                  <a:solidFill>
                    <a:srgbClr val="B07040"/>
                  </a:solidFill>
                  <a:latin typeface="Calibri" panose="020F0502020204030204"/>
                  <a:sym typeface="+mn-ea"/>
                </a:rPr>
                <a:t>GPT: two-dimensional output (direction + intensity)</a:t>
              </a:r>
              <a:endParaRPr sz="1000" b="1">
                <a:solidFill>
                  <a:srgbClr val="6B3A1A"/>
                </a:solidFill>
                <a:latin typeface="Calibri" panose="020F05020202040302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Aggregation Mechanism: Market-Cap vs Equal-Weighted</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5" name="Shape 3"/>
          <p:cNvSpPr/>
          <p:nvPr/>
        </p:nvSpPr>
        <p:spPr>
          <a:xfrm>
            <a:off x="320040" y="868680"/>
            <a:ext cx="347472" cy="347472"/>
          </a:xfrm>
          <a:prstGeom prst="ellipse">
            <a:avLst/>
          </a:prstGeom>
          <a:solidFill>
            <a:srgbClr val="C8692A"/>
          </a:solidFill>
          <a:ln w="12700">
            <a:solidFill>
              <a:srgbClr val="C8692A"/>
            </a:solidFill>
            <a:prstDash val="solid"/>
          </a:ln>
        </p:spPr>
      </p:sp>
      <p:sp>
        <p:nvSpPr>
          <p:cNvPr id="6" name="Text 4"/>
          <p:cNvSpPr/>
          <p:nvPr/>
        </p:nvSpPr>
        <p:spPr>
          <a:xfrm>
            <a:off x="320040" y="86868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Georgia" panose="02040502050405020303" pitchFamily="34" charset="-122"/>
                <a:cs typeface="Georgia" panose="02040502050405020303" pitchFamily="34" charset="-120"/>
              </a:rPr>
              <a:t>1</a:t>
            </a:r>
            <a:endParaRPr lang="en-US" sz="1100" dirty="0"/>
          </a:p>
        </p:txBody>
      </p:sp>
      <p:sp>
        <p:nvSpPr>
          <p:cNvPr id="7" name="Text 5"/>
          <p:cNvSpPr/>
          <p:nvPr/>
        </p:nvSpPr>
        <p:spPr>
          <a:xfrm>
            <a:off x="777240" y="868680"/>
            <a:ext cx="3474720" cy="256032"/>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Sentence → Company Score</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777240" y="1124712"/>
            <a:ext cx="3474720" cy="54864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Average FL sentence score per company per quarter (by method)</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493776" y="1216152"/>
            <a:ext cx="0" cy="658368"/>
          </a:xfrm>
          <a:prstGeom prst="line">
            <a:avLst/>
          </a:prstGeom>
          <a:noFill/>
          <a:ln w="12700">
            <a:solidFill>
              <a:srgbClr val="D9C9BB"/>
            </a:solidFill>
            <a:prstDash val="dash"/>
          </a:ln>
        </p:spPr>
      </p:sp>
      <p:sp>
        <p:nvSpPr>
          <p:cNvPr id="10" name="Shape 8"/>
          <p:cNvSpPr/>
          <p:nvPr/>
        </p:nvSpPr>
        <p:spPr>
          <a:xfrm>
            <a:off x="320040" y="1874520"/>
            <a:ext cx="347472" cy="347472"/>
          </a:xfrm>
          <a:prstGeom prst="ellipse">
            <a:avLst/>
          </a:prstGeom>
          <a:solidFill>
            <a:srgbClr val="C8692A"/>
          </a:solidFill>
          <a:ln w="12700">
            <a:solidFill>
              <a:srgbClr val="C8692A"/>
            </a:solidFill>
            <a:prstDash val="solid"/>
          </a:ln>
        </p:spPr>
      </p:sp>
      <p:sp>
        <p:nvSpPr>
          <p:cNvPr id="11" name="Text 9"/>
          <p:cNvSpPr/>
          <p:nvPr/>
        </p:nvSpPr>
        <p:spPr>
          <a:xfrm>
            <a:off x="320040" y="187452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Georgia" panose="02040502050405020303" pitchFamily="34" charset="-122"/>
                <a:cs typeface="Georgia" panose="02040502050405020303" pitchFamily="34" charset="-120"/>
              </a:rPr>
              <a:t>2</a:t>
            </a:r>
            <a:endParaRPr lang="en-US" sz="1100" dirty="0"/>
          </a:p>
        </p:txBody>
      </p:sp>
      <p:sp>
        <p:nvSpPr>
          <p:cNvPr id="12" name="Text 10"/>
          <p:cNvSpPr/>
          <p:nvPr/>
        </p:nvSpPr>
        <p:spPr>
          <a:xfrm>
            <a:off x="777240" y="1874520"/>
            <a:ext cx="3474720" cy="256032"/>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Company → Sector Index</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777240" y="2130552"/>
            <a:ext cx="3474720" cy="54864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Market-cap weighted average across sector constituents</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Parallel equal-weight index for comparison</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493776" y="2221992"/>
            <a:ext cx="0" cy="658368"/>
          </a:xfrm>
          <a:prstGeom prst="line">
            <a:avLst/>
          </a:prstGeom>
          <a:noFill/>
          <a:ln w="12700">
            <a:solidFill>
              <a:srgbClr val="D9C9BB"/>
            </a:solidFill>
            <a:prstDash val="dash"/>
          </a:ln>
        </p:spPr>
      </p:sp>
      <p:sp>
        <p:nvSpPr>
          <p:cNvPr id="15" name="Shape 13"/>
          <p:cNvSpPr/>
          <p:nvPr/>
        </p:nvSpPr>
        <p:spPr>
          <a:xfrm>
            <a:off x="320040" y="2880360"/>
            <a:ext cx="347472" cy="347472"/>
          </a:xfrm>
          <a:prstGeom prst="ellipse">
            <a:avLst/>
          </a:prstGeom>
          <a:solidFill>
            <a:srgbClr val="C8692A"/>
          </a:solidFill>
          <a:ln w="12700">
            <a:solidFill>
              <a:srgbClr val="C8692A"/>
            </a:solidFill>
            <a:prstDash val="solid"/>
          </a:ln>
        </p:spPr>
      </p:sp>
      <p:sp>
        <p:nvSpPr>
          <p:cNvPr id="16" name="Text 14"/>
          <p:cNvSpPr/>
          <p:nvPr/>
        </p:nvSpPr>
        <p:spPr>
          <a:xfrm>
            <a:off x="320040" y="288036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Georgia" panose="02040502050405020303" pitchFamily="34" charset="-122"/>
                <a:cs typeface="Georgia" panose="02040502050405020303" pitchFamily="34" charset="-120"/>
              </a:rPr>
              <a:t>3</a:t>
            </a:r>
            <a:endParaRPr lang="en-US" sz="1100" dirty="0"/>
          </a:p>
        </p:txBody>
      </p:sp>
      <p:sp>
        <p:nvSpPr>
          <p:cNvPr id="17" name="Text 15"/>
          <p:cNvSpPr/>
          <p:nvPr/>
        </p:nvSpPr>
        <p:spPr>
          <a:xfrm>
            <a:off x="777240" y="2880360"/>
            <a:ext cx="3474720" cy="256032"/>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Quarterly Sector Index</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777240" y="3136392"/>
            <a:ext cx="3474720" cy="54864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Two series per sector × three methods = 6 time series</a:t>
            </a:r>
            <a:endParaRPr lang="en-US" sz="1100" dirty="0"/>
          </a:p>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Base period: Q4 2023</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320040" y="4055745"/>
            <a:ext cx="3931920" cy="614680"/>
          </a:xfrm>
          <a:prstGeom prst="rect">
            <a:avLst/>
          </a:prstGeom>
          <a:solidFill>
            <a:srgbClr val="F5EDE0"/>
          </a:solidFill>
          <a:ln w="9525">
            <a:solidFill>
              <a:srgbClr val="E09B5A"/>
            </a:solidFill>
            <a:prstDash val="solid"/>
          </a:ln>
        </p:spPr>
      </p:sp>
      <p:sp>
        <p:nvSpPr>
          <p:cNvPr id="20" name="Text 18"/>
          <p:cNvSpPr/>
          <p:nvPr/>
        </p:nvSpPr>
        <p:spPr>
          <a:xfrm>
            <a:off x="457200" y="4050665"/>
            <a:ext cx="3657600" cy="619760"/>
          </a:xfrm>
          <a:prstGeom prst="rect">
            <a:avLst/>
          </a:prstGeom>
          <a:noFill/>
        </p:spPr>
        <p:txBody>
          <a:bodyPr wrap="square" lIns="0" tIns="0" rIns="0" bIns="0" rtlCol="0" anchor="ctr"/>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Key finding: Cap-weighted and equal-weighted indices track closely, suggesting no single mega-cap dominates sector sentiment. IT diverges slightly at Q1 2024 peak (NVDA effect).</a:t>
            </a:r>
            <a:endParaRPr lang="en-US" sz="1100" dirty="0"/>
          </a:p>
        </p:txBody>
      </p:sp>
      <p:pic>
        <p:nvPicPr>
          <p:cNvPr id="21" name="Image 0" descr="preencoded.png"/>
          <p:cNvPicPr>
            <a:picLocks noChangeAspect="1"/>
          </p:cNvPicPr>
          <p:nvPr/>
        </p:nvPicPr>
        <p:blipFill>
          <a:blip r:embed="rId1"/>
          <a:stretch>
            <a:fillRect/>
          </a:stretch>
        </p:blipFill>
        <p:spPr>
          <a:xfrm>
            <a:off x="4434840" y="804672"/>
            <a:ext cx="4434840" cy="2788920"/>
          </a:xfrm>
          <a:prstGeom prst="rect">
            <a:avLst/>
          </a:prstGeom>
        </p:spPr>
      </p:pic>
      <p:sp>
        <p:nvSpPr>
          <p:cNvPr id="22" name="Text 19"/>
          <p:cNvSpPr/>
          <p:nvPr/>
        </p:nvSpPr>
        <p:spPr>
          <a:xfrm>
            <a:off x="4434840" y="3621024"/>
            <a:ext cx="4434840" cy="22860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3 · Cap-weighted vs Equal-weighted (FinBERT)</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0"/>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Weighting formula: Σ(score_i × mcap_i) / Σ mcap_i  ·  Market cap sourced from Bloomberg at quarter-end</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圆角矩形 35"/>
          <p:cNvSpPr/>
          <p:nvPr/>
        </p:nvSpPr>
        <p:spPr>
          <a:xfrm>
            <a:off x="4493895" y="3786505"/>
            <a:ext cx="410210" cy="490855"/>
          </a:xfrm>
          <a:prstGeom prst="roundRect">
            <a:avLst/>
          </a:prstGeom>
          <a:solidFill>
            <a:srgbClr val="C8692A"/>
          </a:solidFill>
          <a:ln>
            <a:solidFill>
              <a:srgbClr val="C8692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Text 22"/>
          <p:cNvSpPr/>
          <p:nvPr/>
        </p:nvSpPr>
        <p:spPr>
          <a:xfrm>
            <a:off x="4493895" y="3776345"/>
            <a:ext cx="410845" cy="27432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Code </a:t>
            </a:r>
            <a:endPar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sym typeface="+mn-ea"/>
            </a:endParaRPr>
          </a:p>
        </p:txBody>
      </p:sp>
      <p:sp>
        <p:nvSpPr>
          <p:cNvPr id="38" name="圆角矩形 37"/>
          <p:cNvSpPr/>
          <p:nvPr/>
        </p:nvSpPr>
        <p:spPr>
          <a:xfrm>
            <a:off x="4493895" y="4050665"/>
            <a:ext cx="3866515" cy="619760"/>
          </a:xfrm>
          <a:prstGeom prst="roundRect">
            <a:avLst>
              <a:gd name="adj" fmla="val 10708"/>
            </a:avLst>
          </a:prstGeom>
          <a:solidFill>
            <a:srgbClr val="EDE5DC"/>
          </a:solidFill>
          <a:ln>
            <a:solidFill>
              <a:srgbClr val="EDE5D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sz="900">
              <a:solidFill>
                <a:srgbClr val="5C3D2E"/>
              </a:solidFill>
              <a:latin typeface="Courier New" panose="02070309020205020404"/>
              <a:sym typeface="+mn-ea"/>
            </a:endParaRPr>
          </a:p>
          <a:p>
            <a:pPr algn="l"/>
            <a:r>
              <a:rPr sz="900">
                <a:solidFill>
                  <a:srgbClr val="5C3D2E"/>
                </a:solidFill>
                <a:latin typeface="Courier New" panose="02070309020205020404"/>
                <a:sym typeface="+mn-ea"/>
              </a:rPr>
              <a:t>if mask.sum()==0: return np.nanmean(v)  # equal-wt</a:t>
            </a:r>
            <a:endParaRPr lang="en-US" altLang="en-US" sz="9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Box 29"/>
          <p:cNvSpPr txBox="1"/>
          <p:nvPr/>
        </p:nvSpPr>
        <p:spPr>
          <a:xfrm>
            <a:off x="4493895" y="4072890"/>
            <a:ext cx="3865880" cy="245110"/>
          </a:xfrm>
          <a:prstGeom prst="rect">
            <a:avLst/>
          </a:prstGeom>
          <a:noFill/>
        </p:spPr>
        <p:txBody>
          <a:bodyPr wrap="square">
            <a:spAutoFit/>
          </a:bodyPr>
          <a:lstStyle/>
          <a:p>
            <a:pPr algn="l"/>
            <a:r>
              <a:rPr lang="en-US" sz="1000" b="1">
                <a:solidFill>
                  <a:srgbClr val="8B3A1A"/>
                </a:solidFill>
                <a:latin typeface="Calibri" panose="020F0502020204030204"/>
                <a:sym typeface="+mn-ea"/>
              </a:rPr>
              <a:t> </a:t>
            </a:r>
            <a:r>
              <a:rPr sz="1000" b="1">
                <a:solidFill>
                  <a:srgbClr val="8B3A1A"/>
                </a:solidFill>
                <a:latin typeface="Calibri" panose="020F0502020204030204"/>
                <a:sym typeface="+mn-ea"/>
              </a:rPr>
              <a:t>Fallback: equal-weight when market cap unavailable</a:t>
            </a:r>
            <a:endParaRPr sz="1000" b="1">
              <a:solidFill>
                <a:srgbClr val="6B3A1A"/>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Cross-Method Validation &amp; Divergence Analysis</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22" name="组合 21"/>
          <p:cNvGrpSpPr/>
          <p:nvPr/>
        </p:nvGrpSpPr>
        <p:grpSpPr>
          <a:xfrm>
            <a:off x="320040" y="1051560"/>
            <a:ext cx="4389120" cy="2587625"/>
            <a:chOff x="504" y="1224"/>
            <a:chExt cx="6912" cy="4075"/>
          </a:xfrm>
        </p:grpSpPr>
        <p:pic>
          <p:nvPicPr>
            <p:cNvPr id="5" name="Image 0" descr="preencoded.png"/>
            <p:cNvPicPr>
              <a:picLocks noChangeAspect="1"/>
            </p:cNvPicPr>
            <p:nvPr/>
          </p:nvPicPr>
          <p:blipFill>
            <a:blip r:embed="rId1"/>
            <a:stretch>
              <a:fillRect/>
            </a:stretch>
          </p:blipFill>
          <p:spPr>
            <a:xfrm>
              <a:off x="504" y="1224"/>
              <a:ext cx="6912" cy="3672"/>
            </a:xfrm>
            <a:prstGeom prst="rect">
              <a:avLst/>
            </a:prstGeom>
          </p:spPr>
        </p:pic>
        <p:sp>
          <p:nvSpPr>
            <p:cNvPr id="6" name="Text 3"/>
            <p:cNvSpPr/>
            <p:nvPr/>
          </p:nvSpPr>
          <p:spPr>
            <a:xfrm>
              <a:off x="504" y="4939"/>
              <a:ext cx="6912" cy="36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7 · Cross-method correlation matrix (LM · FinBERT · GPT)</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7" name="Text 4"/>
          <p:cNvSpPr/>
          <p:nvPr/>
        </p:nvSpPr>
        <p:spPr>
          <a:xfrm>
            <a:off x="4892040" y="777367"/>
            <a:ext cx="3931920" cy="274320"/>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Observations</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21" name="组合 20"/>
          <p:cNvGrpSpPr/>
          <p:nvPr>
            <p:custDataLst>
              <p:tags r:id="rId2"/>
            </p:custDataLst>
          </p:nvPr>
        </p:nvGrpSpPr>
        <p:grpSpPr>
          <a:xfrm>
            <a:off x="4892040" y="1051560"/>
            <a:ext cx="3931920" cy="2665730"/>
            <a:chOff x="7704" y="1699"/>
            <a:chExt cx="6192" cy="4198"/>
          </a:xfrm>
        </p:grpSpPr>
        <p:sp>
          <p:nvSpPr>
            <p:cNvPr id="8" name="Shape 5"/>
            <p:cNvSpPr/>
            <p:nvPr>
              <p:custDataLst>
                <p:tags r:id="rId3"/>
              </p:custDataLst>
            </p:nvPr>
          </p:nvSpPr>
          <p:spPr>
            <a:xfrm>
              <a:off x="7704" y="1699"/>
              <a:ext cx="72" cy="893"/>
            </a:xfrm>
            <a:prstGeom prst="rect">
              <a:avLst/>
            </a:prstGeom>
            <a:solidFill>
              <a:srgbClr val="C8692A"/>
            </a:solidFill>
            <a:ln w="12700">
              <a:solidFill>
                <a:srgbClr val="C8692A"/>
              </a:solidFill>
              <a:prstDash val="solid"/>
            </a:ln>
          </p:spPr>
        </p:sp>
        <p:sp>
          <p:nvSpPr>
            <p:cNvPr id="9" name="Text 6"/>
            <p:cNvSpPr/>
            <p:nvPr>
              <p:custDataLst>
                <p:tags r:id="rId4"/>
              </p:custDataLst>
            </p:nvPr>
          </p:nvSpPr>
          <p:spPr>
            <a:xfrm>
              <a:off x="7920" y="1699"/>
              <a:ext cx="5976" cy="360"/>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Moderate agreement (r ≈ 0.54–0.68)</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7"/>
            <p:cNvSpPr/>
            <p:nvPr>
              <p:custDataLst>
                <p:tags r:id="rId5"/>
              </p:custDataLst>
            </p:nvPr>
          </p:nvSpPr>
          <p:spPr>
            <a:xfrm>
              <a:off x="7920" y="2045"/>
              <a:ext cx="5976" cy="547"/>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All methods agree on directional trend; moderate correlation confirms overlapping but non-identical signals.</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8"/>
            <p:cNvSpPr/>
            <p:nvPr>
              <p:custDataLst>
                <p:tags r:id="rId6"/>
              </p:custDataLst>
            </p:nvPr>
          </p:nvSpPr>
          <p:spPr>
            <a:xfrm>
              <a:off x="7704" y="2801"/>
              <a:ext cx="72" cy="893"/>
            </a:xfrm>
            <a:prstGeom prst="rect">
              <a:avLst/>
            </a:prstGeom>
            <a:solidFill>
              <a:srgbClr val="8B3A1A"/>
            </a:solidFill>
            <a:ln w="12700">
              <a:solidFill>
                <a:srgbClr val="8B3A1A"/>
              </a:solidFill>
              <a:prstDash val="solid"/>
            </a:ln>
          </p:spPr>
        </p:sp>
        <p:sp>
          <p:nvSpPr>
            <p:cNvPr id="12" name="Text 9"/>
            <p:cNvSpPr/>
            <p:nvPr>
              <p:custDataLst>
                <p:tags r:id="rId7"/>
              </p:custDataLst>
            </p:nvPr>
          </p:nvSpPr>
          <p:spPr>
            <a:xfrm>
              <a:off x="7920" y="2801"/>
              <a:ext cx="5976" cy="360"/>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LM lowest correlation</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0"/>
            <p:cNvSpPr/>
            <p:nvPr>
              <p:custDataLst>
                <p:tags r:id="rId8"/>
              </p:custDataLst>
            </p:nvPr>
          </p:nvSpPr>
          <p:spPr>
            <a:xfrm>
              <a:off x="7920" y="3146"/>
              <a:ext cx="5976" cy="547"/>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LM is word-frequency driven; misses contextual negations that FinBERT and GPT handle, lowering cross-method r.</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1"/>
            <p:cNvSpPr/>
            <p:nvPr>
              <p:custDataLst>
                <p:tags r:id="rId9"/>
              </p:custDataLst>
            </p:nvPr>
          </p:nvSpPr>
          <p:spPr>
            <a:xfrm>
              <a:off x="7704" y="3903"/>
              <a:ext cx="72" cy="893"/>
            </a:xfrm>
            <a:prstGeom prst="rect">
              <a:avLst/>
            </a:prstGeom>
            <a:solidFill>
              <a:srgbClr val="C8692A"/>
            </a:solidFill>
            <a:ln w="12700">
              <a:solidFill>
                <a:srgbClr val="C8692A"/>
              </a:solidFill>
              <a:prstDash val="solid"/>
            </a:ln>
          </p:spPr>
        </p:sp>
        <p:sp>
          <p:nvSpPr>
            <p:cNvPr id="15" name="Text 12"/>
            <p:cNvSpPr/>
            <p:nvPr>
              <p:custDataLst>
                <p:tags r:id="rId10"/>
              </p:custDataLst>
            </p:nvPr>
          </p:nvSpPr>
          <p:spPr>
            <a:xfrm>
              <a:off x="7920" y="3903"/>
              <a:ext cx="5976" cy="360"/>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Q2 2024 IT divergence</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custDataLst>
                <p:tags r:id="rId11"/>
              </p:custDataLst>
            </p:nvPr>
          </p:nvSpPr>
          <p:spPr>
            <a:xfrm>
              <a:off x="7920" y="4248"/>
              <a:ext cx="5976" cy="547"/>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LM uptick vs FinBERT dip — AI regulation language inflated LM positive word count without conveying genuine optimism.</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4"/>
            <p:cNvSpPr/>
            <p:nvPr>
              <p:custDataLst>
                <p:tags r:id="rId12"/>
              </p:custDataLst>
            </p:nvPr>
          </p:nvSpPr>
          <p:spPr>
            <a:xfrm>
              <a:off x="7704" y="5005"/>
              <a:ext cx="72" cy="893"/>
            </a:xfrm>
            <a:prstGeom prst="rect">
              <a:avLst/>
            </a:prstGeom>
            <a:solidFill>
              <a:srgbClr val="8B3A1A"/>
            </a:solidFill>
            <a:ln w="12700">
              <a:solidFill>
                <a:srgbClr val="8B3A1A"/>
              </a:solidFill>
              <a:prstDash val="solid"/>
            </a:ln>
          </p:spPr>
        </p:sp>
        <p:sp>
          <p:nvSpPr>
            <p:cNvPr id="18" name="Text 15"/>
            <p:cNvSpPr/>
            <p:nvPr>
              <p:custDataLst>
                <p:tags r:id="rId13"/>
              </p:custDataLst>
            </p:nvPr>
          </p:nvSpPr>
          <p:spPr>
            <a:xfrm>
              <a:off x="7920" y="5005"/>
              <a:ext cx="5976" cy="360"/>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Industrials: higher consensus</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6"/>
            <p:cNvSpPr/>
            <p:nvPr>
              <p:custDataLst>
                <p:tags r:id="rId14"/>
              </p:custDataLst>
            </p:nvPr>
          </p:nvSpPr>
          <p:spPr>
            <a:xfrm>
              <a:off x="7920" y="5351"/>
              <a:ext cx="5976" cy="547"/>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FinBERT–GPT r = 0.785 vs 0.680 in IT. Plainer industrial language yields better method agreement.</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0" name="Text 17"/>
          <p:cNvSpPr/>
          <p:nvPr/>
        </p:nvSpPr>
        <p:spPr>
          <a:xfrm>
            <a:off x="320040" y="4846320"/>
            <a:ext cx="8503920" cy="228600"/>
          </a:xfrm>
          <a:prstGeom prst="rect">
            <a:avLst/>
          </a:prstGeom>
          <a:noFill/>
        </p:spPr>
        <p:txBody>
          <a:bodyPr wrap="square" lIns="0" tIns="0" rIns="0" bIns="0" rtlCol="0" anchor="ctr"/>
          <a:lstStyle/>
          <a:p>
            <a:pPr marL="0" indent="0">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Conclusion: Complementary methods — consensus adds robustness; divergence is analytically informative, not noise.</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Main Results: Sector Sentiment Time Series</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11" name="组合 10"/>
          <p:cNvGrpSpPr/>
          <p:nvPr/>
        </p:nvGrpSpPr>
        <p:grpSpPr>
          <a:xfrm>
            <a:off x="320040" y="1171575"/>
            <a:ext cx="5303520" cy="2496185"/>
            <a:chOff x="504" y="1224"/>
            <a:chExt cx="8352" cy="3931"/>
          </a:xfrm>
        </p:grpSpPr>
        <p:pic>
          <p:nvPicPr>
            <p:cNvPr id="5" name="Image 0" descr="preencoded.png"/>
            <p:cNvPicPr>
              <a:picLocks noChangeAspect="1"/>
            </p:cNvPicPr>
            <p:nvPr/>
          </p:nvPicPr>
          <p:blipFill>
            <a:blip r:embed="rId1"/>
            <a:stretch>
              <a:fillRect/>
            </a:stretch>
          </p:blipFill>
          <p:spPr>
            <a:xfrm>
              <a:off x="504" y="1224"/>
              <a:ext cx="8352" cy="3528"/>
            </a:xfrm>
            <a:prstGeom prst="rect">
              <a:avLst/>
            </a:prstGeom>
          </p:spPr>
        </p:pic>
        <p:sp>
          <p:nvSpPr>
            <p:cNvPr id="6" name="Text 3"/>
            <p:cNvSpPr/>
            <p:nvPr/>
          </p:nvSpPr>
          <p:spPr>
            <a:xfrm>
              <a:off x="504" y="4795"/>
              <a:ext cx="8352" cy="36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1 · Three-method forward-looking sentiment: IT vs Industrials (Q4 2023 – Q3 2024)</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7" name="Text 4"/>
          <p:cNvSpPr/>
          <p:nvPr/>
        </p:nvSpPr>
        <p:spPr>
          <a:xfrm>
            <a:off x="5806440" y="804672"/>
            <a:ext cx="3017520" cy="256032"/>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Macro Event Timeline</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41" name="组合 40"/>
          <p:cNvGrpSpPr/>
          <p:nvPr/>
        </p:nvGrpSpPr>
        <p:grpSpPr>
          <a:xfrm>
            <a:off x="5806440" y="1170305"/>
            <a:ext cx="3026410" cy="523240"/>
            <a:chOff x="9144" y="1843"/>
            <a:chExt cx="4766" cy="824"/>
          </a:xfrm>
        </p:grpSpPr>
        <p:grpSp>
          <p:nvGrpSpPr>
            <p:cNvPr id="26" name="组合 25"/>
            <p:cNvGrpSpPr/>
            <p:nvPr>
              <p:custDataLst>
                <p:tags r:id="rId2"/>
              </p:custDataLst>
            </p:nvPr>
          </p:nvGrpSpPr>
          <p:grpSpPr>
            <a:xfrm rot="0">
              <a:off x="9144" y="1843"/>
              <a:ext cx="892" cy="824"/>
              <a:chOff x="9144" y="1843"/>
              <a:chExt cx="892" cy="824"/>
            </a:xfrm>
          </p:grpSpPr>
          <p:sp>
            <p:nvSpPr>
              <p:cNvPr id="8" name="Shape 5"/>
              <p:cNvSpPr/>
              <p:nvPr>
                <p:custDataLst>
                  <p:tags r:id="rId3"/>
                </p:custDataLst>
              </p:nvPr>
            </p:nvSpPr>
            <p:spPr>
              <a:xfrm>
                <a:off x="9144" y="1843"/>
                <a:ext cx="893" cy="824"/>
              </a:xfrm>
              <a:prstGeom prst="rect">
                <a:avLst/>
              </a:prstGeom>
              <a:solidFill>
                <a:srgbClr val="E09B5A"/>
              </a:solidFill>
              <a:ln w="12700">
                <a:solidFill>
                  <a:srgbClr val="E09B5A"/>
                </a:solidFill>
                <a:prstDash val="solid"/>
              </a:ln>
            </p:spPr>
          </p:sp>
          <p:sp>
            <p:nvSpPr>
              <p:cNvPr id="9" name="Text 6"/>
              <p:cNvSpPr/>
              <p:nvPr>
                <p:custDataLst>
                  <p:tags r:id="rId4"/>
                </p:custDataLst>
              </p:nvPr>
            </p:nvSpPr>
            <p:spPr>
              <a:xfrm>
                <a:off x="9144" y="1845"/>
                <a:ext cx="893" cy="821"/>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Q4 2023</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0" name="Text 7"/>
            <p:cNvSpPr/>
            <p:nvPr>
              <p:custDataLst>
                <p:tags r:id="rId5"/>
              </p:custDataLst>
            </p:nvPr>
          </p:nvSpPr>
          <p:spPr>
            <a:xfrm>
              <a:off x="10166" y="1843"/>
              <a:ext cx="3744" cy="819"/>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AI capex surge; NVDA &amp; hyperscalers drive IT optimism. Industrials start from higher base.</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39" name="组合 38"/>
          <p:cNvGrpSpPr/>
          <p:nvPr>
            <p:custDataLst>
              <p:tags r:id="rId6"/>
            </p:custDataLst>
          </p:nvPr>
        </p:nvGrpSpPr>
        <p:grpSpPr>
          <a:xfrm>
            <a:off x="5806440" y="1986280"/>
            <a:ext cx="3026410" cy="523240"/>
            <a:chOff x="9144" y="3139"/>
            <a:chExt cx="4766" cy="824"/>
          </a:xfrm>
        </p:grpSpPr>
        <p:sp>
          <p:nvSpPr>
            <p:cNvPr id="23" name="Shape 5"/>
            <p:cNvSpPr/>
            <p:nvPr>
              <p:custDataLst>
                <p:tags r:id="rId7"/>
              </p:custDataLst>
            </p:nvPr>
          </p:nvSpPr>
          <p:spPr>
            <a:xfrm>
              <a:off x="9144" y="3139"/>
              <a:ext cx="893" cy="824"/>
            </a:xfrm>
            <a:prstGeom prst="rect">
              <a:avLst/>
            </a:prstGeom>
            <a:solidFill>
              <a:srgbClr val="C8692A"/>
            </a:solidFill>
            <a:ln w="12700">
              <a:solidFill>
                <a:srgbClr val="C8692A"/>
              </a:solidFill>
              <a:prstDash val="solid"/>
            </a:ln>
          </p:spPr>
        </p:sp>
        <p:sp>
          <p:nvSpPr>
            <p:cNvPr id="12" name="Text 9"/>
            <p:cNvSpPr/>
            <p:nvPr>
              <p:custDataLst>
                <p:tags r:id="rId8"/>
              </p:custDataLst>
            </p:nvPr>
          </p:nvSpPr>
          <p:spPr>
            <a:xfrm>
              <a:off x="9144" y="3139"/>
              <a:ext cx="893" cy="819"/>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Q1 2024</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0"/>
            <p:cNvSpPr/>
            <p:nvPr>
              <p:custDataLst>
                <p:tags r:id="rId9"/>
              </p:custDataLst>
            </p:nvPr>
          </p:nvSpPr>
          <p:spPr>
            <a:xfrm>
              <a:off x="10166" y="3139"/>
              <a:ext cx="3744" cy="823"/>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NVDA earnings beat; IT sentiment peaks (all 3 methods). Industrials stable — Fed uncertainty.</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37" name="组合 36"/>
          <p:cNvGrpSpPr/>
          <p:nvPr/>
        </p:nvGrpSpPr>
        <p:grpSpPr>
          <a:xfrm>
            <a:off x="5806440" y="3625850"/>
            <a:ext cx="3026410" cy="530225"/>
            <a:chOff x="9144" y="5711"/>
            <a:chExt cx="4766" cy="835"/>
          </a:xfrm>
        </p:grpSpPr>
        <p:sp>
          <p:nvSpPr>
            <p:cNvPr id="17" name="Shape 14"/>
            <p:cNvSpPr/>
            <p:nvPr>
              <p:custDataLst>
                <p:tags r:id="rId10"/>
              </p:custDataLst>
            </p:nvPr>
          </p:nvSpPr>
          <p:spPr>
            <a:xfrm>
              <a:off x="9144" y="5711"/>
              <a:ext cx="893" cy="827"/>
            </a:xfrm>
            <a:prstGeom prst="rect">
              <a:avLst/>
            </a:prstGeom>
            <a:solidFill>
              <a:srgbClr val="7B5030"/>
            </a:solidFill>
            <a:ln w="12700">
              <a:solidFill>
                <a:srgbClr val="7B5030"/>
              </a:solidFill>
              <a:prstDash val="solid"/>
            </a:ln>
          </p:spPr>
        </p:sp>
        <p:sp>
          <p:nvSpPr>
            <p:cNvPr id="18" name="Text 15"/>
            <p:cNvSpPr/>
            <p:nvPr>
              <p:custDataLst>
                <p:tags r:id="rId11"/>
              </p:custDataLst>
            </p:nvPr>
          </p:nvSpPr>
          <p:spPr>
            <a:xfrm>
              <a:off x="9144" y="5712"/>
              <a:ext cx="893" cy="83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Q3 2024</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6"/>
            <p:cNvSpPr/>
            <p:nvPr>
              <p:custDataLst>
                <p:tags r:id="rId12"/>
              </p:custDataLst>
            </p:nvPr>
          </p:nvSpPr>
          <p:spPr>
            <a:xfrm>
              <a:off x="10166" y="5865"/>
              <a:ext cx="3744" cy="529"/>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Fed pivot signals; IT GPT &amp; FinBERT rebound. Industrials edge down.</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14" name="组合 13"/>
          <p:cNvGrpSpPr/>
          <p:nvPr/>
        </p:nvGrpSpPr>
        <p:grpSpPr>
          <a:xfrm>
            <a:off x="320040" y="4377055"/>
            <a:ext cx="8503920" cy="320040"/>
            <a:chOff x="504" y="7157"/>
            <a:chExt cx="13392" cy="504"/>
          </a:xfrm>
        </p:grpSpPr>
        <p:sp>
          <p:nvSpPr>
            <p:cNvPr id="20" name="Shape 17"/>
            <p:cNvSpPr/>
            <p:nvPr/>
          </p:nvSpPr>
          <p:spPr>
            <a:xfrm>
              <a:off x="504" y="7157"/>
              <a:ext cx="13392" cy="504"/>
            </a:xfrm>
            <a:prstGeom prst="rect">
              <a:avLst/>
            </a:prstGeom>
            <a:solidFill>
              <a:srgbClr val="F5EDE0"/>
            </a:solidFill>
            <a:ln w="9525">
              <a:solidFill>
                <a:srgbClr val="E09B5A"/>
              </a:solidFill>
              <a:prstDash val="solid"/>
            </a:ln>
          </p:spPr>
        </p:sp>
        <p:sp>
          <p:nvSpPr>
            <p:cNvPr id="21" name="Text 18"/>
            <p:cNvSpPr/>
            <p:nvPr/>
          </p:nvSpPr>
          <p:spPr>
            <a:xfrm>
              <a:off x="720" y="7186"/>
              <a:ext cx="12960" cy="432"/>
            </a:xfrm>
            <a:prstGeom prst="rect">
              <a:avLst/>
            </a:prstGeom>
            <a:noFill/>
          </p:spPr>
          <p:txBody>
            <a:bodyPr wrap="square" lIns="0" tIns="0" rIns="0" bIns="0" rtlCol="0" anchor="ctr"/>
            <a:lstStyle/>
            <a:p>
              <a:pPr marL="0" indent="0">
                <a:buNone/>
              </a:pPr>
              <a:r>
                <a:rPr lang="en-US" sz="1000" dirty="0">
                  <a:solidFill>
                    <a:srgbClr val="5C3D2E"/>
                  </a:solidFill>
                  <a:latin typeface="Calibri" panose="020F0502020204030204" pitchFamily="34" charset="0"/>
                  <a:ea typeface="Calibri" panose="020F0502020204030204" pitchFamily="34" charset="-122"/>
                  <a:cs typeface="Calibri" panose="020F0502020204030204" pitchFamily="34" charset="-120"/>
                </a:rPr>
                <a:t>Key: IT sentiment more volatile and macro-reactive; Industrials more stable. Both sectors show positive forward-looking sentiment throughout 2024.</a:t>
              </a:r>
              <a:endParaRPr lang="en-US" sz="10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2" name="Text 19"/>
          <p:cNvSpPr/>
          <p:nvPr/>
        </p:nvSpPr>
        <p:spPr>
          <a:xfrm>
            <a:off x="320040" y="4873752"/>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No statistical tests required per project spec  ·  Findings based on visual inspection of quarterly indices</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8" name="组合 37"/>
          <p:cNvGrpSpPr/>
          <p:nvPr>
            <p:custDataLst>
              <p:tags r:id="rId13"/>
            </p:custDataLst>
          </p:nvPr>
        </p:nvGrpSpPr>
        <p:grpSpPr>
          <a:xfrm>
            <a:off x="5806440" y="2802255"/>
            <a:ext cx="3026410" cy="530860"/>
            <a:chOff x="9144" y="4435"/>
            <a:chExt cx="4766" cy="836"/>
          </a:xfrm>
        </p:grpSpPr>
        <p:sp>
          <p:nvSpPr>
            <p:cNvPr id="15" name="Text 12"/>
            <p:cNvSpPr/>
            <p:nvPr/>
          </p:nvSpPr>
          <p:spPr>
            <a:xfrm>
              <a:off x="9144" y="4435"/>
              <a:ext cx="893" cy="658"/>
            </a:xfrm>
            <a:prstGeom prst="rect">
              <a:avLst/>
            </a:prstGeom>
            <a:noFill/>
          </p:spPr>
          <p:txBody>
            <a:bodyPr wrap="square" lIns="0" tIns="0" rIns="0" bIns="0" rtlCol="0" anchor="ctr"/>
            <a:lstStyle/>
            <a:p>
              <a:pPr marL="0" indent="0" algn="ctr">
                <a:buNone/>
              </a:pP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custDataLst>
                <p:tags r:id="rId14"/>
              </p:custDataLst>
            </p:nvPr>
          </p:nvSpPr>
          <p:spPr>
            <a:xfrm>
              <a:off x="10166" y="4435"/>
              <a:ext cx="3744" cy="825"/>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AI regulation discussions; LM inflated vs FinBERT dip (divergence). Industrials hold steady.</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6" name="组合 35"/>
            <p:cNvGrpSpPr/>
            <p:nvPr/>
          </p:nvGrpSpPr>
          <p:grpSpPr>
            <a:xfrm>
              <a:off x="9144" y="4435"/>
              <a:ext cx="892" cy="836"/>
              <a:chOff x="9144" y="4453"/>
              <a:chExt cx="892" cy="836"/>
            </a:xfrm>
          </p:grpSpPr>
          <p:sp>
            <p:nvSpPr>
              <p:cNvPr id="24" name="Text 9"/>
              <p:cNvSpPr/>
              <p:nvPr>
                <p:custDataLst>
                  <p:tags r:id="rId15"/>
                </p:custDataLst>
              </p:nvPr>
            </p:nvSpPr>
            <p:spPr>
              <a:xfrm>
                <a:off x="9144" y="4471"/>
                <a:ext cx="893" cy="819"/>
              </a:xfrm>
              <a:prstGeom prst="rect">
                <a:avLst/>
              </a:prstGeom>
              <a:noFill/>
            </p:spPr>
            <p:txBody>
              <a:bodyPr wrap="square" lIns="0" tIns="0" rIns="0" bIns="0" rtlCol="0" anchor="ctr"/>
              <a:lstStyle/>
              <a:p>
                <a:pPr marL="0" indent="0" algn="ctr">
                  <a:buNone/>
                </a:pP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5"/>
              <p:cNvSpPr/>
              <p:nvPr>
                <p:custDataLst>
                  <p:tags r:id="rId16"/>
                </p:custDataLst>
              </p:nvPr>
            </p:nvSpPr>
            <p:spPr>
              <a:xfrm>
                <a:off x="9144" y="4453"/>
                <a:ext cx="893" cy="824"/>
              </a:xfrm>
              <a:prstGeom prst="rect">
                <a:avLst/>
              </a:prstGeom>
              <a:solidFill>
                <a:srgbClr val="8B3A1A"/>
              </a:solidFill>
              <a:ln w="12700">
                <a:solidFill>
                  <a:srgbClr val="8B3A1A"/>
                </a:solidFill>
                <a:prstDash val="solid"/>
              </a:ln>
            </p:spPr>
          </p:sp>
          <p:sp>
            <p:nvSpPr>
              <p:cNvPr id="29" name="Text 6"/>
              <p:cNvSpPr/>
              <p:nvPr>
                <p:custDataLst>
                  <p:tags r:id="rId17"/>
                </p:custDataLst>
              </p:nvPr>
            </p:nvSpPr>
            <p:spPr>
              <a:xfrm>
                <a:off x="9144" y="4453"/>
                <a:ext cx="893" cy="821"/>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Q2 2024</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Sentiment Indicator vs Sector ETF Price</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21" name="组合 20"/>
          <p:cNvGrpSpPr/>
          <p:nvPr/>
        </p:nvGrpSpPr>
        <p:grpSpPr>
          <a:xfrm>
            <a:off x="1314768" y="749935"/>
            <a:ext cx="6461760" cy="2628900"/>
            <a:chOff x="503" y="1181"/>
            <a:chExt cx="10176" cy="4140"/>
          </a:xfrm>
        </p:grpSpPr>
        <p:pic>
          <p:nvPicPr>
            <p:cNvPr id="5" name="Image 0" descr="preencoded.png"/>
            <p:cNvPicPr/>
            <p:nvPr/>
          </p:nvPicPr>
          <p:blipFill>
            <a:blip r:embed="rId1"/>
            <a:stretch>
              <a:fillRect/>
            </a:stretch>
          </p:blipFill>
          <p:spPr>
            <a:xfrm>
              <a:off x="584" y="1181"/>
              <a:ext cx="10095" cy="3780"/>
            </a:xfrm>
            <a:prstGeom prst="rect">
              <a:avLst/>
            </a:prstGeom>
          </p:spPr>
        </p:pic>
        <p:sp>
          <p:nvSpPr>
            <p:cNvPr id="6" name="Text 3"/>
            <p:cNvSpPr/>
            <p:nvPr/>
          </p:nvSpPr>
          <p:spPr>
            <a:xfrm>
              <a:off x="503" y="4961"/>
              <a:ext cx="10095" cy="36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2 · Normalised FinBERT sentiment vs XLK (IT) and XLI (Industrials) ETF prices</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14" name="组合 13"/>
          <p:cNvGrpSpPr/>
          <p:nvPr>
            <p:custDataLst>
              <p:tags r:id="rId2"/>
            </p:custDataLst>
          </p:nvPr>
        </p:nvGrpSpPr>
        <p:grpSpPr>
          <a:xfrm>
            <a:off x="320040" y="3378835"/>
            <a:ext cx="3953510" cy="1417320"/>
            <a:chOff x="10584" y="1516"/>
            <a:chExt cx="3494" cy="2232"/>
          </a:xfrm>
        </p:grpSpPr>
        <p:sp>
          <p:nvSpPr>
            <p:cNvPr id="7" name="Shape 4"/>
            <p:cNvSpPr/>
            <p:nvPr>
              <p:custDataLst>
                <p:tags r:id="rId3"/>
              </p:custDataLst>
            </p:nvPr>
          </p:nvSpPr>
          <p:spPr>
            <a:xfrm>
              <a:off x="10584" y="1516"/>
              <a:ext cx="3494" cy="2232"/>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8" name="Text 5"/>
            <p:cNvSpPr/>
            <p:nvPr>
              <p:custDataLst>
                <p:tags r:id="rId4"/>
              </p:custDataLst>
            </p:nvPr>
          </p:nvSpPr>
          <p:spPr>
            <a:xfrm>
              <a:off x="10757" y="1660"/>
              <a:ext cx="2966" cy="403"/>
            </a:xfrm>
            <a:prstGeom prst="rect">
              <a:avLst/>
            </a:prstGeom>
            <a:noFill/>
          </p:spPr>
          <p:txBody>
            <a:bodyPr wrap="square" lIns="0" tIns="0" rIns="0" bIns="0" rtlCol="0" anchor="ctr"/>
            <a:lstStyle/>
            <a:p>
              <a:pPr marL="0" indent="0">
                <a:buNone/>
              </a:pPr>
              <a:r>
                <a:rPr lang="en-US" sz="1400" b="1" dirty="0">
                  <a:solidFill>
                    <a:srgbClr val="C8692A"/>
                  </a:solidFill>
                  <a:latin typeface="Calibri" panose="020F0502020204030204" pitchFamily="34" charset="0"/>
                  <a:ea typeface="Calibri" panose="020F0502020204030204" pitchFamily="34" charset="-122"/>
                  <a:cs typeface="Calibri" panose="020F0502020204030204" pitchFamily="34" charset="-120"/>
                </a:rPr>
                <a:t>IT (XLK): Alignment ✓</a:t>
              </a:r>
              <a:endParaRPr lang="en-US" sz="14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6"/>
            <p:cNvSpPr/>
            <p:nvPr>
              <p:custDataLst>
                <p:tags r:id="rId5"/>
              </p:custDataLst>
            </p:nvPr>
          </p:nvSpPr>
          <p:spPr>
            <a:xfrm>
              <a:off x="10757" y="2242"/>
              <a:ext cx="3213" cy="1506"/>
            </a:xfrm>
            <a:prstGeom prst="rect">
              <a:avLst/>
            </a:prstGeom>
            <a:noFill/>
          </p:spPr>
          <p:txBody>
            <a:bodyPr wrap="square" lIns="0" tIns="0" rIns="0" bIns="0" rtlCol="0" anchor="t"/>
            <a:lstStyle/>
            <a:p>
              <a:pPr marL="0" indent="0">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IT sentiment and XLK broadly co-move. Both rise to a joint peak in Q1 2024 coinciding with NVDA's earnings beat, pull back together in Q2 2024 amid AI regulation discussions, then converge again at the normalised high in Q3 2024.</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15" name="组合 14"/>
          <p:cNvGrpSpPr/>
          <p:nvPr>
            <p:custDataLst>
              <p:tags r:id="rId6"/>
            </p:custDataLst>
          </p:nvPr>
        </p:nvGrpSpPr>
        <p:grpSpPr>
          <a:xfrm>
            <a:off x="4422140" y="3378835"/>
            <a:ext cx="4079875" cy="1417320"/>
            <a:chOff x="10584" y="3921"/>
            <a:chExt cx="3545" cy="2232"/>
          </a:xfrm>
        </p:grpSpPr>
        <p:sp>
          <p:nvSpPr>
            <p:cNvPr id="10" name="Shape 7"/>
            <p:cNvSpPr/>
            <p:nvPr>
              <p:custDataLst>
                <p:tags r:id="rId7"/>
              </p:custDataLst>
            </p:nvPr>
          </p:nvSpPr>
          <p:spPr>
            <a:xfrm>
              <a:off x="10584" y="3921"/>
              <a:ext cx="3545" cy="2232"/>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11" name="Text 8"/>
            <p:cNvSpPr/>
            <p:nvPr>
              <p:custDataLst>
                <p:tags r:id="rId8"/>
              </p:custDataLst>
            </p:nvPr>
          </p:nvSpPr>
          <p:spPr>
            <a:xfrm>
              <a:off x="10757" y="4065"/>
              <a:ext cx="2966" cy="403"/>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Industrials (XLI): Divergence </a:t>
              </a:r>
              <a:r>
                <a:rPr lang="zh-CN" altLang="en-US" sz="1400" b="1" dirty="0">
                  <a:solidFill>
                    <a:srgbClr val="8B3A1A"/>
                  </a:solidFill>
                  <a:latin typeface="Calibri" panose="020F0502020204030204" pitchFamily="34" charset="0"/>
                  <a:ea typeface="宋体" panose="02010600030101010101" pitchFamily="2" charset="-122"/>
                  <a:cs typeface="Calibri" panose="020F0502020204030204" pitchFamily="34" charset="-120"/>
                </a:rPr>
                <a:t>⚠</a:t>
              </a:r>
              <a:endParaRPr lang="zh-CN" altLang="en-US" sz="1400" b="1" dirty="0">
                <a:solidFill>
                  <a:srgbClr val="8B3A1A"/>
                </a:solidFill>
                <a:latin typeface="Calibri" panose="020F0502020204030204" pitchFamily="34" charset="0"/>
                <a:ea typeface="宋体" panose="02010600030101010101" pitchFamily="2" charset="-122"/>
                <a:cs typeface="Calibri" panose="020F0502020204030204" pitchFamily="34" charset="-120"/>
              </a:endParaRPr>
            </a:p>
          </p:txBody>
        </p:sp>
        <p:sp>
          <p:nvSpPr>
            <p:cNvPr id="12" name="Text 9"/>
            <p:cNvSpPr/>
            <p:nvPr>
              <p:custDataLst>
                <p:tags r:id="rId9"/>
              </p:custDataLst>
            </p:nvPr>
          </p:nvSpPr>
          <p:spPr>
            <a:xfrm>
              <a:off x="10757" y="4635"/>
              <a:ext cx="3232" cy="1501"/>
            </a:xfrm>
            <a:prstGeom prst="rect">
              <a:avLst/>
            </a:prstGeom>
            <a:noFill/>
          </p:spPr>
          <p:txBody>
            <a:bodyPr wrap="square" lIns="0" tIns="0" rIns="0" bIns="0" rtlCol="0" anchor="t"/>
            <a:lstStyle/>
            <a:p>
              <a:pPr marL="0" indent="0">
                <a:buNone/>
              </a:pPr>
              <a:r>
                <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Industrials sentiment peaks in Q2 2024 then drops sharply in Q3 2024 as earnings tone turns cautious on softening demand. XLI price keeps climbing on Fed rate-cut expectations. The two series move in opposite directions, a classic macro vs micro disconnect.</a:t>
              </a:r>
              <a:endParaRPr lang="en-US" altLang="zh-CN"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13" name="Text 10"/>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Both series normalised to [0,1]  ·  Correlation shown for visual observation only — no causal claim made  ·  ETF price: Yahoo Finance</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cxnSp>
        <p:nvCxnSpPr>
          <p:cNvPr id="17" name="直接连接符 16"/>
          <p:cNvCxnSpPr/>
          <p:nvPr>
            <p:custDataLst>
              <p:tags r:id="rId10"/>
            </p:custDataLst>
          </p:nvPr>
        </p:nvCxnSpPr>
        <p:spPr>
          <a:xfrm>
            <a:off x="431165" y="3779520"/>
            <a:ext cx="3681095"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1"/>
            </p:custDataLst>
          </p:nvPr>
        </p:nvCxnSpPr>
        <p:spPr>
          <a:xfrm>
            <a:off x="4554855" y="3779520"/>
            <a:ext cx="3793490" cy="0"/>
          </a:xfrm>
          <a:prstGeom prst="line">
            <a:avLst/>
          </a:prstGeom>
          <a:ln>
            <a:solidFill>
              <a:srgbClr val="8B3A1A"/>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Sub-Sector Breakdown: Sentiment Heatmap</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pic>
        <p:nvPicPr>
          <p:cNvPr id="5" name="Image 0" descr="preencoded.png"/>
          <p:cNvPicPr>
            <a:picLocks noChangeAspect="1"/>
          </p:cNvPicPr>
          <p:nvPr/>
        </p:nvPicPr>
        <p:blipFill>
          <a:blip r:embed="rId1"/>
          <a:stretch>
            <a:fillRect/>
          </a:stretch>
        </p:blipFill>
        <p:spPr>
          <a:xfrm>
            <a:off x="320040" y="777240"/>
            <a:ext cx="8503920" cy="3063240"/>
          </a:xfrm>
          <a:prstGeom prst="rect">
            <a:avLst/>
          </a:prstGeom>
        </p:spPr>
      </p:pic>
      <p:sp>
        <p:nvSpPr>
          <p:cNvPr id="6" name="Text 3"/>
          <p:cNvSpPr/>
          <p:nvPr/>
        </p:nvSpPr>
        <p:spPr>
          <a:xfrm>
            <a:off x="320040" y="3867912"/>
            <a:ext cx="8503920" cy="22860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5 · Forward-looking FinBERT sentiment by sub-sector and quarter</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4"/>
          <p:cNvSpPr/>
          <p:nvPr>
            <p:custDataLst>
              <p:tags r:id="rId2"/>
            </p:custDataLst>
          </p:nvPr>
        </p:nvSpPr>
        <p:spPr>
          <a:xfrm>
            <a:off x="320040" y="4160520"/>
            <a:ext cx="2743200" cy="621792"/>
          </a:xfrm>
          <a:prstGeom prst="rect">
            <a:avLst/>
          </a:prstGeom>
          <a:solidFill>
            <a:srgbClr val="F2EDE6"/>
          </a:solidFill>
          <a:ln w="12700">
            <a:solidFill>
              <a:srgbClr val="C8692A"/>
            </a:solidFill>
            <a:prstDash val="solid"/>
          </a:ln>
        </p:spPr>
      </p:sp>
      <p:sp>
        <p:nvSpPr>
          <p:cNvPr id="8" name="Shape 5"/>
          <p:cNvSpPr/>
          <p:nvPr>
            <p:custDataLst>
              <p:tags r:id="rId3"/>
            </p:custDataLst>
          </p:nvPr>
        </p:nvSpPr>
        <p:spPr>
          <a:xfrm>
            <a:off x="320040" y="4160520"/>
            <a:ext cx="54864" cy="621792"/>
          </a:xfrm>
          <a:prstGeom prst="rect">
            <a:avLst/>
          </a:prstGeom>
          <a:solidFill>
            <a:srgbClr val="C8692A"/>
          </a:solidFill>
          <a:ln w="12700">
            <a:solidFill>
              <a:srgbClr val="C8692A"/>
            </a:solidFill>
            <a:prstDash val="solid"/>
          </a:ln>
        </p:spPr>
      </p:sp>
      <p:sp>
        <p:nvSpPr>
          <p:cNvPr id="9" name="Text 6"/>
          <p:cNvSpPr/>
          <p:nvPr>
            <p:custDataLst>
              <p:tags r:id="rId4"/>
            </p:custDataLst>
          </p:nvPr>
        </p:nvSpPr>
        <p:spPr>
          <a:xfrm>
            <a:off x="448056" y="4178808"/>
            <a:ext cx="2560320" cy="585216"/>
          </a:xfrm>
          <a:prstGeom prst="rect">
            <a:avLst/>
          </a:prstGeom>
          <a:noFill/>
        </p:spPr>
        <p:txBody>
          <a:bodyPr wrap="square" lIns="0" tIns="0" rIns="0" bIns="0" rtlCol="0" anchor="ctr"/>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Semiconductors (IT) — lowest absolute level but clear uptrend Q4→Q3, consistent with AI capex cycle</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7"/>
          <p:cNvSpPr/>
          <p:nvPr>
            <p:custDataLst>
              <p:tags r:id="rId5"/>
            </p:custDataLst>
          </p:nvPr>
        </p:nvSpPr>
        <p:spPr>
          <a:xfrm>
            <a:off x="3227832" y="4160520"/>
            <a:ext cx="2743200" cy="621792"/>
          </a:xfrm>
          <a:prstGeom prst="rect">
            <a:avLst/>
          </a:prstGeom>
          <a:solidFill>
            <a:srgbClr val="F2EDE6"/>
          </a:solidFill>
          <a:ln w="12700">
            <a:solidFill>
              <a:srgbClr val="8B3A1A"/>
            </a:solidFill>
            <a:prstDash val="solid"/>
          </a:ln>
        </p:spPr>
      </p:sp>
      <p:sp>
        <p:nvSpPr>
          <p:cNvPr id="11" name="Shape 8"/>
          <p:cNvSpPr/>
          <p:nvPr>
            <p:custDataLst>
              <p:tags r:id="rId6"/>
            </p:custDataLst>
          </p:nvPr>
        </p:nvSpPr>
        <p:spPr>
          <a:xfrm>
            <a:off x="3227832" y="4160520"/>
            <a:ext cx="54864" cy="621792"/>
          </a:xfrm>
          <a:prstGeom prst="rect">
            <a:avLst/>
          </a:prstGeom>
          <a:solidFill>
            <a:srgbClr val="8B3A1A"/>
          </a:solidFill>
          <a:ln w="12700">
            <a:solidFill>
              <a:srgbClr val="8B3A1A"/>
            </a:solidFill>
            <a:prstDash val="solid"/>
          </a:ln>
        </p:spPr>
      </p:sp>
      <p:sp>
        <p:nvSpPr>
          <p:cNvPr id="12" name="Text 9"/>
          <p:cNvSpPr/>
          <p:nvPr>
            <p:custDataLst>
              <p:tags r:id="rId7"/>
            </p:custDataLst>
          </p:nvPr>
        </p:nvSpPr>
        <p:spPr>
          <a:xfrm>
            <a:off x="3355848" y="4178808"/>
            <a:ext cx="2560320" cy="585216"/>
          </a:xfrm>
          <a:prstGeom prst="rect">
            <a:avLst/>
          </a:prstGeom>
          <a:noFill/>
        </p:spPr>
        <p:txBody>
          <a:bodyPr wrap="square" lIns="0" tIns="0" rIns="0" bIns="0" rtlCol="0" anchor="ctr"/>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Airlines (Industrials) — sharp Q2 2024 drop: fuel cost / fare pressure language dominates FL sentences</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0"/>
          <p:cNvSpPr/>
          <p:nvPr>
            <p:custDataLst>
              <p:tags r:id="rId8"/>
            </p:custDataLst>
          </p:nvPr>
        </p:nvSpPr>
        <p:spPr>
          <a:xfrm>
            <a:off x="6135624" y="4160520"/>
            <a:ext cx="2743200" cy="621792"/>
          </a:xfrm>
          <a:prstGeom prst="rect">
            <a:avLst/>
          </a:prstGeom>
          <a:solidFill>
            <a:srgbClr val="F2EDE6"/>
          </a:solidFill>
          <a:ln w="12700">
            <a:solidFill>
              <a:srgbClr val="8B6040"/>
            </a:solidFill>
            <a:prstDash val="solid"/>
          </a:ln>
        </p:spPr>
      </p:sp>
      <p:sp>
        <p:nvSpPr>
          <p:cNvPr id="14" name="Shape 11"/>
          <p:cNvSpPr/>
          <p:nvPr>
            <p:custDataLst>
              <p:tags r:id="rId9"/>
            </p:custDataLst>
          </p:nvPr>
        </p:nvSpPr>
        <p:spPr>
          <a:xfrm>
            <a:off x="6135624" y="4160520"/>
            <a:ext cx="54864" cy="621792"/>
          </a:xfrm>
          <a:prstGeom prst="rect">
            <a:avLst/>
          </a:prstGeom>
          <a:solidFill>
            <a:srgbClr val="8B6040"/>
          </a:solidFill>
          <a:ln w="12700">
            <a:solidFill>
              <a:srgbClr val="8B6040"/>
            </a:solidFill>
            <a:prstDash val="solid"/>
          </a:ln>
        </p:spPr>
      </p:sp>
      <p:sp>
        <p:nvSpPr>
          <p:cNvPr id="15" name="Text 12"/>
          <p:cNvSpPr/>
          <p:nvPr>
            <p:custDataLst>
              <p:tags r:id="rId10"/>
            </p:custDataLst>
          </p:nvPr>
        </p:nvSpPr>
        <p:spPr>
          <a:xfrm>
            <a:off x="6263640" y="4178808"/>
            <a:ext cx="2560320" cy="585216"/>
          </a:xfrm>
          <a:prstGeom prst="rect">
            <a:avLst/>
          </a:prstGeom>
          <a:noFill/>
        </p:spPr>
        <p:txBody>
          <a:bodyPr wrap="square" lIns="0" tIns="0" rIns="0" bIns="0" rtlCol="0" anchor="ctr"/>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Communication Equipment &amp; Financial Data — consistently strong positive outlook across all quarters</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GICS Level-3 sub-industry classification  ·  Colour scale: green = more positive sentiment</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Management vs Analyst Sentiment Divergence</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11" name="组合 10"/>
          <p:cNvGrpSpPr/>
          <p:nvPr/>
        </p:nvGrpSpPr>
        <p:grpSpPr>
          <a:xfrm>
            <a:off x="320040" y="1273175"/>
            <a:ext cx="5303520" cy="3044825"/>
            <a:chOff x="504" y="1224"/>
            <a:chExt cx="8352" cy="4795"/>
          </a:xfrm>
        </p:grpSpPr>
        <p:pic>
          <p:nvPicPr>
            <p:cNvPr id="5" name="Image 0" descr="preencoded.png"/>
            <p:cNvPicPr>
              <a:picLocks noChangeAspect="1"/>
            </p:cNvPicPr>
            <p:nvPr/>
          </p:nvPicPr>
          <p:blipFill>
            <a:blip r:embed="rId1"/>
            <a:stretch>
              <a:fillRect/>
            </a:stretch>
          </p:blipFill>
          <p:spPr>
            <a:xfrm>
              <a:off x="504" y="1224"/>
              <a:ext cx="8352" cy="4320"/>
            </a:xfrm>
            <a:prstGeom prst="rect">
              <a:avLst/>
            </a:prstGeom>
          </p:spPr>
        </p:pic>
        <p:sp>
          <p:nvSpPr>
            <p:cNvPr id="6" name="Text 3"/>
            <p:cNvSpPr/>
            <p:nvPr/>
          </p:nvSpPr>
          <p:spPr>
            <a:xfrm>
              <a:off x="504" y="5587"/>
              <a:ext cx="8352" cy="432"/>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4 · Divergence = management − analyst score</a:t>
              </a:r>
              <a:endParaRPr lang="en-US" sz="1000" dirty="0"/>
            </a:p>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(positive = management more bullish than analysts)</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7" name="Text 4"/>
          <p:cNvSpPr/>
          <p:nvPr/>
        </p:nvSpPr>
        <p:spPr>
          <a:xfrm>
            <a:off x="5852160" y="887222"/>
            <a:ext cx="2971800" cy="256032"/>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Key Insights</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14" name="组合 13"/>
          <p:cNvGrpSpPr/>
          <p:nvPr/>
        </p:nvGrpSpPr>
        <p:grpSpPr>
          <a:xfrm>
            <a:off x="5852160" y="1231265"/>
            <a:ext cx="2971800" cy="716280"/>
            <a:chOff x="9216" y="1910"/>
            <a:chExt cx="4680" cy="1128"/>
          </a:xfrm>
        </p:grpSpPr>
        <p:sp>
          <p:nvSpPr>
            <p:cNvPr id="8" name="Shape 5"/>
            <p:cNvSpPr/>
            <p:nvPr>
              <p:custDataLst>
                <p:tags r:id="rId2"/>
              </p:custDataLst>
            </p:nvPr>
          </p:nvSpPr>
          <p:spPr>
            <a:xfrm>
              <a:off x="9216" y="1976"/>
              <a:ext cx="120" cy="1063"/>
            </a:xfrm>
            <a:prstGeom prst="rect">
              <a:avLst/>
            </a:prstGeom>
            <a:solidFill>
              <a:srgbClr val="C8692A"/>
            </a:solidFill>
            <a:ln w="9525">
              <a:solidFill>
                <a:srgbClr val="C8692A"/>
              </a:solidFill>
              <a:prstDash val="solid"/>
            </a:ln>
          </p:spPr>
        </p:sp>
        <p:grpSp>
          <p:nvGrpSpPr>
            <p:cNvPr id="24" name="组合 23"/>
            <p:cNvGrpSpPr/>
            <p:nvPr/>
          </p:nvGrpSpPr>
          <p:grpSpPr>
            <a:xfrm rot="0">
              <a:off x="9432" y="1910"/>
              <a:ext cx="4464" cy="1037"/>
              <a:chOff x="9432" y="1816"/>
              <a:chExt cx="4464" cy="1037"/>
            </a:xfrm>
          </p:grpSpPr>
          <p:sp>
            <p:nvSpPr>
              <p:cNvPr id="9" name="Text 6"/>
              <p:cNvSpPr/>
              <p:nvPr>
                <p:custDataLst>
                  <p:tags r:id="rId3"/>
                </p:custDataLst>
              </p:nvPr>
            </p:nvSpPr>
            <p:spPr>
              <a:xfrm>
                <a:off x="9432" y="1816"/>
                <a:ext cx="4464" cy="346"/>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Management systematically more bullish</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7"/>
              <p:cNvSpPr/>
              <p:nvPr>
                <p:custDataLst>
                  <p:tags r:id="rId4"/>
                </p:custDataLst>
              </p:nvPr>
            </p:nvSpPr>
            <p:spPr>
              <a:xfrm>
                <a:off x="9432" y="2162"/>
                <a:ext cx="4464" cy="691"/>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Positive divergence in all sectors and quarters, which is consistent with incentive to signal optimism.</a:t>
                </a:r>
                <a:endParaRPr lang="en-US" sz="1100" dirty="0"/>
              </a:p>
            </p:txBody>
          </p:sp>
        </p:grpSp>
      </p:grpSp>
      <p:sp>
        <p:nvSpPr>
          <p:cNvPr id="20" name="Text 17"/>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Speaker tagging: CEO/CFO/COO = management  ·  buy-side/sell-side = analyst  ·  Divergence = method-averaged score difference</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27" name="组合 26"/>
          <p:cNvGrpSpPr/>
          <p:nvPr/>
        </p:nvGrpSpPr>
        <p:grpSpPr>
          <a:xfrm rot="0">
            <a:off x="5989320" y="3670300"/>
            <a:ext cx="2834640" cy="657225"/>
            <a:chOff x="9432" y="5674"/>
            <a:chExt cx="4464" cy="1035"/>
          </a:xfrm>
        </p:grpSpPr>
        <p:sp>
          <p:nvSpPr>
            <p:cNvPr id="18" name="Text 15"/>
            <p:cNvSpPr/>
            <p:nvPr>
              <p:custDataLst>
                <p:tags r:id="rId5"/>
              </p:custDataLst>
            </p:nvPr>
          </p:nvSpPr>
          <p:spPr>
            <a:xfrm>
              <a:off x="9432" y="5674"/>
              <a:ext cx="4464" cy="346"/>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Academic support</a:t>
              </a:r>
              <a:endParaRPr lang="en-US" sz="1200" dirty="0"/>
            </a:p>
          </p:txBody>
        </p:sp>
        <p:sp>
          <p:nvSpPr>
            <p:cNvPr id="19" name="Text 16"/>
            <p:cNvSpPr/>
            <p:nvPr>
              <p:custDataLst>
                <p:tags r:id="rId6"/>
              </p:custDataLst>
            </p:nvPr>
          </p:nvSpPr>
          <p:spPr>
            <a:xfrm>
              <a:off x="9432" y="6019"/>
              <a:ext cx="4464" cy="691"/>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Consistent with Price &amp; DeAngelo (1981): management has information advantage and positive reporting incentive.</a:t>
              </a:r>
              <a:endParaRPr lang="en-US" sz="1100" dirty="0"/>
            </a:p>
          </p:txBody>
        </p:sp>
      </p:grpSp>
      <p:sp>
        <p:nvSpPr>
          <p:cNvPr id="22" name="Shape 5"/>
          <p:cNvSpPr/>
          <p:nvPr>
            <p:custDataLst>
              <p:tags r:id="rId7"/>
            </p:custDataLst>
          </p:nvPr>
        </p:nvSpPr>
        <p:spPr>
          <a:xfrm>
            <a:off x="5852160" y="3711575"/>
            <a:ext cx="76200" cy="675005"/>
          </a:xfrm>
          <a:prstGeom prst="rect">
            <a:avLst/>
          </a:prstGeom>
          <a:solidFill>
            <a:srgbClr val="8B3A1A"/>
          </a:solidFill>
          <a:ln w="9525">
            <a:solidFill>
              <a:srgbClr val="8B3A1A"/>
            </a:solidFill>
            <a:prstDash val="solid"/>
          </a:ln>
        </p:spPr>
      </p:sp>
      <p:grpSp>
        <p:nvGrpSpPr>
          <p:cNvPr id="25" name="组合 24"/>
          <p:cNvGrpSpPr/>
          <p:nvPr/>
        </p:nvGrpSpPr>
        <p:grpSpPr>
          <a:xfrm rot="0">
            <a:off x="5989320" y="2042160"/>
            <a:ext cx="2834640" cy="657860"/>
            <a:chOff x="9432" y="3139"/>
            <a:chExt cx="4464" cy="1036"/>
          </a:xfrm>
        </p:grpSpPr>
        <p:sp>
          <p:nvSpPr>
            <p:cNvPr id="12" name="Text 9"/>
            <p:cNvSpPr/>
            <p:nvPr>
              <p:custDataLst>
                <p:tags r:id="rId8"/>
              </p:custDataLst>
            </p:nvPr>
          </p:nvSpPr>
          <p:spPr>
            <a:xfrm>
              <a:off x="9432" y="3139"/>
              <a:ext cx="4464" cy="346"/>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Removal companies: largest divergence</a:t>
              </a:r>
              <a:endParaRPr lang="en-US" sz="1200" dirty="0"/>
            </a:p>
          </p:txBody>
        </p:sp>
        <p:sp>
          <p:nvSpPr>
            <p:cNvPr id="13" name="Text 10"/>
            <p:cNvSpPr/>
            <p:nvPr>
              <p:custDataLst>
                <p:tags r:id="rId9"/>
              </p:custDataLst>
            </p:nvPr>
          </p:nvSpPr>
          <p:spPr>
            <a:xfrm>
              <a:off x="9432" y="3485"/>
              <a:ext cx="4464" cy="691"/>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Q4 2023 divergence ≈ 0.44; declines sharply as problems become apparent to both sides by Q2 2024.</a:t>
              </a:r>
              <a:endParaRPr lang="en-US" sz="1100" dirty="0"/>
            </a:p>
          </p:txBody>
        </p:sp>
      </p:grpSp>
      <p:sp>
        <p:nvSpPr>
          <p:cNvPr id="23" name="Shape 5"/>
          <p:cNvSpPr/>
          <p:nvPr>
            <p:custDataLst>
              <p:tags r:id="rId10"/>
            </p:custDataLst>
          </p:nvPr>
        </p:nvSpPr>
        <p:spPr>
          <a:xfrm>
            <a:off x="5852160" y="2085975"/>
            <a:ext cx="76200" cy="675005"/>
          </a:xfrm>
          <a:prstGeom prst="rect">
            <a:avLst/>
          </a:prstGeom>
          <a:solidFill>
            <a:srgbClr val="8B3A1A"/>
          </a:solidFill>
          <a:ln w="9525">
            <a:solidFill>
              <a:srgbClr val="8B3A1A"/>
            </a:solidFill>
            <a:prstDash val="solid"/>
          </a:ln>
        </p:spPr>
      </p:sp>
      <p:grpSp>
        <p:nvGrpSpPr>
          <p:cNvPr id="26" name="组合 25"/>
          <p:cNvGrpSpPr/>
          <p:nvPr/>
        </p:nvGrpSpPr>
        <p:grpSpPr>
          <a:xfrm rot="0">
            <a:off x="5989320" y="2856230"/>
            <a:ext cx="2834640" cy="657860"/>
            <a:chOff x="9432" y="4406"/>
            <a:chExt cx="4464" cy="1036"/>
          </a:xfrm>
        </p:grpSpPr>
        <p:sp>
          <p:nvSpPr>
            <p:cNvPr id="15" name="Text 12"/>
            <p:cNvSpPr/>
            <p:nvPr>
              <p:custDataLst>
                <p:tags r:id="rId11"/>
              </p:custDataLst>
            </p:nvPr>
          </p:nvSpPr>
          <p:spPr>
            <a:xfrm>
              <a:off x="9432" y="4406"/>
              <a:ext cx="4464" cy="346"/>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IT divergence stable</a:t>
              </a:r>
              <a:endParaRPr lang="en-US" sz="1200" dirty="0"/>
            </a:p>
          </p:txBody>
        </p:sp>
        <p:sp>
          <p:nvSpPr>
            <p:cNvPr id="16" name="Text 13"/>
            <p:cNvSpPr/>
            <p:nvPr>
              <p:custDataLst>
                <p:tags r:id="rId12"/>
              </p:custDataLst>
            </p:nvPr>
          </p:nvSpPr>
          <p:spPr>
            <a:xfrm>
              <a:off x="9432" y="4752"/>
              <a:ext cx="4464" cy="691"/>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IT management maintains moderate consistent gap — AI narrative allows sustained optimism vs cautious analysts.</a:t>
              </a:r>
              <a:endParaRPr lang="en-US" sz="1100" dirty="0"/>
            </a:p>
          </p:txBody>
        </p:sp>
      </p:grpSp>
      <p:sp>
        <p:nvSpPr>
          <p:cNvPr id="28" name="Shape 5"/>
          <p:cNvSpPr/>
          <p:nvPr>
            <p:custDataLst>
              <p:tags r:id="rId13"/>
            </p:custDataLst>
          </p:nvPr>
        </p:nvSpPr>
        <p:spPr>
          <a:xfrm>
            <a:off x="5852160" y="2898775"/>
            <a:ext cx="76200" cy="675005"/>
          </a:xfrm>
          <a:prstGeom prst="rect">
            <a:avLst/>
          </a:prstGeom>
          <a:solidFill>
            <a:srgbClr val="C8692A"/>
          </a:solidFill>
          <a:ln w="9525">
            <a:solidFill>
              <a:srgbClr val="C8692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Uncertainty Index: Sentiment &amp; Uncertainty Co-movement</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21" name="组合 20"/>
          <p:cNvGrpSpPr/>
          <p:nvPr/>
        </p:nvGrpSpPr>
        <p:grpSpPr>
          <a:xfrm>
            <a:off x="320040" y="1170305"/>
            <a:ext cx="5943600" cy="2999105"/>
            <a:chOff x="504" y="1224"/>
            <a:chExt cx="9360" cy="4723"/>
          </a:xfrm>
        </p:grpSpPr>
        <p:pic>
          <p:nvPicPr>
            <p:cNvPr id="5" name="Image 0" descr="preencoded.png"/>
            <p:cNvPicPr>
              <a:picLocks noChangeAspect="1"/>
            </p:cNvPicPr>
            <p:nvPr/>
          </p:nvPicPr>
          <p:blipFill>
            <a:blip r:embed="rId1"/>
            <a:stretch>
              <a:fillRect/>
            </a:stretch>
          </p:blipFill>
          <p:spPr>
            <a:xfrm>
              <a:off x="504" y="1224"/>
              <a:ext cx="9360" cy="4320"/>
            </a:xfrm>
            <a:prstGeom prst="rect">
              <a:avLst/>
            </a:prstGeom>
          </p:spPr>
        </p:pic>
        <p:sp>
          <p:nvSpPr>
            <p:cNvPr id="6" name="Text 3"/>
            <p:cNvSpPr/>
            <p:nvPr/>
          </p:nvSpPr>
          <p:spPr>
            <a:xfrm>
              <a:off x="504" y="5587"/>
              <a:ext cx="9360" cy="36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6 · FinBERT sentiment (left axis) vs LM uncertainty index (right axis, dashed)</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7" name="Text 4"/>
          <p:cNvSpPr/>
          <p:nvPr>
            <p:custDataLst>
              <p:tags r:id="rId2"/>
            </p:custDataLst>
          </p:nvPr>
        </p:nvSpPr>
        <p:spPr>
          <a:xfrm>
            <a:off x="6446520" y="804672"/>
            <a:ext cx="2377440" cy="256032"/>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Dual-Signal Reading</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5"/>
          <p:cNvSpPr/>
          <p:nvPr>
            <p:custDataLst>
              <p:tags r:id="rId3"/>
            </p:custDataLst>
          </p:nvPr>
        </p:nvSpPr>
        <p:spPr>
          <a:xfrm>
            <a:off x="6446520" y="1170432"/>
            <a:ext cx="2377440" cy="749808"/>
          </a:xfrm>
          <a:prstGeom prst="rect">
            <a:avLst/>
          </a:prstGeom>
          <a:solidFill>
            <a:srgbClr val="F2EDE6"/>
          </a:solidFill>
          <a:ln w="6350">
            <a:solidFill>
              <a:srgbClr val="D9C9BB"/>
            </a:solidFill>
            <a:prstDash val="solid"/>
          </a:ln>
        </p:spPr>
      </p:sp>
      <p:sp>
        <p:nvSpPr>
          <p:cNvPr id="9" name="Text 6"/>
          <p:cNvSpPr/>
          <p:nvPr>
            <p:custDataLst>
              <p:tags r:id="rId4"/>
            </p:custDataLst>
          </p:nvPr>
        </p:nvSpPr>
        <p:spPr>
          <a:xfrm>
            <a:off x="6537960" y="1173226"/>
            <a:ext cx="2194560" cy="201168"/>
          </a:xfrm>
          <a:prstGeom prst="rect">
            <a:avLst/>
          </a:prstGeom>
          <a:noFill/>
        </p:spPr>
        <p:txBody>
          <a:bodyPr wrap="square" lIns="0" tIns="0" rIns="0" bIns="0" rtlCol="0" anchor="ctr"/>
          <a:lstStyle/>
          <a:p>
            <a:pPr marL="0" indent="0">
              <a:buNone/>
            </a:pPr>
            <a:r>
              <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rPr>
              <a:t>IT — Q1 2024</a:t>
            </a:r>
            <a:endPar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7"/>
          <p:cNvSpPr/>
          <p:nvPr>
            <p:custDataLst>
              <p:tags r:id="rId5"/>
            </p:custDataLst>
          </p:nvPr>
        </p:nvSpPr>
        <p:spPr>
          <a:xfrm>
            <a:off x="6537960" y="1426464"/>
            <a:ext cx="2194560" cy="45720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Sentiment peaks AND uncertainty high → 'optimistic but cautious'; AI opportunity real but path unclear.</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8"/>
          <p:cNvSpPr/>
          <p:nvPr>
            <p:custDataLst>
              <p:tags r:id="rId6"/>
            </p:custDataLst>
          </p:nvPr>
        </p:nvSpPr>
        <p:spPr>
          <a:xfrm>
            <a:off x="6446520" y="2057400"/>
            <a:ext cx="2377440" cy="749808"/>
          </a:xfrm>
          <a:prstGeom prst="rect">
            <a:avLst/>
          </a:prstGeom>
          <a:solidFill>
            <a:srgbClr val="F2EDE6"/>
          </a:solidFill>
          <a:ln w="6350">
            <a:solidFill>
              <a:srgbClr val="D9C9BB"/>
            </a:solidFill>
            <a:prstDash val="solid"/>
          </a:ln>
        </p:spPr>
      </p:sp>
      <p:sp>
        <p:nvSpPr>
          <p:cNvPr id="12" name="Text 9"/>
          <p:cNvSpPr/>
          <p:nvPr>
            <p:custDataLst>
              <p:tags r:id="rId7"/>
            </p:custDataLst>
          </p:nvPr>
        </p:nvSpPr>
        <p:spPr>
          <a:xfrm>
            <a:off x="6537960" y="2112264"/>
            <a:ext cx="2194560" cy="201168"/>
          </a:xfrm>
          <a:prstGeom prst="rect">
            <a:avLst/>
          </a:prstGeom>
          <a:noFill/>
        </p:spPr>
        <p:txBody>
          <a:bodyPr wrap="square" lIns="0" tIns="0" rIns="0" bIns="0" rtlCol="0" anchor="ctr"/>
          <a:lstStyle/>
          <a:p>
            <a:pPr marL="0" indent="0">
              <a:buNone/>
            </a:pPr>
            <a:endParaRPr lang="en-US" sz="950" dirty="0"/>
          </a:p>
        </p:txBody>
      </p:sp>
      <p:sp>
        <p:nvSpPr>
          <p:cNvPr id="13" name="Text 10"/>
          <p:cNvSpPr/>
          <p:nvPr>
            <p:custDataLst>
              <p:tags r:id="rId8"/>
            </p:custDataLst>
          </p:nvPr>
        </p:nvSpPr>
        <p:spPr>
          <a:xfrm>
            <a:off x="6537960" y="2261235"/>
            <a:ext cx="2194560" cy="546735"/>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Both drop together → reduced optimism AND reduced hedging; narrative consolidates.</a:t>
            </a:r>
            <a:endParaRPr lang="en-US" sz="1100" dirty="0"/>
          </a:p>
        </p:txBody>
      </p:sp>
      <p:sp>
        <p:nvSpPr>
          <p:cNvPr id="14" name="Shape 11"/>
          <p:cNvSpPr/>
          <p:nvPr>
            <p:custDataLst>
              <p:tags r:id="rId9"/>
            </p:custDataLst>
          </p:nvPr>
        </p:nvSpPr>
        <p:spPr>
          <a:xfrm>
            <a:off x="6446520" y="2944368"/>
            <a:ext cx="2377440" cy="749808"/>
          </a:xfrm>
          <a:prstGeom prst="rect">
            <a:avLst/>
          </a:prstGeom>
          <a:solidFill>
            <a:srgbClr val="F2EDE6"/>
          </a:solidFill>
          <a:ln w="6350">
            <a:solidFill>
              <a:srgbClr val="D9C9BB"/>
            </a:solidFill>
            <a:prstDash val="solid"/>
          </a:ln>
        </p:spPr>
      </p:sp>
      <p:sp>
        <p:nvSpPr>
          <p:cNvPr id="15" name="Text 12"/>
          <p:cNvSpPr/>
          <p:nvPr>
            <p:custDataLst>
              <p:tags r:id="rId10"/>
            </p:custDataLst>
          </p:nvPr>
        </p:nvSpPr>
        <p:spPr>
          <a:xfrm>
            <a:off x="6537960" y="2999232"/>
            <a:ext cx="2194560" cy="201168"/>
          </a:xfrm>
          <a:prstGeom prst="rect">
            <a:avLst/>
          </a:prstGeom>
          <a:noFill/>
        </p:spPr>
        <p:txBody>
          <a:bodyPr wrap="square" lIns="0" tIns="0" rIns="0" bIns="0" rtlCol="0" anchor="ctr"/>
          <a:lstStyle/>
          <a:p>
            <a:pPr marL="0" indent="0">
              <a:buNone/>
            </a:pPr>
            <a:endParaRPr lang="en-US" sz="950" dirty="0"/>
          </a:p>
        </p:txBody>
      </p:sp>
      <p:sp>
        <p:nvSpPr>
          <p:cNvPr id="16" name="Text 13"/>
          <p:cNvSpPr/>
          <p:nvPr>
            <p:custDataLst>
              <p:tags r:id="rId11"/>
            </p:custDataLst>
          </p:nvPr>
        </p:nvSpPr>
        <p:spPr>
          <a:xfrm>
            <a:off x="6537960" y="3148965"/>
            <a:ext cx="2194560" cy="539115"/>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Sentiment falls; uncertainty rises → cautious earnings outlook as costs &amp; demand soften.</a:t>
            </a:r>
            <a:endParaRPr lang="en-US" sz="1100" dirty="0"/>
          </a:p>
        </p:txBody>
      </p:sp>
      <p:sp>
        <p:nvSpPr>
          <p:cNvPr id="17" name="Shape 14"/>
          <p:cNvSpPr/>
          <p:nvPr>
            <p:custDataLst>
              <p:tags r:id="rId12"/>
            </p:custDataLst>
          </p:nvPr>
        </p:nvSpPr>
        <p:spPr>
          <a:xfrm>
            <a:off x="6446520" y="3831336"/>
            <a:ext cx="2377440" cy="749808"/>
          </a:xfrm>
          <a:prstGeom prst="rect">
            <a:avLst/>
          </a:prstGeom>
          <a:solidFill>
            <a:srgbClr val="F2EDE6"/>
          </a:solidFill>
          <a:ln w="6350">
            <a:solidFill>
              <a:srgbClr val="D9C9BB"/>
            </a:solidFill>
            <a:prstDash val="solid"/>
          </a:ln>
        </p:spPr>
      </p:sp>
      <p:sp>
        <p:nvSpPr>
          <p:cNvPr id="18" name="Text 15"/>
          <p:cNvSpPr/>
          <p:nvPr>
            <p:custDataLst>
              <p:tags r:id="rId13"/>
            </p:custDataLst>
          </p:nvPr>
        </p:nvSpPr>
        <p:spPr>
          <a:xfrm>
            <a:off x="6537960" y="3886200"/>
            <a:ext cx="2194560" cy="201168"/>
          </a:xfrm>
          <a:prstGeom prst="rect">
            <a:avLst/>
          </a:prstGeom>
          <a:noFill/>
        </p:spPr>
        <p:txBody>
          <a:bodyPr wrap="square" lIns="0" tIns="0" rIns="0" bIns="0" rtlCol="0" anchor="ctr"/>
          <a:lstStyle/>
          <a:p>
            <a:pPr marL="0" indent="0">
              <a:buNone/>
            </a:pPr>
            <a:endParaRPr lang="en-US" sz="950" dirty="0"/>
          </a:p>
        </p:txBody>
      </p:sp>
      <p:sp>
        <p:nvSpPr>
          <p:cNvPr id="19" name="Text 16"/>
          <p:cNvSpPr/>
          <p:nvPr>
            <p:custDataLst>
              <p:tags r:id="rId14"/>
            </p:custDataLst>
          </p:nvPr>
        </p:nvSpPr>
        <p:spPr>
          <a:xfrm>
            <a:off x="6537960" y="4029075"/>
            <a:ext cx="2194560" cy="546100"/>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Uncertainty trough while sentiment stable → highest conviction quarter for industrial mgmt.</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7"/>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Uncertainty index = LM uncertainty word count / total words  ·  Measures hedging language density independently of sentiment direction</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6"/>
          <p:cNvSpPr/>
          <p:nvPr>
            <p:custDataLst>
              <p:tags r:id="rId15"/>
            </p:custDataLst>
          </p:nvPr>
        </p:nvSpPr>
        <p:spPr>
          <a:xfrm>
            <a:off x="6537960" y="2058416"/>
            <a:ext cx="2194560" cy="201168"/>
          </a:xfrm>
          <a:prstGeom prst="rect">
            <a:avLst/>
          </a:prstGeom>
          <a:noFill/>
        </p:spPr>
        <p:txBody>
          <a:bodyPr wrap="square" lIns="0" tIns="0" rIns="0" bIns="0" rtlCol="0" anchor="ctr"/>
          <a:lstStyle/>
          <a:p>
            <a:pPr marL="0" indent="0">
              <a:buNone/>
            </a:pPr>
            <a:r>
              <a:rPr lang="en-US" altLang="zh-CN" sz="1200" b="1" dirty="0">
                <a:solidFill>
                  <a:srgbClr val="C8692A"/>
                </a:solidFill>
                <a:latin typeface="Calibri" panose="020F0502020204030204" pitchFamily="34" charset="0"/>
                <a:ea typeface="Calibri" panose="020F0502020204030204" pitchFamily="34" charset="-122"/>
                <a:cs typeface="Calibri" panose="020F0502020204030204" pitchFamily="34" charset="-120"/>
              </a:rPr>
              <a:t>IT — Q2 2024</a:t>
            </a:r>
            <a:endParaRPr lang="en-US" altLang="zh-CN" sz="12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6"/>
          <p:cNvSpPr/>
          <p:nvPr>
            <p:custDataLst>
              <p:tags r:id="rId16"/>
            </p:custDataLst>
          </p:nvPr>
        </p:nvSpPr>
        <p:spPr>
          <a:xfrm>
            <a:off x="6537960" y="2944241"/>
            <a:ext cx="2194560" cy="201168"/>
          </a:xfrm>
          <a:prstGeom prst="rect">
            <a:avLst/>
          </a:prstGeom>
          <a:noFill/>
        </p:spPr>
        <p:txBody>
          <a:bodyPr wrap="square" lIns="0" tIns="0" rIns="0" bIns="0" rtlCol="0" anchor="ctr"/>
          <a:lstStyle/>
          <a:p>
            <a:pPr marL="0" indent="0">
              <a:buNone/>
            </a:pPr>
            <a:r>
              <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sym typeface="+mn-ea"/>
              </a:rPr>
              <a:t>Industrials — Q3 2024</a:t>
            </a:r>
            <a:endParaRPr lang="en-US" altLang="zh-CN" sz="12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6"/>
          <p:cNvSpPr/>
          <p:nvPr>
            <p:custDataLst>
              <p:tags r:id="rId17"/>
            </p:custDataLst>
          </p:nvPr>
        </p:nvSpPr>
        <p:spPr>
          <a:xfrm>
            <a:off x="6537960" y="3830701"/>
            <a:ext cx="2194560" cy="201168"/>
          </a:xfrm>
          <a:prstGeom prst="rect">
            <a:avLst/>
          </a:prstGeom>
          <a:noFill/>
        </p:spPr>
        <p:txBody>
          <a:bodyPr wrap="square" lIns="0" tIns="0" rIns="0" bIns="0" rtlCol="0" anchor="ctr"/>
          <a:lstStyle/>
          <a:p>
            <a:pPr marL="0" indent="0">
              <a:buNone/>
            </a:pPr>
            <a:r>
              <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sym typeface="+mn-ea"/>
              </a:rPr>
              <a:t>Industrials — Q1 2024</a:t>
            </a:r>
            <a:endParaRPr lang="en-US" altLang="zh-CN" sz="12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Speaker Tone Intensity Weighting</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grpSp>
        <p:nvGrpSpPr>
          <p:cNvPr id="12" name="组合 11"/>
          <p:cNvGrpSpPr/>
          <p:nvPr/>
        </p:nvGrpSpPr>
        <p:grpSpPr>
          <a:xfrm>
            <a:off x="320040" y="777240"/>
            <a:ext cx="5943600" cy="2999105"/>
            <a:chOff x="504" y="1224"/>
            <a:chExt cx="9360" cy="4723"/>
          </a:xfrm>
        </p:grpSpPr>
        <p:pic>
          <p:nvPicPr>
            <p:cNvPr id="5" name="Image 0" descr="preencoded.png"/>
            <p:cNvPicPr>
              <a:picLocks noChangeAspect="1"/>
            </p:cNvPicPr>
            <p:nvPr/>
          </p:nvPicPr>
          <p:blipFill>
            <a:blip r:embed="rId1"/>
            <a:stretch>
              <a:fillRect/>
            </a:stretch>
          </p:blipFill>
          <p:spPr>
            <a:xfrm>
              <a:off x="504" y="1224"/>
              <a:ext cx="9360" cy="4320"/>
            </a:xfrm>
            <a:prstGeom prst="rect">
              <a:avLst/>
            </a:prstGeom>
          </p:spPr>
        </p:pic>
        <p:sp>
          <p:nvSpPr>
            <p:cNvPr id="6" name="Text 3"/>
            <p:cNvSpPr/>
            <p:nvPr/>
          </p:nvSpPr>
          <p:spPr>
            <a:xfrm>
              <a:off x="504" y="5587"/>
              <a:ext cx="9360" cy="360"/>
            </a:xfrm>
            <a:prstGeom prst="rect">
              <a:avLst/>
            </a:prstGeom>
            <a:noFill/>
          </p:spPr>
          <p:txBody>
            <a:bodyPr wrap="square" lIns="0" tIns="0" rIns="0" bIns="0" rtlCol="0" anchor="ctr"/>
            <a:lstStyle/>
            <a:p>
              <a:pPr marL="0" indent="0" algn="ctr">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Fig 8 · GPT uniform weight vs intensity-weighted score (normalised)</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19" name="组合 18"/>
          <p:cNvGrpSpPr/>
          <p:nvPr>
            <p:custDataLst>
              <p:tags r:id="rId2"/>
            </p:custDataLst>
          </p:nvPr>
        </p:nvGrpSpPr>
        <p:grpSpPr>
          <a:xfrm>
            <a:off x="648970" y="3895090"/>
            <a:ext cx="5285740" cy="826770"/>
            <a:chOff x="1540" y="6134"/>
            <a:chExt cx="8324" cy="1302"/>
          </a:xfrm>
        </p:grpSpPr>
        <p:grpSp>
          <p:nvGrpSpPr>
            <p:cNvPr id="16" name="组合 15"/>
            <p:cNvGrpSpPr/>
            <p:nvPr/>
          </p:nvGrpSpPr>
          <p:grpSpPr>
            <a:xfrm>
              <a:off x="1540" y="6134"/>
              <a:ext cx="3744" cy="1302"/>
              <a:chOff x="10152" y="4543"/>
              <a:chExt cx="3744" cy="1302"/>
            </a:xfrm>
          </p:grpSpPr>
          <p:sp>
            <p:nvSpPr>
              <p:cNvPr id="9" name="Shape 6"/>
              <p:cNvSpPr/>
              <p:nvPr>
                <p:custDataLst>
                  <p:tags r:id="rId3"/>
                </p:custDataLst>
              </p:nvPr>
            </p:nvSpPr>
            <p:spPr>
              <a:xfrm>
                <a:off x="10152" y="4543"/>
                <a:ext cx="3744" cy="1302"/>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10" name="Text 7"/>
              <p:cNvSpPr/>
              <p:nvPr>
                <p:custDataLst>
                  <p:tags r:id="rId4"/>
                </p:custDataLst>
              </p:nvPr>
            </p:nvSpPr>
            <p:spPr>
              <a:xfrm>
                <a:off x="10325" y="4543"/>
                <a:ext cx="3398" cy="403"/>
              </a:xfrm>
              <a:prstGeom prst="rect">
                <a:avLst/>
              </a:prstGeom>
              <a:noFill/>
            </p:spPr>
            <p:txBody>
              <a:bodyPr wrap="square" lIns="0" tIns="0" rIns="0" bIns="0" rtlCol="0" anchor="ctr"/>
              <a:lstStyle/>
              <a:p>
                <a:pPr marL="0" indent="0">
                  <a:buNone/>
                </a:pPr>
                <a:r>
                  <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rPr>
                  <a:t>Implication 1</a:t>
                </a:r>
                <a:endParaRPr lang="en-US" sz="1200" b="1" dirty="0">
                  <a:solidFill>
                    <a:srgbClr val="C8692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8"/>
              <p:cNvSpPr/>
              <p:nvPr>
                <p:custDataLst>
                  <p:tags r:id="rId5"/>
                </p:custDataLst>
              </p:nvPr>
            </p:nvSpPr>
            <p:spPr>
              <a:xfrm>
                <a:off x="10325" y="4953"/>
                <a:ext cx="3398" cy="888"/>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Trend-preserving: intensity weighting does not reverse or alter directional signals.</a:t>
                </a:r>
                <a:endPar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grpSp>
          <p:nvGrpSpPr>
            <p:cNvPr id="18" name="组合 17"/>
            <p:cNvGrpSpPr/>
            <p:nvPr/>
          </p:nvGrpSpPr>
          <p:grpSpPr>
            <a:xfrm>
              <a:off x="6120" y="6134"/>
              <a:ext cx="3744" cy="1302"/>
              <a:chOff x="10152" y="6019"/>
              <a:chExt cx="3744" cy="1302"/>
            </a:xfrm>
          </p:grpSpPr>
          <p:sp>
            <p:nvSpPr>
              <p:cNvPr id="17" name="Shape 6"/>
              <p:cNvSpPr/>
              <p:nvPr>
                <p:custDataLst>
                  <p:tags r:id="rId6"/>
                </p:custDataLst>
              </p:nvPr>
            </p:nvSpPr>
            <p:spPr>
              <a:xfrm>
                <a:off x="10152" y="6019"/>
                <a:ext cx="3744" cy="1302"/>
              </a:xfrm>
              <a:prstGeom prst="rect">
                <a:avLst/>
              </a:prstGeom>
              <a:solidFill>
                <a:srgbClr val="F2EDE6"/>
              </a:solidFill>
              <a:ln w="9525">
                <a:solidFill>
                  <a:srgbClr val="D9C9BB"/>
                </a:solidFill>
                <a:prstDash val="solid"/>
              </a:ln>
              <a:effectLst>
                <a:outerShdw blurRad="50800" dist="12700" dir="8100000" algn="bl" rotWithShape="0">
                  <a:srgbClr val="000000">
                    <a:alpha val="6000"/>
                  </a:srgbClr>
                </a:outerShdw>
              </a:effectLst>
            </p:spPr>
          </p:sp>
          <p:sp>
            <p:nvSpPr>
              <p:cNvPr id="13" name="Text 10"/>
              <p:cNvSpPr/>
              <p:nvPr>
                <p:custDataLst>
                  <p:tags r:id="rId7"/>
                </p:custDataLst>
              </p:nvPr>
            </p:nvSpPr>
            <p:spPr>
              <a:xfrm>
                <a:off x="10325" y="6019"/>
                <a:ext cx="3398" cy="403"/>
              </a:xfrm>
              <a:prstGeom prst="rect">
                <a:avLst/>
              </a:prstGeom>
              <a:noFill/>
            </p:spPr>
            <p:txBody>
              <a:bodyPr wrap="square" lIns="0" tIns="0" rIns="0" bIns="0" rtlCol="0" anchor="ctr"/>
              <a:lstStyle/>
              <a:p>
                <a:pPr marL="0" indent="0">
                  <a:buNone/>
                </a:pPr>
                <a:r>
                  <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rPr>
                  <a:t>Implication 2</a:t>
                </a:r>
                <a:endParaRPr lang="en-US" sz="12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1"/>
              <p:cNvSpPr/>
              <p:nvPr>
                <p:custDataLst>
                  <p:tags r:id="rId8"/>
                </p:custDataLst>
              </p:nvPr>
            </p:nvSpPr>
            <p:spPr>
              <a:xfrm>
                <a:off x="10325" y="6437"/>
                <a:ext cx="3398" cy="885"/>
              </a:xfrm>
              <a:prstGeom prst="rect">
                <a:avLst/>
              </a:prstGeom>
              <a:noFill/>
            </p:spPr>
            <p:txBody>
              <a:bodyPr wrap="square" lIns="0" tIns="0" rIns="0" bIns="0" rtlCol="0" anchor="t"/>
              <a:lstStyle/>
              <a:p>
                <a:pPr marL="0" indent="0">
                  <a:buNone/>
                </a:pPr>
                <a:r>
                  <a:rPr lang="en-US" sz="1100" dirty="0">
                    <a:solidFill>
                      <a:srgbClr val="5C3D2E"/>
                    </a:solidFill>
                    <a:latin typeface="Calibri" panose="020F0502020204030204" pitchFamily="34" charset="0"/>
                    <a:ea typeface="Calibri" panose="020F0502020204030204" pitchFamily="34" charset="-122"/>
                    <a:cs typeface="Calibri" panose="020F0502020204030204" pitchFamily="34" charset="-120"/>
                  </a:rPr>
                  <a:t>Level-amplifying: higher absolute score → stronger separation between high and low conviction quarters.</a:t>
                </a:r>
                <a:endParaRPr lang="en-US" sz="1100" dirty="0"/>
              </a:p>
            </p:txBody>
          </p:sp>
        </p:grpSp>
      </p:grpSp>
      <p:sp>
        <p:nvSpPr>
          <p:cNvPr id="15" name="Text 12"/>
          <p:cNvSpPr/>
          <p:nvPr/>
        </p:nvSpPr>
        <p:spPr>
          <a:xfrm>
            <a:off x="320040" y="4846320"/>
            <a:ext cx="8503920" cy="228600"/>
          </a:xfrm>
          <a:prstGeom prst="rect">
            <a:avLst/>
          </a:prstGeom>
          <a:noFill/>
        </p:spPr>
        <p:txBody>
          <a:bodyPr wrap="square" lIns="0" tIns="0" rIns="0" bIns="0" rtlCol="0" anchor="ctr"/>
          <a:lstStyle/>
          <a:p>
            <a:pPr marL="0" indent="0">
              <a:buNone/>
            </a:pPr>
            <a:r>
              <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rPr>
              <a:t>GPT model: gpt-4o  ·  Intensity scale: 0 (neutral) to 10 (very strong conviction)  ·  Both variants normalised to [0,1]</a:t>
            </a:r>
            <a:endParaRPr lang="en-US" sz="1000"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29" name="组合 28"/>
          <p:cNvGrpSpPr/>
          <p:nvPr/>
        </p:nvGrpSpPr>
        <p:grpSpPr>
          <a:xfrm>
            <a:off x="6446520" y="1139190"/>
            <a:ext cx="2377440" cy="3335020"/>
            <a:chOff x="10152" y="1391"/>
            <a:chExt cx="3744" cy="5252"/>
          </a:xfrm>
        </p:grpSpPr>
        <p:sp>
          <p:nvSpPr>
            <p:cNvPr id="7" name="Text 4"/>
            <p:cNvSpPr/>
            <p:nvPr/>
          </p:nvSpPr>
          <p:spPr>
            <a:xfrm>
              <a:off x="10152" y="1391"/>
              <a:ext cx="3744" cy="403"/>
            </a:xfrm>
            <a:prstGeom prst="rect">
              <a:avLst/>
            </a:prstGeom>
            <a:noFill/>
          </p:spPr>
          <p:txBody>
            <a:bodyPr wrap="square" lIns="0" tIns="0" rIns="0" bIns="0" rtlCol="0" anchor="ctr"/>
            <a:lstStyle/>
            <a:p>
              <a:pPr marL="0" indent="0">
                <a:buNone/>
              </a:pPr>
              <a:r>
                <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rPr>
                <a:t>Method</a:t>
              </a:r>
              <a:endParaRPr lang="en-US" sz="1400" b="1" dirty="0">
                <a:solidFill>
                  <a:srgbClr val="8B3A1A"/>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5"/>
            <p:cNvSpPr/>
            <p:nvPr>
              <p:custDataLst>
                <p:tags r:id="rId9"/>
              </p:custDataLst>
            </p:nvPr>
          </p:nvSpPr>
          <p:spPr>
            <a:xfrm>
              <a:off x="10152" y="1953"/>
              <a:ext cx="3744" cy="1181"/>
            </a:xfrm>
            <a:prstGeom prst="rect">
              <a:avLst/>
            </a:prstGeom>
            <a:solidFill>
              <a:srgbClr val="F2EDE6"/>
            </a:solidFill>
            <a:ln w="6350">
              <a:solidFill>
                <a:srgbClr val="D9C9BB"/>
              </a:solidFill>
              <a:prstDash val="solid"/>
            </a:ln>
          </p:spPr>
          <p:txBody>
            <a:bodyPr/>
            <a:p>
              <a:endParaRPr lang="en-US" altLang="zh-CN" sz="1200">
                <a:sym typeface="+mn-ea"/>
              </a:endParaRPr>
            </a:p>
          </p:txBody>
        </p:sp>
        <p:sp>
          <p:nvSpPr>
            <p:cNvPr id="22" name="文本框 21"/>
            <p:cNvSpPr txBox="1"/>
            <p:nvPr/>
          </p:nvSpPr>
          <p:spPr>
            <a:xfrm>
              <a:off x="10152" y="1958"/>
              <a:ext cx="3743" cy="1162"/>
            </a:xfrm>
            <a:prstGeom prst="rect">
              <a:avLst/>
            </a:prstGeom>
            <a:noFill/>
          </p:spPr>
          <p:txBody>
            <a:bodyPr wrap="square" rtlCol="0" anchor="t">
              <a:noAutofit/>
            </a:bodyPr>
            <a:p>
              <a:r>
                <a:rPr lang="en-US" altLang="zh-CN" sz="1200" b="1">
                  <a:sym typeface="+mn-ea"/>
                </a:rPr>
                <a:t>Scoring</a:t>
              </a:r>
              <a:r>
                <a:rPr lang="en-US" altLang="zh-CN" sz="1200">
                  <a:sym typeface="+mn-ea"/>
                </a:rPr>
                <a:t> GPT scores each FL sentence 0–10 for sentiment intensity</a:t>
              </a:r>
              <a:endParaRPr lang="en-US" altLang="zh-CN" sz="1200">
                <a:sym typeface="+mn-ea"/>
              </a:endParaRPr>
            </a:p>
          </p:txBody>
        </p:sp>
        <p:sp>
          <p:nvSpPr>
            <p:cNvPr id="23" name="Shape 5"/>
            <p:cNvSpPr/>
            <p:nvPr>
              <p:custDataLst>
                <p:tags r:id="rId10"/>
              </p:custDataLst>
            </p:nvPr>
          </p:nvSpPr>
          <p:spPr>
            <a:xfrm>
              <a:off x="10152" y="3715"/>
              <a:ext cx="3744" cy="1181"/>
            </a:xfrm>
            <a:prstGeom prst="rect">
              <a:avLst/>
            </a:prstGeom>
            <a:solidFill>
              <a:srgbClr val="F2EDE6"/>
            </a:solidFill>
            <a:ln w="6350">
              <a:solidFill>
                <a:srgbClr val="D9C9BB"/>
              </a:solidFill>
              <a:prstDash val="solid"/>
            </a:ln>
          </p:spPr>
          <p:txBody>
            <a:bodyPr/>
            <a:p>
              <a:endParaRPr lang="en-US" altLang="zh-CN" sz="1200">
                <a:sym typeface="+mn-ea"/>
              </a:endParaRPr>
            </a:p>
          </p:txBody>
        </p:sp>
        <p:sp>
          <p:nvSpPr>
            <p:cNvPr id="24" name="文本框 23"/>
            <p:cNvSpPr txBox="1"/>
            <p:nvPr/>
          </p:nvSpPr>
          <p:spPr>
            <a:xfrm>
              <a:off x="10152" y="3720"/>
              <a:ext cx="3743" cy="1162"/>
            </a:xfrm>
            <a:prstGeom prst="rect">
              <a:avLst/>
            </a:prstGeom>
            <a:noFill/>
          </p:spPr>
          <p:txBody>
            <a:bodyPr wrap="square" rtlCol="0" anchor="t">
              <a:noAutofit/>
            </a:bodyPr>
            <a:p>
              <a:r>
                <a:rPr lang="en-US" altLang="zh-CN" sz="1200" b="1">
                  <a:sym typeface="+mn-ea"/>
                </a:rPr>
                <a:t>Weighted Formula</a:t>
              </a:r>
              <a:r>
                <a:rPr lang="en-US" altLang="zh-CN" sz="1200">
                  <a:sym typeface="+mn-ea"/>
                </a:rPr>
                <a:t> Intensity-weighted avg = Σ(score × intensity) / Σ intensity</a:t>
              </a:r>
              <a:endParaRPr lang="en-US" altLang="zh-CN" sz="1200">
                <a:sym typeface="+mn-ea"/>
              </a:endParaRPr>
            </a:p>
          </p:txBody>
        </p:sp>
        <p:sp>
          <p:nvSpPr>
            <p:cNvPr id="25" name="Shape 5"/>
            <p:cNvSpPr/>
            <p:nvPr>
              <p:custDataLst>
                <p:tags r:id="rId11"/>
              </p:custDataLst>
            </p:nvPr>
          </p:nvSpPr>
          <p:spPr>
            <a:xfrm>
              <a:off x="10152" y="5463"/>
              <a:ext cx="3744" cy="1181"/>
            </a:xfrm>
            <a:prstGeom prst="rect">
              <a:avLst/>
            </a:prstGeom>
            <a:solidFill>
              <a:srgbClr val="F2EDE6"/>
            </a:solidFill>
            <a:ln w="6350">
              <a:solidFill>
                <a:srgbClr val="D9C9BB"/>
              </a:solidFill>
              <a:prstDash val="solid"/>
            </a:ln>
          </p:spPr>
          <p:txBody>
            <a:bodyPr/>
            <a:p>
              <a:endParaRPr lang="en-US" altLang="zh-CN" sz="1200">
                <a:sym typeface="+mn-ea"/>
              </a:endParaRPr>
            </a:p>
          </p:txBody>
        </p:sp>
        <p:sp>
          <p:nvSpPr>
            <p:cNvPr id="26" name="文本框 25"/>
            <p:cNvSpPr txBox="1"/>
            <p:nvPr/>
          </p:nvSpPr>
          <p:spPr>
            <a:xfrm>
              <a:off x="10152" y="5468"/>
              <a:ext cx="3743" cy="1162"/>
            </a:xfrm>
            <a:prstGeom prst="rect">
              <a:avLst/>
            </a:prstGeom>
            <a:noFill/>
          </p:spPr>
          <p:txBody>
            <a:bodyPr wrap="square" rtlCol="0" anchor="t">
              <a:noAutofit/>
            </a:bodyPr>
            <a:p>
              <a:r>
                <a:rPr lang="en-US" altLang="zh-CN" sz="1200" b="1">
                  <a:sym typeface="+mn-ea"/>
                </a:rPr>
                <a:t>Result</a:t>
              </a:r>
              <a:r>
                <a:rPr lang="en-US" altLang="zh-CN" sz="1200">
                  <a:sym typeface="+mn-ea"/>
                </a:rPr>
                <a:t> Raises absolute level but preserves trend direction</a:t>
              </a:r>
              <a:endParaRPr lang="en-US" altLang="zh-CN" sz="1200">
                <a:sym typeface="+mn-ea"/>
              </a:endParaRPr>
            </a:p>
          </p:txBody>
        </p:sp>
        <p:sp>
          <p:nvSpPr>
            <p:cNvPr id="27" name="下箭头 26"/>
            <p:cNvSpPr/>
            <p:nvPr/>
          </p:nvSpPr>
          <p:spPr>
            <a:xfrm>
              <a:off x="11947" y="3133"/>
              <a:ext cx="265" cy="582"/>
            </a:xfrm>
            <a:prstGeom prst="downArrow">
              <a:avLst/>
            </a:prstGeom>
            <a:solidFill>
              <a:schemeClr val="accent2">
                <a:lumMod val="60000"/>
                <a:lumOff val="40000"/>
              </a:schemeClr>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下箭头 27"/>
            <p:cNvSpPr/>
            <p:nvPr/>
          </p:nvSpPr>
          <p:spPr>
            <a:xfrm>
              <a:off x="11947" y="4896"/>
              <a:ext cx="265" cy="582"/>
            </a:xfrm>
            <a:prstGeom prst="downArrow">
              <a:avLst/>
            </a:prstGeom>
            <a:solidFill>
              <a:schemeClr val="accent2">
                <a:lumMod val="60000"/>
                <a:lumOff val="40000"/>
              </a:schemeClr>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rgbClr val="8B3A1A"/>
                </a:solidFill>
                <a:latin typeface="Georgia" panose="02040502050405020303" pitchFamily="34" charset="0"/>
                <a:ea typeface="Georgia" panose="02040502050405020303" pitchFamily="34" charset="-122"/>
                <a:cs typeface="Georgia" panose="02040502050405020303" pitchFamily="34" charset="-120"/>
              </a:rPr>
              <a:t>Key Findings Summary</a:t>
            </a:r>
            <a:endParaRPr lang="en-US" sz="2000" dirty="0"/>
          </a:p>
        </p:txBody>
      </p:sp>
      <p:sp>
        <p:nvSpPr>
          <p:cNvPr id="4"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5" name="Shape 3"/>
          <p:cNvSpPr/>
          <p:nvPr/>
        </p:nvSpPr>
        <p:spPr>
          <a:xfrm>
            <a:off x="320040" y="804672"/>
            <a:ext cx="4160520" cy="3566160"/>
          </a:xfrm>
          <a:prstGeom prst="rect">
            <a:avLst/>
          </a:prstGeom>
          <a:solidFill>
            <a:srgbClr val="F2EDE6"/>
          </a:solidFill>
          <a:ln w="9525">
            <a:solidFill>
              <a:srgbClr val="D9C9BB"/>
            </a:solidFill>
            <a:prstDash val="solid"/>
          </a:ln>
        </p:spPr>
      </p:sp>
      <p:sp>
        <p:nvSpPr>
          <p:cNvPr id="6" name="Shape 4"/>
          <p:cNvSpPr/>
          <p:nvPr/>
        </p:nvSpPr>
        <p:spPr>
          <a:xfrm>
            <a:off x="320040" y="804672"/>
            <a:ext cx="4160520" cy="384048"/>
          </a:xfrm>
          <a:prstGeom prst="rect">
            <a:avLst/>
          </a:prstGeom>
          <a:solidFill>
            <a:srgbClr val="C8692A"/>
          </a:solidFill>
          <a:ln w="12700">
            <a:solidFill>
              <a:srgbClr val="C8692A"/>
            </a:solidFill>
            <a:prstDash val="solid"/>
          </a:ln>
        </p:spPr>
      </p:sp>
      <p:sp>
        <p:nvSpPr>
          <p:cNvPr id="7" name="Text 5"/>
          <p:cNvSpPr/>
          <p:nvPr/>
        </p:nvSpPr>
        <p:spPr>
          <a:xfrm>
            <a:off x="457200" y="822960"/>
            <a:ext cx="3886200" cy="347472"/>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120"/>
              </a:rPr>
              <a:t>Information Technology</a:t>
            </a:r>
            <a:endParaRPr lang="en-US" sz="1200" dirty="0"/>
          </a:p>
        </p:txBody>
      </p:sp>
      <p:sp>
        <p:nvSpPr>
          <p:cNvPr id="8" name="Shape 6"/>
          <p:cNvSpPr/>
          <p:nvPr/>
        </p:nvSpPr>
        <p:spPr>
          <a:xfrm>
            <a:off x="457200" y="1362456"/>
            <a:ext cx="201168" cy="201168"/>
          </a:xfrm>
          <a:prstGeom prst="ellipse">
            <a:avLst/>
          </a:prstGeom>
          <a:solidFill>
            <a:srgbClr val="C8692A"/>
          </a:solidFill>
          <a:ln w="12700">
            <a:solidFill>
              <a:srgbClr val="C8692A"/>
            </a:solidFill>
            <a:prstDash val="solid"/>
          </a:ln>
        </p:spPr>
      </p:sp>
      <p:sp>
        <p:nvSpPr>
          <p:cNvPr id="9" name="Text 7"/>
          <p:cNvSpPr/>
          <p:nvPr/>
        </p:nvSpPr>
        <p:spPr>
          <a:xfrm>
            <a:off x="758952" y="1325880"/>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More volatile sentiment — macro/AI news sensitive (NVDA Q1 2024 peak)</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457200" y="2020824"/>
            <a:ext cx="201168" cy="201168"/>
          </a:xfrm>
          <a:prstGeom prst="ellipse">
            <a:avLst/>
          </a:prstGeom>
          <a:solidFill>
            <a:srgbClr val="C8692A"/>
          </a:solidFill>
          <a:ln w="12700">
            <a:solidFill>
              <a:srgbClr val="C8692A"/>
            </a:solidFill>
            <a:prstDash val="solid"/>
          </a:ln>
        </p:spPr>
      </p:sp>
      <p:sp>
        <p:nvSpPr>
          <p:cNvPr id="11" name="Text 9"/>
          <p:cNvSpPr/>
          <p:nvPr/>
        </p:nvSpPr>
        <p:spPr>
          <a:xfrm>
            <a:off x="758952" y="1984248"/>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LM and FinBERT diverge Q2 2024: regulation language inflates word counts</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457200" y="2679192"/>
            <a:ext cx="201168" cy="201168"/>
          </a:xfrm>
          <a:prstGeom prst="ellipse">
            <a:avLst/>
          </a:prstGeom>
          <a:solidFill>
            <a:srgbClr val="C8692A"/>
          </a:solidFill>
          <a:ln w="12700">
            <a:solidFill>
              <a:srgbClr val="C8692A"/>
            </a:solidFill>
            <a:prstDash val="solid"/>
          </a:ln>
        </p:spPr>
      </p:sp>
      <p:sp>
        <p:nvSpPr>
          <p:cNvPr id="13" name="Text 11"/>
          <p:cNvSpPr/>
          <p:nvPr/>
        </p:nvSpPr>
        <p:spPr>
          <a:xfrm>
            <a:off x="758952" y="2642616"/>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Semiconductors sub-sector lowest absolute level but clear uptrend</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457200" y="3337560"/>
            <a:ext cx="201168" cy="201168"/>
          </a:xfrm>
          <a:prstGeom prst="ellipse">
            <a:avLst/>
          </a:prstGeom>
          <a:solidFill>
            <a:srgbClr val="C8692A"/>
          </a:solidFill>
          <a:ln w="12700">
            <a:solidFill>
              <a:srgbClr val="C8692A"/>
            </a:solidFill>
            <a:prstDash val="solid"/>
          </a:ln>
        </p:spPr>
      </p:sp>
      <p:sp>
        <p:nvSpPr>
          <p:cNvPr id="15" name="Text 13"/>
          <p:cNvSpPr/>
          <p:nvPr/>
        </p:nvSpPr>
        <p:spPr>
          <a:xfrm>
            <a:off x="758952" y="3300984"/>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High Q1 sentiment + high uncertainty = 'optimistic but cautious'</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4727448" y="804672"/>
            <a:ext cx="4160520" cy="3566160"/>
          </a:xfrm>
          <a:prstGeom prst="rect">
            <a:avLst/>
          </a:prstGeom>
          <a:solidFill>
            <a:srgbClr val="F2EDE6"/>
          </a:solidFill>
          <a:ln w="9525">
            <a:solidFill>
              <a:srgbClr val="D9C9BB"/>
            </a:solidFill>
            <a:prstDash val="solid"/>
          </a:ln>
        </p:spPr>
      </p:sp>
      <p:sp>
        <p:nvSpPr>
          <p:cNvPr id="17" name="Shape 15"/>
          <p:cNvSpPr/>
          <p:nvPr/>
        </p:nvSpPr>
        <p:spPr>
          <a:xfrm>
            <a:off x="4727448" y="804672"/>
            <a:ext cx="4160520" cy="384048"/>
          </a:xfrm>
          <a:prstGeom prst="rect">
            <a:avLst/>
          </a:prstGeom>
          <a:solidFill>
            <a:srgbClr val="8B3A1A"/>
          </a:solidFill>
          <a:ln w="12700">
            <a:solidFill>
              <a:srgbClr val="8B3A1A"/>
            </a:solidFill>
            <a:prstDash val="solid"/>
          </a:ln>
        </p:spPr>
      </p:sp>
      <p:sp>
        <p:nvSpPr>
          <p:cNvPr id="18" name="Text 16"/>
          <p:cNvSpPr/>
          <p:nvPr/>
        </p:nvSpPr>
        <p:spPr>
          <a:xfrm>
            <a:off x="4864608" y="822960"/>
            <a:ext cx="3886200" cy="347472"/>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120"/>
              </a:rPr>
              <a:t>Industrials</a:t>
            </a:r>
            <a:endParaRPr lang="en-US" sz="1200" dirty="0"/>
          </a:p>
        </p:txBody>
      </p:sp>
      <p:sp>
        <p:nvSpPr>
          <p:cNvPr id="19" name="Shape 17"/>
          <p:cNvSpPr/>
          <p:nvPr/>
        </p:nvSpPr>
        <p:spPr>
          <a:xfrm>
            <a:off x="4864608" y="1362456"/>
            <a:ext cx="201168" cy="201168"/>
          </a:xfrm>
          <a:prstGeom prst="ellipse">
            <a:avLst/>
          </a:prstGeom>
          <a:solidFill>
            <a:srgbClr val="8B3A1A"/>
          </a:solidFill>
          <a:ln w="12700">
            <a:solidFill>
              <a:srgbClr val="8B3A1A"/>
            </a:solidFill>
            <a:prstDash val="solid"/>
          </a:ln>
        </p:spPr>
      </p:sp>
      <p:sp>
        <p:nvSpPr>
          <p:cNvPr id="20" name="Text 18"/>
          <p:cNvSpPr/>
          <p:nvPr/>
        </p:nvSpPr>
        <p:spPr>
          <a:xfrm>
            <a:off x="5166360" y="1325880"/>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Higher base sentiment, more stable across quarters</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4864608" y="2020824"/>
            <a:ext cx="201168" cy="201168"/>
          </a:xfrm>
          <a:prstGeom prst="ellipse">
            <a:avLst/>
          </a:prstGeom>
          <a:solidFill>
            <a:srgbClr val="8B3A1A"/>
          </a:solidFill>
          <a:ln w="12700">
            <a:solidFill>
              <a:srgbClr val="8B3A1A"/>
            </a:solidFill>
            <a:prstDash val="solid"/>
          </a:ln>
        </p:spPr>
      </p:sp>
      <p:sp>
        <p:nvSpPr>
          <p:cNvPr id="22" name="Text 20"/>
          <p:cNvSpPr/>
          <p:nvPr/>
        </p:nvSpPr>
        <p:spPr>
          <a:xfrm>
            <a:off x="5166360" y="1984248"/>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Airlines sub-sector: sharp Q2 drop — cost/demand language dominates</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4864608" y="2679192"/>
            <a:ext cx="201168" cy="201168"/>
          </a:xfrm>
          <a:prstGeom prst="ellipse">
            <a:avLst/>
          </a:prstGeom>
          <a:solidFill>
            <a:srgbClr val="8B3A1A"/>
          </a:solidFill>
          <a:ln w="12700">
            <a:solidFill>
              <a:srgbClr val="8B3A1A"/>
            </a:solidFill>
            <a:prstDash val="solid"/>
          </a:ln>
        </p:spPr>
      </p:sp>
      <p:sp>
        <p:nvSpPr>
          <p:cNvPr id="24" name="Text 22"/>
          <p:cNvSpPr/>
          <p:nvPr/>
        </p:nvSpPr>
        <p:spPr>
          <a:xfrm>
            <a:off x="5166360" y="2642616"/>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Q3 2024: ETF rises (Fed pivot) while sentiment falls — macro/micro split</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4864608" y="3337560"/>
            <a:ext cx="201168" cy="201168"/>
          </a:xfrm>
          <a:prstGeom prst="ellipse">
            <a:avLst/>
          </a:prstGeom>
          <a:solidFill>
            <a:srgbClr val="8B3A1A"/>
          </a:solidFill>
          <a:ln w="12700">
            <a:solidFill>
              <a:srgbClr val="8B3A1A"/>
            </a:solidFill>
            <a:prstDash val="solid"/>
          </a:ln>
        </p:spPr>
      </p:sp>
      <p:sp>
        <p:nvSpPr>
          <p:cNvPr id="26" name="Text 24"/>
          <p:cNvSpPr/>
          <p:nvPr/>
        </p:nvSpPr>
        <p:spPr>
          <a:xfrm>
            <a:off x="5166360" y="3300984"/>
            <a:ext cx="3584448" cy="530352"/>
          </a:xfrm>
          <a:prstGeom prst="rect">
            <a:avLst/>
          </a:prstGeom>
          <a:noFill/>
        </p:spPr>
        <p:txBody>
          <a:bodyPr wrap="square" lIns="0" tIns="0" rIns="0" bIns="0" rtlCol="0" anchor="t"/>
          <a:lstStyle/>
          <a:p>
            <a:pPr marL="0" indent="0">
              <a:buNone/>
            </a:pPr>
            <a:r>
              <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rPr>
              <a:t>Higher cross-method consensus (FinBERT–GPT r=0.785 vs 0.680 in IT)</a:t>
            </a:r>
            <a:endParaRPr lang="en-US" sz="120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nvGrpSpPr>
          <p:cNvPr id="30" name="组合 29"/>
          <p:cNvGrpSpPr/>
          <p:nvPr/>
        </p:nvGrpSpPr>
        <p:grpSpPr>
          <a:xfrm>
            <a:off x="320040" y="4469765"/>
            <a:ext cx="8568055" cy="381635"/>
            <a:chOff x="504" y="7056"/>
            <a:chExt cx="13392" cy="749"/>
          </a:xfrm>
        </p:grpSpPr>
        <p:sp>
          <p:nvSpPr>
            <p:cNvPr id="27" name="Shape 25"/>
            <p:cNvSpPr/>
            <p:nvPr/>
          </p:nvSpPr>
          <p:spPr>
            <a:xfrm>
              <a:off x="504" y="7056"/>
              <a:ext cx="13392" cy="749"/>
            </a:xfrm>
            <a:prstGeom prst="rect">
              <a:avLst/>
            </a:prstGeom>
            <a:solidFill>
              <a:srgbClr val="F5EDE0"/>
            </a:solidFill>
            <a:ln w="9525">
              <a:solidFill>
                <a:srgbClr val="E09B5A"/>
              </a:solidFill>
              <a:prstDash val="solid"/>
            </a:ln>
          </p:spPr>
        </p:sp>
        <p:sp>
          <p:nvSpPr>
            <p:cNvPr id="28" name="Text 26"/>
            <p:cNvSpPr/>
            <p:nvPr/>
          </p:nvSpPr>
          <p:spPr>
            <a:xfrm>
              <a:off x="720" y="7085"/>
              <a:ext cx="13159" cy="662"/>
            </a:xfrm>
            <a:prstGeom prst="rect">
              <a:avLst/>
            </a:prstGeom>
            <a:noFill/>
          </p:spPr>
          <p:txBody>
            <a:bodyPr wrap="square" lIns="0" tIns="0" rIns="0" bIns="0" rtlCol="0" anchor="ctr"/>
            <a:lstStyle/>
            <a:p>
              <a:pPr marL="0" indent="0">
                <a:buNone/>
              </a:pPr>
              <a:r>
                <a:rPr lang="en-US" sz="1050" dirty="0">
                  <a:solidFill>
                    <a:srgbClr val="5C3D2E"/>
                  </a:solidFill>
                  <a:latin typeface="Calibri" panose="020F0502020204030204" pitchFamily="34" charset="0"/>
                  <a:ea typeface="Calibri" panose="020F0502020204030204" pitchFamily="34" charset="-122"/>
                  <a:cs typeface="Calibri" panose="020F0502020204030204" pitchFamily="34" charset="-120"/>
                </a:rPr>
                <a:t>Cross-sector: Management consistently more bullish than analysts. Cap-weighted ≈ equal-weighted. Three methods broadly agree on direction.</a:t>
              </a:r>
              <a:endParaRPr lang="en-US" sz="1050" dirty="0">
                <a:solidFill>
                  <a:srgbClr val="5C3D2E"/>
                </a:solidFill>
                <a:latin typeface="Calibri" panose="020F0502020204030204" pitchFamily="34" charset="0"/>
                <a:ea typeface="Calibri" panose="020F0502020204030204" pitchFamily="34" charset="-122"/>
                <a:cs typeface="Calibri" panose="020F0502020204030204" pitchFamily="34" charset="-120"/>
              </a:endParaRPr>
            </a:p>
          </p:txBody>
        </p:sp>
      </p:grpSp>
      <p:sp>
        <p:nvSpPr>
          <p:cNvPr id="29" name="Text 27"/>
          <p:cNvSpPr/>
          <p:nvPr/>
        </p:nvSpPr>
        <p:spPr>
          <a:xfrm>
            <a:off x="320040" y="4873752"/>
            <a:ext cx="8503920" cy="228600"/>
          </a:xfrm>
          <a:prstGeom prst="rect">
            <a:avLst/>
          </a:prstGeom>
          <a:noFill/>
        </p:spPr>
        <p:txBody>
          <a:bodyPr wrap="square" lIns="0" tIns="0" rIns="0" bIns="0" rtlCol="0" anchor="ctr"/>
          <a:lstStyle/>
          <a:p>
            <a:pPr marL="0" indent="0">
              <a:buNone/>
            </a:pPr>
            <a:r>
              <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rPr>
              <a:t>All findings: visual inspection only — no statistical inference drawn per project specification</a:t>
            </a:r>
            <a:endParaRPr lang="en-US" sz="1000" i="1" dirty="0">
              <a:solidFill>
                <a:srgbClr val="9E7B5E"/>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5D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384048"/>
          </a:xfrm>
          <a:prstGeom prst="rect">
            <a:avLst/>
          </a:prstGeom>
          <a:solidFill>
            <a:srgbClr val="C8692A"/>
          </a:solidFill>
          <a:ln w="12700">
            <a:solidFill>
              <a:srgbClr val="C8692A"/>
            </a:solidFill>
            <a:prstDash val="solid"/>
          </a:ln>
        </p:spPr>
      </p:sp>
      <p:sp>
        <p:nvSpPr>
          <p:cNvPr id="3" name="Text 1"/>
          <p:cNvSpPr/>
          <p:nvPr/>
        </p:nvSpPr>
        <p:spPr>
          <a:xfrm>
            <a:off x="475488" y="164592"/>
            <a:ext cx="8412480" cy="457200"/>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rPr>
              <a:t>Limitations &amp; Potential Improvements</a:t>
            </a:r>
            <a:endParaRPr lang="en-US" sz="20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endParaRPr>
          </a:p>
        </p:txBody>
      </p:sp>
      <p:sp>
        <p:nvSpPr>
          <p:cNvPr id="4" name="Shape 2"/>
          <p:cNvSpPr/>
          <p:nvPr/>
        </p:nvSpPr>
        <p:spPr>
          <a:xfrm>
            <a:off x="320040" y="658368"/>
            <a:ext cx="8503920" cy="18288"/>
          </a:xfrm>
          <a:prstGeom prst="rect">
            <a:avLst/>
          </a:prstGeom>
          <a:solidFill>
            <a:srgbClr val="5C3020"/>
          </a:solidFill>
          <a:ln w="12700">
            <a:solidFill>
              <a:srgbClr val="5C3020"/>
            </a:solidFill>
            <a:prstDash val="solid"/>
          </a:ln>
        </p:spPr>
      </p:sp>
      <p:sp>
        <p:nvSpPr>
          <p:cNvPr id="5" name="Shape 3"/>
          <p:cNvSpPr/>
          <p:nvPr/>
        </p:nvSpPr>
        <p:spPr>
          <a:xfrm>
            <a:off x="320040" y="804672"/>
            <a:ext cx="2743200" cy="347472"/>
          </a:xfrm>
          <a:prstGeom prst="rect">
            <a:avLst/>
          </a:prstGeom>
          <a:solidFill>
            <a:srgbClr val="8B3A1A"/>
          </a:solidFill>
          <a:ln w="12700">
            <a:solidFill>
              <a:srgbClr val="8B3A1A"/>
            </a:solidFill>
            <a:prstDash val="solid"/>
          </a:ln>
        </p:spPr>
      </p:sp>
      <p:sp>
        <p:nvSpPr>
          <p:cNvPr id="6" name="Text 4"/>
          <p:cNvSpPr/>
          <p:nvPr/>
        </p:nvSpPr>
        <p:spPr>
          <a:xfrm>
            <a:off x="411480" y="822960"/>
            <a:ext cx="2560320" cy="310896"/>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rPr>
              <a:t>Data Limitations</a:t>
            </a:r>
            <a:endPar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endParaRPr>
          </a:p>
        </p:txBody>
      </p:sp>
      <p:sp>
        <p:nvSpPr>
          <p:cNvPr id="7" name="Shape 5"/>
          <p:cNvSpPr/>
          <p:nvPr/>
        </p:nvSpPr>
        <p:spPr>
          <a:xfrm>
            <a:off x="320040" y="1280160"/>
            <a:ext cx="2743200" cy="749808"/>
          </a:xfrm>
          <a:prstGeom prst="rect">
            <a:avLst/>
          </a:prstGeom>
          <a:solidFill>
            <a:schemeClr val="accent2">
              <a:lumMod val="20000"/>
              <a:lumOff val="80000"/>
            </a:schemeClr>
          </a:solidFill>
          <a:ln w="6350">
            <a:solidFill>
              <a:srgbClr val="FDEFE6"/>
            </a:solidFill>
            <a:prstDash val="solid"/>
          </a:ln>
        </p:spPr>
      </p:sp>
      <p:sp>
        <p:nvSpPr>
          <p:cNvPr id="8" name="Text 6"/>
          <p:cNvSpPr/>
          <p:nvPr/>
        </p:nvSpPr>
        <p:spPr>
          <a:xfrm>
            <a:off x="429768" y="1353312"/>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Transcript availability gaps</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429895" y="1572895"/>
            <a:ext cx="2606040"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Not all small-cap S&amp;P 500 members publish full transcripts; some rely on press releases</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320040" y="2176272"/>
            <a:ext cx="2743200" cy="749808"/>
          </a:xfrm>
          <a:prstGeom prst="rect">
            <a:avLst/>
          </a:prstGeom>
          <a:solidFill>
            <a:schemeClr val="accent2">
              <a:lumMod val="20000"/>
              <a:lumOff val="80000"/>
            </a:schemeClr>
          </a:solidFill>
          <a:ln w="6350">
            <a:solidFill>
              <a:srgbClr val="FDEFE6"/>
            </a:solidFill>
            <a:prstDash val="solid"/>
          </a:ln>
        </p:spPr>
      </p:sp>
      <p:sp>
        <p:nvSpPr>
          <p:cNvPr id="11" name="Text 9"/>
          <p:cNvSpPr/>
          <p:nvPr/>
        </p:nvSpPr>
        <p:spPr>
          <a:xfrm>
            <a:off x="429768" y="2249424"/>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Survivorship bias (partial)</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429895" y="2468880"/>
            <a:ext cx="2633345"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Deeply distressed firms that stopped reporting mid-year may be underrepresented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320040" y="3072384"/>
            <a:ext cx="2743200" cy="749808"/>
          </a:xfrm>
          <a:prstGeom prst="rect">
            <a:avLst/>
          </a:prstGeom>
          <a:solidFill>
            <a:schemeClr val="accent2">
              <a:lumMod val="20000"/>
              <a:lumOff val="80000"/>
            </a:schemeClr>
          </a:solidFill>
          <a:ln w="6350">
            <a:solidFill>
              <a:srgbClr val="FDEFE6"/>
            </a:solidFill>
            <a:prstDash val="solid"/>
          </a:ln>
        </p:spPr>
      </p:sp>
      <p:sp>
        <p:nvSpPr>
          <p:cNvPr id="14" name="Text 12"/>
          <p:cNvSpPr/>
          <p:nvPr/>
        </p:nvSpPr>
        <p:spPr>
          <a:xfrm>
            <a:off x="429768" y="3145536"/>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Market cap timing</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429768" y="3364992"/>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Quarter-end weights used; intra-quarter float changes ignored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320040" y="3968496"/>
            <a:ext cx="2743200" cy="749808"/>
          </a:xfrm>
          <a:prstGeom prst="rect">
            <a:avLst/>
          </a:prstGeom>
          <a:solidFill>
            <a:schemeClr val="accent2">
              <a:lumMod val="20000"/>
              <a:lumOff val="80000"/>
            </a:schemeClr>
          </a:solidFill>
          <a:ln w="6350">
            <a:solidFill>
              <a:srgbClr val="FDEFE6"/>
            </a:solidFill>
            <a:prstDash val="solid"/>
          </a:ln>
        </p:spPr>
      </p:sp>
      <p:sp>
        <p:nvSpPr>
          <p:cNvPr id="17" name="Text 15"/>
          <p:cNvSpPr/>
          <p:nvPr/>
        </p:nvSpPr>
        <p:spPr>
          <a:xfrm>
            <a:off x="429768" y="4041648"/>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Single language</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429768" y="4261104"/>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Non-English forward guidance (rare ADRs) not handled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3264408" y="804672"/>
            <a:ext cx="2743200" cy="347472"/>
          </a:xfrm>
          <a:prstGeom prst="rect">
            <a:avLst/>
          </a:prstGeom>
          <a:solidFill>
            <a:srgbClr val="C8692A"/>
          </a:solidFill>
          <a:ln w="12700">
            <a:solidFill>
              <a:srgbClr val="C8692A"/>
            </a:solidFill>
            <a:prstDash val="solid"/>
          </a:ln>
        </p:spPr>
      </p:sp>
      <p:sp>
        <p:nvSpPr>
          <p:cNvPr id="20" name="Text 18"/>
          <p:cNvSpPr/>
          <p:nvPr/>
        </p:nvSpPr>
        <p:spPr>
          <a:xfrm>
            <a:off x="3355848" y="822960"/>
            <a:ext cx="2560320" cy="310896"/>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rPr>
              <a:t>Method Limitations</a:t>
            </a:r>
            <a:endPar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endParaRPr>
          </a:p>
        </p:txBody>
      </p:sp>
      <p:sp>
        <p:nvSpPr>
          <p:cNvPr id="21" name="Shape 19"/>
          <p:cNvSpPr/>
          <p:nvPr/>
        </p:nvSpPr>
        <p:spPr>
          <a:xfrm>
            <a:off x="3264408" y="1280160"/>
            <a:ext cx="2743200" cy="749808"/>
          </a:xfrm>
          <a:prstGeom prst="rect">
            <a:avLst/>
          </a:prstGeom>
          <a:solidFill>
            <a:schemeClr val="accent2">
              <a:lumMod val="20000"/>
              <a:lumOff val="80000"/>
            </a:schemeClr>
          </a:solidFill>
          <a:ln w="6350">
            <a:solidFill>
              <a:srgbClr val="FDEFE6"/>
            </a:solidFill>
            <a:prstDash val="solid"/>
          </a:ln>
        </p:spPr>
      </p:sp>
      <p:sp>
        <p:nvSpPr>
          <p:cNvPr id="22" name="Text 20"/>
          <p:cNvSpPr/>
          <p:nvPr/>
        </p:nvSpPr>
        <p:spPr>
          <a:xfrm>
            <a:off x="3374136" y="1353312"/>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LM dictionary staleness</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3374390" y="1572895"/>
            <a:ext cx="2606040"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LM built on pre-AI filings; AI-specific terms ('inference', 'hallucination') unscored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3264408" y="2176272"/>
            <a:ext cx="2743200" cy="749808"/>
          </a:xfrm>
          <a:prstGeom prst="rect">
            <a:avLst/>
          </a:prstGeom>
          <a:solidFill>
            <a:schemeClr val="accent2">
              <a:lumMod val="20000"/>
              <a:lumOff val="80000"/>
            </a:schemeClr>
          </a:solidFill>
          <a:ln w="6350">
            <a:solidFill>
              <a:srgbClr val="FDEFE6"/>
            </a:solidFill>
            <a:prstDash val="solid"/>
          </a:ln>
        </p:spPr>
      </p:sp>
      <p:sp>
        <p:nvSpPr>
          <p:cNvPr id="25" name="Text 23"/>
          <p:cNvSpPr/>
          <p:nvPr/>
        </p:nvSpPr>
        <p:spPr>
          <a:xfrm>
            <a:off x="3374136" y="2249424"/>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FinBERT domain shift</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3374390" y="2468880"/>
            <a:ext cx="2606040"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Trained on news articles, not earnings calls; slight domain mismatch</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3264408" y="3072384"/>
            <a:ext cx="2743200" cy="749808"/>
          </a:xfrm>
          <a:prstGeom prst="rect">
            <a:avLst/>
          </a:prstGeom>
          <a:solidFill>
            <a:schemeClr val="accent2">
              <a:lumMod val="20000"/>
              <a:lumOff val="80000"/>
            </a:schemeClr>
          </a:solidFill>
          <a:ln w="6350">
            <a:solidFill>
              <a:srgbClr val="FDEFE6"/>
            </a:solidFill>
            <a:prstDash val="solid"/>
          </a:ln>
        </p:spPr>
      </p:sp>
      <p:sp>
        <p:nvSpPr>
          <p:cNvPr id="28" name="Text 26"/>
          <p:cNvSpPr/>
          <p:nvPr/>
        </p:nvSpPr>
        <p:spPr>
          <a:xfrm>
            <a:off x="3374136" y="3145536"/>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GPT cost &amp; consistency</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3374136" y="3364992"/>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LLM scoring expensive at scale; minor run-to-run variation without seed control</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Shape 28"/>
          <p:cNvSpPr/>
          <p:nvPr/>
        </p:nvSpPr>
        <p:spPr>
          <a:xfrm>
            <a:off x="3264408" y="3968496"/>
            <a:ext cx="2743200" cy="749808"/>
          </a:xfrm>
          <a:prstGeom prst="rect">
            <a:avLst/>
          </a:prstGeom>
          <a:solidFill>
            <a:schemeClr val="accent2">
              <a:lumMod val="20000"/>
              <a:lumOff val="80000"/>
            </a:schemeClr>
          </a:solidFill>
          <a:ln w="6350">
            <a:solidFill>
              <a:srgbClr val="FDEFE6"/>
            </a:solidFill>
            <a:prstDash val="solid"/>
          </a:ln>
        </p:spPr>
      </p:sp>
      <p:sp>
        <p:nvSpPr>
          <p:cNvPr id="31" name="Text 29"/>
          <p:cNvSpPr/>
          <p:nvPr/>
        </p:nvSpPr>
        <p:spPr>
          <a:xfrm>
            <a:off x="3374136" y="4041648"/>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Quarterly aggregation</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3374136" y="4261104"/>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Monthly or event-driven frequency would better capture intra-quarter shifts</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6208776" y="804672"/>
            <a:ext cx="2743200" cy="347472"/>
          </a:xfrm>
          <a:prstGeom prst="rect">
            <a:avLst/>
          </a:prstGeom>
          <a:solidFill>
            <a:srgbClr val="7B5535"/>
          </a:solidFill>
          <a:ln w="12700">
            <a:solidFill>
              <a:srgbClr val="7B5535"/>
            </a:solidFill>
            <a:prstDash val="solid"/>
          </a:ln>
        </p:spPr>
      </p:sp>
      <p:sp>
        <p:nvSpPr>
          <p:cNvPr id="34" name="Text 32"/>
          <p:cNvSpPr/>
          <p:nvPr/>
        </p:nvSpPr>
        <p:spPr>
          <a:xfrm>
            <a:off x="6300216" y="822960"/>
            <a:ext cx="2560320" cy="310896"/>
          </a:xfrm>
          <a:prstGeom prst="rect">
            <a:avLst/>
          </a:prstGeom>
          <a:noFill/>
        </p:spPr>
        <p:txBody>
          <a:bodyPr wrap="square" lIns="0" tIns="0" rIns="0" bIns="0" rtlCol="0" anchor="ctr"/>
          <a:lstStyle/>
          <a:p>
            <a:pPr marL="0" indent="0" algn="ctr">
              <a:buNone/>
            </a:pPr>
            <a:r>
              <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rPr>
              <a:t>Potential Improvements</a:t>
            </a:r>
            <a:endParaRPr lang="en-US" sz="1100" b="1" dirty="0">
              <a:solidFill>
                <a:srgbClr val="FFFFFF"/>
              </a:solidFill>
              <a:latin typeface="Georgia" panose="02040502050405020303" pitchFamily="34" charset="0"/>
              <a:ea typeface="Calibri" panose="020F0502020204030204" pitchFamily="34" charset="-122"/>
              <a:cs typeface="Georgia" panose="02040502050405020303" pitchFamily="34" charset="0"/>
            </a:endParaRPr>
          </a:p>
        </p:txBody>
      </p:sp>
      <p:sp>
        <p:nvSpPr>
          <p:cNvPr id="35" name="Shape 33"/>
          <p:cNvSpPr/>
          <p:nvPr/>
        </p:nvSpPr>
        <p:spPr>
          <a:xfrm>
            <a:off x="6208776" y="1280160"/>
            <a:ext cx="2743200" cy="749808"/>
          </a:xfrm>
          <a:prstGeom prst="rect">
            <a:avLst/>
          </a:prstGeom>
          <a:solidFill>
            <a:schemeClr val="accent2">
              <a:lumMod val="20000"/>
              <a:lumOff val="80000"/>
            </a:schemeClr>
          </a:solidFill>
          <a:ln w="6350">
            <a:solidFill>
              <a:srgbClr val="FDEFE6"/>
            </a:solidFill>
            <a:prstDash val="solid"/>
          </a:ln>
        </p:spPr>
      </p:sp>
      <p:sp>
        <p:nvSpPr>
          <p:cNvPr id="36" name="Text 34"/>
          <p:cNvSpPr/>
          <p:nvPr/>
        </p:nvSpPr>
        <p:spPr>
          <a:xfrm>
            <a:off x="6318504" y="1353312"/>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Custom earnings-call BERT</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6318250" y="1572895"/>
            <a:ext cx="2606040"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Fine-tune on earnings call corpora (e.g. FinText) for domain-specific accuracy</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Shape 36"/>
          <p:cNvSpPr/>
          <p:nvPr/>
        </p:nvSpPr>
        <p:spPr>
          <a:xfrm>
            <a:off x="6208776" y="2176272"/>
            <a:ext cx="2743200" cy="749808"/>
          </a:xfrm>
          <a:prstGeom prst="rect">
            <a:avLst/>
          </a:prstGeom>
          <a:solidFill>
            <a:schemeClr val="accent2">
              <a:lumMod val="20000"/>
              <a:lumOff val="80000"/>
            </a:schemeClr>
          </a:solidFill>
          <a:ln w="6350">
            <a:solidFill>
              <a:srgbClr val="FDEFE6"/>
            </a:solidFill>
            <a:prstDash val="solid"/>
          </a:ln>
        </p:spPr>
      </p:sp>
      <p:sp>
        <p:nvSpPr>
          <p:cNvPr id="39" name="Text 37"/>
          <p:cNvSpPr/>
          <p:nvPr/>
        </p:nvSpPr>
        <p:spPr>
          <a:xfrm>
            <a:off x="6318504" y="2249424"/>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Higher-frequency data</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6318250" y="2468880"/>
            <a:ext cx="2606040" cy="402590"/>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Use 8-K filings and press releases to generate monthly sentiment index</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Shape 39"/>
          <p:cNvSpPr/>
          <p:nvPr/>
        </p:nvSpPr>
        <p:spPr>
          <a:xfrm>
            <a:off x="6208776" y="3072384"/>
            <a:ext cx="2743200" cy="749808"/>
          </a:xfrm>
          <a:prstGeom prst="rect">
            <a:avLst/>
          </a:prstGeom>
          <a:solidFill>
            <a:schemeClr val="accent2">
              <a:lumMod val="20000"/>
              <a:lumOff val="80000"/>
            </a:schemeClr>
          </a:solidFill>
          <a:ln w="6350">
            <a:solidFill>
              <a:srgbClr val="FDEFE6"/>
            </a:solidFill>
            <a:prstDash val="solid"/>
          </a:ln>
        </p:spPr>
      </p:sp>
      <p:sp>
        <p:nvSpPr>
          <p:cNvPr id="42" name="Text 40"/>
          <p:cNvSpPr/>
          <p:nvPr/>
        </p:nvSpPr>
        <p:spPr>
          <a:xfrm>
            <a:off x="6318504" y="3145536"/>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Named entity linking</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6318504" y="3364992"/>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Attach sentiment to specific products/regions mentioned in FL sentences</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Shape 42"/>
          <p:cNvSpPr/>
          <p:nvPr/>
        </p:nvSpPr>
        <p:spPr>
          <a:xfrm>
            <a:off x="6208776" y="3968496"/>
            <a:ext cx="2743200" cy="749808"/>
          </a:xfrm>
          <a:prstGeom prst="rect">
            <a:avLst/>
          </a:prstGeom>
          <a:solidFill>
            <a:schemeClr val="accent2">
              <a:lumMod val="20000"/>
              <a:lumOff val="80000"/>
            </a:schemeClr>
          </a:solidFill>
          <a:ln w="6350">
            <a:solidFill>
              <a:srgbClr val="FDEFE6"/>
            </a:solidFill>
            <a:prstDash val="solid"/>
          </a:ln>
        </p:spPr>
      </p:sp>
      <p:sp>
        <p:nvSpPr>
          <p:cNvPr id="45" name="Text 43"/>
          <p:cNvSpPr/>
          <p:nvPr/>
        </p:nvSpPr>
        <p:spPr>
          <a:xfrm>
            <a:off x="6318504" y="4041648"/>
            <a:ext cx="2523744" cy="219456"/>
          </a:xfrm>
          <a:prstGeom prst="rect">
            <a:avLst/>
          </a:prstGeom>
          <a:noFill/>
        </p:spPr>
        <p:txBody>
          <a:bodyPr wrap="square" lIns="0" tIns="0" rIns="0" bIns="0" rtlCol="0" anchor="ctr"/>
          <a:lstStyle/>
          <a:p>
            <a:pPr marL="0" indent="0">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Statistical validation</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Text 44"/>
          <p:cNvSpPr/>
          <p:nvPr/>
        </p:nvSpPr>
        <p:spPr>
          <a:xfrm>
            <a:off x="6318504" y="4261104"/>
            <a:ext cx="2523744" cy="402336"/>
          </a:xfrm>
          <a:prstGeom prst="rect">
            <a:avLst/>
          </a:prstGeom>
          <a:noFill/>
        </p:spPr>
        <p:txBody>
          <a:bodyPr wrap="square" lIns="0" tIns="0" rIns="0" bIns="0" rtlCol="0" anchor="t"/>
          <a:lstStyle/>
          <a:p>
            <a:pPr marL="0" indent="0">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Granger causality / VAR testing against ETF returns to validate predictive signal</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C2A1"/>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8B3A1A"/>
          </a:solidFill>
          <a:ln w="12700">
            <a:solidFill>
              <a:srgbClr val="8B3A1A"/>
            </a:solidFill>
            <a:prstDash val="solid"/>
          </a:ln>
        </p:spPr>
      </p:sp>
      <p:sp>
        <p:nvSpPr>
          <p:cNvPr id="3" name="Text 1"/>
          <p:cNvSpPr/>
          <p:nvPr/>
        </p:nvSpPr>
        <p:spPr>
          <a:xfrm>
            <a:off x="594360" y="502920"/>
            <a:ext cx="974725" cy="594360"/>
          </a:xfrm>
          <a:prstGeom prst="rect">
            <a:avLst/>
          </a:prstGeom>
          <a:noFill/>
        </p:spPr>
        <p:txBody>
          <a:bodyPr wrap="square" lIns="0" tIns="0" rIns="0" bIns="0" rtlCol="0" anchor="ctr"/>
          <a:lstStyle/>
          <a:p>
            <a:pPr marL="0" indent="0">
              <a:buNone/>
            </a:pPr>
            <a:r>
              <a:rPr lang="en-US" sz="1200" i="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Exercise 2</a:t>
            </a:r>
            <a:endParaRPr lang="en-US" sz="1200" i="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94360" y="1005840"/>
            <a:ext cx="5943600" cy="1463040"/>
          </a:xfrm>
          <a:prstGeom prst="rect">
            <a:avLst/>
          </a:prstGeom>
          <a:noFill/>
        </p:spPr>
        <p:txBody>
          <a:bodyPr wrap="square" lIns="0" tIns="0" rIns="0" bIns="0" rtlCol="0" anchor="t"/>
          <a:lstStyle/>
          <a:p>
            <a:pPr marL="0" indent="0">
              <a:buNone/>
            </a:pPr>
            <a:r>
              <a:rPr lang="en-US" sz="38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LLM Fundamental</a:t>
            </a:r>
            <a:endParaRPr lang="en-US" sz="3800" dirty="0">
              <a:solidFill>
                <a:schemeClr val="accent2">
                  <a:lumMod val="50000"/>
                </a:schemeClr>
              </a:solidFill>
            </a:endParaRPr>
          </a:p>
          <a:p>
            <a:pPr marL="0" indent="0">
              <a:buNone/>
            </a:pPr>
            <a:r>
              <a:rPr lang="en-US" sz="38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Valuation Agent</a:t>
            </a:r>
            <a:endParaRPr lang="en-US" sz="38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594360" y="2450592"/>
            <a:ext cx="5669280" cy="411480"/>
          </a:xfrm>
          <a:prstGeom prst="rect">
            <a:avLst/>
          </a:prstGeom>
          <a:noFill/>
        </p:spPr>
        <p:txBody>
          <a:bodyPr wrap="square" lIns="0" tIns="0" rIns="0" bIns="0" rtlCol="0" anchor="ctr"/>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NVIDIA Corporation (NVDA)  ·  Two TTM Windows  ·  With vs Without Sentiment</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94360" y="2907792"/>
            <a:ext cx="4114800" cy="36576"/>
          </a:xfrm>
          <a:prstGeom prst="rect">
            <a:avLst/>
          </a:prstGeom>
          <a:solidFill>
            <a:srgbClr val="8B3A1A"/>
          </a:solidFill>
          <a:ln w="12700">
            <a:solidFill>
              <a:srgbClr val="8B3A1A"/>
            </a:solidFill>
            <a:prstDash val="solid"/>
          </a:ln>
        </p:spPr>
      </p:sp>
      <p:sp>
        <p:nvSpPr>
          <p:cNvPr id="7" name="Shape 5"/>
          <p:cNvSpPr/>
          <p:nvPr/>
        </p:nvSpPr>
        <p:spPr>
          <a:xfrm>
            <a:off x="594360" y="3035808"/>
            <a:ext cx="347472" cy="274320"/>
          </a:xfrm>
          <a:prstGeom prst="rect">
            <a:avLst/>
          </a:prstGeom>
          <a:solidFill>
            <a:srgbClr val="C8692A"/>
          </a:solidFill>
          <a:ln w="12700">
            <a:solidFill>
              <a:srgbClr val="C8692A"/>
            </a:solidFill>
            <a:prstDash val="solid"/>
          </a:ln>
        </p:spPr>
      </p:sp>
      <p:sp>
        <p:nvSpPr>
          <p:cNvPr id="8" name="Text 6"/>
          <p:cNvSpPr/>
          <p:nvPr/>
        </p:nvSpPr>
        <p:spPr>
          <a:xfrm>
            <a:off x="594360" y="3035808"/>
            <a:ext cx="347472" cy="274320"/>
          </a:xfrm>
          <a:prstGeom prst="rect">
            <a:avLst/>
          </a:prstGeom>
          <a:solidFill>
            <a:srgbClr val="C8692A"/>
          </a:solidFill>
          <a:ln>
            <a:solidFill>
              <a:srgbClr val="C8692A"/>
            </a:solidFill>
          </a:ln>
        </p:spPr>
        <p:txBody>
          <a:bodyPr wrap="square" lIns="0" tIns="0" rIns="0" bIns="0" rtlCol="0" anchor="ctr"/>
          <a:lstStyle/>
          <a:p>
            <a:pPr marL="0" indent="0" algn="ctr">
              <a:buNone/>
            </a:pPr>
            <a:r>
              <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01</a:t>
            </a:r>
            <a:endPar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1005840" y="3044952"/>
            <a:ext cx="2743200" cy="13716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TTM Valuation Metrics</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1005840" y="3182112"/>
            <a:ext cx="3200400" cy="11887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P/E · P/S · P/FCF</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94360" y="3419856"/>
            <a:ext cx="347472" cy="274320"/>
          </a:xfrm>
          <a:prstGeom prst="rect">
            <a:avLst/>
          </a:prstGeom>
          <a:solidFill>
            <a:srgbClr val="C8692A"/>
          </a:solidFill>
          <a:ln w="12700">
            <a:solidFill>
              <a:srgbClr val="C8692A"/>
            </a:solidFill>
            <a:prstDash val="solid"/>
          </a:ln>
        </p:spPr>
      </p:sp>
      <p:sp>
        <p:nvSpPr>
          <p:cNvPr id="12" name="Text 10"/>
          <p:cNvSpPr/>
          <p:nvPr/>
        </p:nvSpPr>
        <p:spPr>
          <a:xfrm>
            <a:off x="594360" y="3419856"/>
            <a:ext cx="347472" cy="274320"/>
          </a:xfrm>
          <a:prstGeom prst="rect">
            <a:avLst/>
          </a:prstGeom>
          <a:solidFill>
            <a:srgbClr val="C8692A"/>
          </a:solidFill>
          <a:ln>
            <a:solidFill>
              <a:srgbClr val="C8692A"/>
            </a:solidFill>
          </a:ln>
        </p:spPr>
        <p:txBody>
          <a:bodyPr wrap="square" lIns="0" tIns="0" rIns="0" bIns="0" rtlCol="0" anchor="ctr"/>
          <a:lstStyle/>
          <a:p>
            <a:pPr marL="0" indent="0" algn="ctr">
              <a:buNone/>
            </a:pPr>
            <a:r>
              <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02</a:t>
            </a:r>
            <a:endPar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1005840" y="3429000"/>
            <a:ext cx="2743200" cy="13716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Sentiment Augmentation</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1005840" y="3566160"/>
            <a:ext cx="3200400" cy="11887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LM · FinBERT · GPT (Ex.1)</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594360" y="3803904"/>
            <a:ext cx="347472" cy="274320"/>
          </a:xfrm>
          <a:prstGeom prst="rect">
            <a:avLst/>
          </a:prstGeom>
          <a:solidFill>
            <a:srgbClr val="C8692A"/>
          </a:solidFill>
          <a:ln w="12700">
            <a:solidFill>
              <a:srgbClr val="C8692A"/>
            </a:solidFill>
            <a:prstDash val="solid"/>
          </a:ln>
        </p:spPr>
      </p:sp>
      <p:sp>
        <p:nvSpPr>
          <p:cNvPr id="16" name="Text 14"/>
          <p:cNvSpPr/>
          <p:nvPr/>
        </p:nvSpPr>
        <p:spPr>
          <a:xfrm>
            <a:off x="594360" y="3803904"/>
            <a:ext cx="347472" cy="274320"/>
          </a:xfrm>
          <a:prstGeom prst="rect">
            <a:avLst/>
          </a:prstGeom>
          <a:solidFill>
            <a:srgbClr val="C8692A"/>
          </a:solidFill>
          <a:ln>
            <a:solidFill>
              <a:srgbClr val="C8692A"/>
            </a:solidFill>
          </a:ln>
        </p:spPr>
        <p:txBody>
          <a:bodyPr wrap="square" lIns="0" tIns="0" rIns="0" bIns="0" rtlCol="0" anchor="ctr"/>
          <a:lstStyle/>
          <a:p>
            <a:pPr marL="0" indent="0" algn="ctr">
              <a:buNone/>
            </a:pPr>
            <a:r>
              <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03</a:t>
            </a:r>
            <a:endPar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1005840" y="3813048"/>
            <a:ext cx="2743200" cy="13716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GPT-4o Agent Decisions</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1005840" y="3950208"/>
            <a:ext cx="3200400" cy="11887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Buy / Sell / Hold + Thesis</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594360" y="4187952"/>
            <a:ext cx="347472" cy="274320"/>
          </a:xfrm>
          <a:prstGeom prst="rect">
            <a:avLst/>
          </a:prstGeom>
          <a:solidFill>
            <a:srgbClr val="C8692A"/>
          </a:solidFill>
          <a:ln w="12700">
            <a:solidFill>
              <a:srgbClr val="C8692A"/>
            </a:solidFill>
            <a:prstDash val="solid"/>
          </a:ln>
        </p:spPr>
      </p:sp>
      <p:sp>
        <p:nvSpPr>
          <p:cNvPr id="20" name="Text 18"/>
          <p:cNvSpPr/>
          <p:nvPr/>
        </p:nvSpPr>
        <p:spPr>
          <a:xfrm>
            <a:off x="594360" y="4187952"/>
            <a:ext cx="347472" cy="274320"/>
          </a:xfrm>
          <a:prstGeom prst="rect">
            <a:avLst/>
          </a:prstGeom>
          <a:solidFill>
            <a:srgbClr val="C8692A"/>
          </a:solidFill>
          <a:ln>
            <a:solidFill>
              <a:srgbClr val="C8692A"/>
            </a:solidFill>
          </a:ln>
        </p:spPr>
        <p:txBody>
          <a:bodyPr wrap="square" lIns="0" tIns="0" rIns="0" bIns="0" rtlCol="0" anchor="ctr"/>
          <a:lstStyle/>
          <a:p>
            <a:pPr marL="0" indent="0" algn="ctr">
              <a:buNone/>
            </a:pPr>
            <a:r>
              <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04</a:t>
            </a:r>
            <a:endPar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1005840" y="4197096"/>
            <a:ext cx="2743200" cy="13716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Backtesting &amp; Sharpe</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1005840" y="4334256"/>
            <a:ext cx="3200400" cy="11887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Yahoo Finance price data</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594360" y="4572000"/>
            <a:ext cx="347472" cy="274320"/>
          </a:xfrm>
          <a:prstGeom prst="rect">
            <a:avLst/>
          </a:prstGeom>
          <a:solidFill>
            <a:srgbClr val="C8692A"/>
          </a:solidFill>
          <a:ln w="12700">
            <a:solidFill>
              <a:srgbClr val="C8692A"/>
            </a:solidFill>
            <a:prstDash val="solid"/>
          </a:ln>
        </p:spPr>
      </p:sp>
      <p:sp>
        <p:nvSpPr>
          <p:cNvPr id="24" name="Text 22"/>
          <p:cNvSpPr/>
          <p:nvPr/>
        </p:nvSpPr>
        <p:spPr>
          <a:xfrm>
            <a:off x="594360" y="4572000"/>
            <a:ext cx="347472" cy="274320"/>
          </a:xfrm>
          <a:prstGeom prst="rect">
            <a:avLst/>
          </a:prstGeom>
          <a:solidFill>
            <a:srgbClr val="C8692A"/>
          </a:solidFill>
          <a:ln>
            <a:solidFill>
              <a:srgbClr val="C8692A"/>
            </a:solidFill>
          </a:ln>
        </p:spPr>
        <p:txBody>
          <a:bodyPr wrap="square" lIns="0" tIns="0" rIns="0" bIns="0" rtlCol="0" anchor="ctr"/>
          <a:lstStyle/>
          <a:p>
            <a:pPr marL="0" indent="0" algn="ctr">
              <a:buNone/>
            </a:pPr>
            <a:r>
              <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rPr>
              <a:t>05</a:t>
            </a:r>
            <a:endParaRPr lang="en-US" sz="1200" b="1" dirty="0">
              <a:solidFill>
                <a:schemeClr val="accent2">
                  <a:lumMod val="20000"/>
                  <a:lumOff val="8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1005840" y="4581144"/>
            <a:ext cx="2743200" cy="13716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Findings &amp; Limitations</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1005840" y="4718304"/>
            <a:ext cx="3200400" cy="11887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Qualitative &amp; quantitative</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5899150" y="1005840"/>
            <a:ext cx="1234440" cy="1234440"/>
          </a:xfrm>
          <a:prstGeom prst="rect">
            <a:avLst/>
          </a:prstGeom>
          <a:solidFill>
            <a:schemeClr val="accent2">
              <a:lumMod val="60000"/>
              <a:lumOff val="40000"/>
            </a:schemeClr>
          </a:solidFill>
          <a:ln w="12700">
            <a:noFill/>
            <a:prstDash val="solid"/>
          </a:ln>
        </p:spPr>
      </p:sp>
      <p:sp>
        <p:nvSpPr>
          <p:cNvPr id="28" name="Text 26"/>
          <p:cNvSpPr/>
          <p:nvPr/>
        </p:nvSpPr>
        <p:spPr>
          <a:xfrm>
            <a:off x="5899150" y="1170432"/>
            <a:ext cx="1234440" cy="502920"/>
          </a:xfrm>
          <a:prstGeom prst="rect">
            <a:avLst/>
          </a:prstGeom>
          <a:noFill/>
        </p:spPr>
        <p:txBody>
          <a:bodyPr wrap="square" lIns="0" tIns="0" rIns="0" bIns="0" rtlCol="0" anchor="ctr"/>
          <a:lstStyle/>
          <a:p>
            <a:pPr marL="0" indent="0" algn="ctr">
              <a:buNone/>
            </a:pPr>
            <a:r>
              <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rPr>
              <a:t>2</a:t>
            </a:r>
            <a:endPar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endParaRPr>
          </a:p>
        </p:txBody>
      </p:sp>
      <p:sp>
        <p:nvSpPr>
          <p:cNvPr id="29" name="Text 27"/>
          <p:cNvSpPr/>
          <p:nvPr/>
        </p:nvSpPr>
        <p:spPr>
          <a:xfrm>
            <a:off x="5899150" y="1645920"/>
            <a:ext cx="123444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TTM Windows</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5899150" y="1892808"/>
            <a:ext cx="1234440" cy="201168"/>
          </a:xfrm>
          <a:prstGeom prst="rect">
            <a:avLst/>
          </a:prstGeom>
          <a:noFill/>
        </p:spPr>
        <p:txBody>
          <a:bodyPr wrap="square" lIns="0" tIns="0" rIns="0" bIns="0" rtlCol="0" anchor="ctr"/>
          <a:lstStyle/>
          <a:p>
            <a:pPr marL="0" indent="0" algn="ctr">
              <a:buNone/>
            </a:pPr>
            <a:r>
              <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rPr>
              <a:t>Feb &amp; Aug 2024</a:t>
            </a:r>
            <a:endPar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7225030" y="1005840"/>
            <a:ext cx="1234440" cy="1234440"/>
          </a:xfrm>
          <a:prstGeom prst="rect">
            <a:avLst/>
          </a:prstGeom>
          <a:solidFill>
            <a:schemeClr val="accent2">
              <a:lumMod val="60000"/>
              <a:lumOff val="40000"/>
            </a:schemeClr>
          </a:solidFill>
          <a:ln w="12700">
            <a:noFill/>
            <a:prstDash val="solid"/>
          </a:ln>
        </p:spPr>
      </p:sp>
      <p:sp>
        <p:nvSpPr>
          <p:cNvPr id="32" name="Text 30"/>
          <p:cNvSpPr/>
          <p:nvPr/>
        </p:nvSpPr>
        <p:spPr>
          <a:xfrm>
            <a:off x="7225030" y="1170432"/>
            <a:ext cx="1234440" cy="502920"/>
          </a:xfrm>
          <a:prstGeom prst="rect">
            <a:avLst/>
          </a:prstGeom>
          <a:noFill/>
        </p:spPr>
        <p:txBody>
          <a:bodyPr wrap="square" lIns="0" tIns="0" rIns="0" bIns="0" rtlCol="0" anchor="ctr"/>
          <a:lstStyle/>
          <a:p>
            <a:pPr marL="0" indent="0" algn="ctr">
              <a:buNone/>
            </a:pPr>
            <a:r>
              <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rPr>
              <a:t>3</a:t>
            </a:r>
            <a:endPar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endParaRPr>
          </a:p>
        </p:txBody>
      </p:sp>
      <p:sp>
        <p:nvSpPr>
          <p:cNvPr id="33" name="Text 31"/>
          <p:cNvSpPr/>
          <p:nvPr/>
        </p:nvSpPr>
        <p:spPr>
          <a:xfrm>
            <a:off x="7225030" y="1645920"/>
            <a:ext cx="123444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Sentiment Methods</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7225030" y="1892808"/>
            <a:ext cx="1234440" cy="201168"/>
          </a:xfrm>
          <a:prstGeom prst="rect">
            <a:avLst/>
          </a:prstGeom>
          <a:noFill/>
        </p:spPr>
        <p:txBody>
          <a:bodyPr wrap="square" lIns="0" tIns="0" rIns="0" bIns="0" rtlCol="0" anchor="ctr"/>
          <a:lstStyle/>
          <a:p>
            <a:pPr marL="0" indent="0" algn="ctr">
              <a:buNone/>
            </a:pPr>
            <a:r>
              <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rPr>
              <a:t>LM · FinBERT · GPT</a:t>
            </a:r>
            <a:endPar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nvSpPr>
        <p:spPr>
          <a:xfrm>
            <a:off x="5899150" y="2423160"/>
            <a:ext cx="1234440" cy="1234440"/>
          </a:xfrm>
          <a:prstGeom prst="rect">
            <a:avLst/>
          </a:prstGeom>
          <a:solidFill>
            <a:schemeClr val="accent2">
              <a:lumMod val="60000"/>
              <a:lumOff val="40000"/>
            </a:schemeClr>
          </a:solidFill>
          <a:ln w="12700">
            <a:noFill/>
            <a:prstDash val="solid"/>
          </a:ln>
        </p:spPr>
      </p:sp>
      <p:sp>
        <p:nvSpPr>
          <p:cNvPr id="36" name="Text 34"/>
          <p:cNvSpPr/>
          <p:nvPr/>
        </p:nvSpPr>
        <p:spPr>
          <a:xfrm>
            <a:off x="5899150" y="2587752"/>
            <a:ext cx="1234440" cy="502920"/>
          </a:xfrm>
          <a:prstGeom prst="rect">
            <a:avLst/>
          </a:prstGeom>
          <a:noFill/>
        </p:spPr>
        <p:txBody>
          <a:bodyPr wrap="square" lIns="0" tIns="0" rIns="0" bIns="0" rtlCol="0" anchor="ctr"/>
          <a:lstStyle/>
          <a:p>
            <a:pPr marL="0" indent="0" algn="ctr">
              <a:buNone/>
            </a:pPr>
            <a:r>
              <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rPr>
              <a:t>+185%</a:t>
            </a:r>
            <a:endPar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endParaRPr>
          </a:p>
        </p:txBody>
      </p:sp>
      <p:sp>
        <p:nvSpPr>
          <p:cNvPr id="37" name="Text 35"/>
          <p:cNvSpPr/>
          <p:nvPr/>
        </p:nvSpPr>
        <p:spPr>
          <a:xfrm>
            <a:off x="5899150" y="3063240"/>
            <a:ext cx="1234440" cy="274320"/>
          </a:xfrm>
          <a:prstGeom prst="rect">
            <a:avLst/>
          </a:prstGeom>
          <a:noFill/>
        </p:spPr>
        <p:txBody>
          <a:bodyPr wrap="square" lIns="0" tIns="0" rIns="0" bIns="0" rtlCol="0" anchor="ctr"/>
          <a:lstStyle/>
          <a:p>
            <a:pPr marL="0" indent="0" algn="ctr">
              <a:buNone/>
            </a:pPr>
            <a:r>
              <a:rPr lang="en-US" sz="1000" b="1" dirty="0">
                <a:solidFill>
                  <a:schemeClr val="bg1"/>
                </a:solidFill>
                <a:latin typeface="Calibri" panose="020F0502020204030204" pitchFamily="34" charset="0"/>
                <a:ea typeface="Calibri" panose="020F0502020204030204" pitchFamily="34" charset="-122"/>
                <a:cs typeface="Calibri" panose="020F0502020204030204" pitchFamily="34" charset="-120"/>
              </a:rPr>
              <a:t>Buy-and-Hold Return</a:t>
            </a:r>
            <a:endParaRPr lang="en-US" sz="1000" b="1"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Text 36"/>
          <p:cNvSpPr/>
          <p:nvPr/>
        </p:nvSpPr>
        <p:spPr>
          <a:xfrm>
            <a:off x="5899150" y="3310128"/>
            <a:ext cx="1234440" cy="201168"/>
          </a:xfrm>
          <a:prstGeom prst="rect">
            <a:avLst/>
          </a:prstGeom>
          <a:noFill/>
        </p:spPr>
        <p:txBody>
          <a:bodyPr wrap="square" lIns="0" tIns="0" rIns="0" bIns="0" rtlCol="0" anchor="ctr"/>
          <a:lstStyle/>
          <a:p>
            <a:pPr marL="0" indent="0" algn="ctr">
              <a:buNone/>
            </a:pPr>
            <a:r>
              <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rPr>
              <a:t>NVDA full-year 2024</a:t>
            </a:r>
            <a:endPar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Shape 37"/>
          <p:cNvSpPr/>
          <p:nvPr/>
        </p:nvSpPr>
        <p:spPr>
          <a:xfrm>
            <a:off x="7225030" y="2423160"/>
            <a:ext cx="1234440" cy="1234440"/>
          </a:xfrm>
          <a:prstGeom prst="rect">
            <a:avLst/>
          </a:prstGeom>
          <a:solidFill>
            <a:schemeClr val="accent2">
              <a:lumMod val="60000"/>
              <a:lumOff val="40000"/>
            </a:schemeClr>
          </a:solidFill>
          <a:ln w="12700">
            <a:noFill/>
            <a:prstDash val="solid"/>
          </a:ln>
        </p:spPr>
      </p:sp>
      <p:sp>
        <p:nvSpPr>
          <p:cNvPr id="40" name="Text 38"/>
          <p:cNvSpPr/>
          <p:nvPr/>
        </p:nvSpPr>
        <p:spPr>
          <a:xfrm>
            <a:off x="7225030" y="2587752"/>
            <a:ext cx="1234440" cy="502920"/>
          </a:xfrm>
          <a:prstGeom prst="rect">
            <a:avLst/>
          </a:prstGeom>
          <a:noFill/>
        </p:spPr>
        <p:txBody>
          <a:bodyPr wrap="square" lIns="0" tIns="0" rIns="0" bIns="0" rtlCol="0" anchor="ctr"/>
          <a:lstStyle/>
          <a:p>
            <a:pPr marL="0" indent="0" algn="ctr">
              <a:buNone/>
            </a:pPr>
            <a:r>
              <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rPr>
              <a:t>2.18</a:t>
            </a:r>
            <a:endParaRPr lang="en-US" sz="2800" b="1" dirty="0">
              <a:solidFill>
                <a:srgbClr val="8B3A1A"/>
              </a:solidFill>
              <a:latin typeface="Georgia" panose="02040502050405020303" pitchFamily="34" charset="0"/>
              <a:ea typeface="Calibri" panose="020F0502020204030204" pitchFamily="34" charset="-122"/>
              <a:cs typeface="Georgia" panose="02040502050405020303" pitchFamily="34" charset="0"/>
            </a:endParaRPr>
          </a:p>
        </p:txBody>
      </p:sp>
      <p:sp>
        <p:nvSpPr>
          <p:cNvPr id="41" name="Text 39"/>
          <p:cNvSpPr/>
          <p:nvPr/>
        </p:nvSpPr>
        <p:spPr>
          <a:xfrm>
            <a:off x="7225030" y="3063240"/>
            <a:ext cx="123444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B&amp;H Sharpe Ratio</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2" name="Text 40"/>
          <p:cNvSpPr/>
          <p:nvPr/>
        </p:nvSpPr>
        <p:spPr>
          <a:xfrm>
            <a:off x="7225030" y="3310128"/>
            <a:ext cx="1234440" cy="201168"/>
          </a:xfrm>
          <a:prstGeom prst="rect">
            <a:avLst/>
          </a:prstGeom>
          <a:noFill/>
        </p:spPr>
        <p:txBody>
          <a:bodyPr wrap="square" lIns="0" tIns="0" rIns="0" bIns="0" rtlCol="0" anchor="ctr"/>
          <a:lstStyle/>
          <a:p>
            <a:pPr marL="0" indent="0" algn="ctr">
              <a:buNone/>
            </a:pPr>
            <a:r>
              <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rPr>
              <a:t>Risk-free rate 5%</a:t>
            </a:r>
            <a:endParaRPr lang="en-US" sz="9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594360" y="4892040"/>
            <a:ext cx="8229600" cy="164592"/>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F550 Application of AI in Finance  ·  Exercise 2  ·  NVDA Valuation Agent  ·  2024</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AF7F4"/>
          </a:solidFill>
          <a:ln w="12700">
            <a:solidFill>
              <a:srgbClr val="FAF7F4"/>
            </a:solidFill>
            <a:prstDash val="solid"/>
          </a:ln>
        </p:spPr>
      </p:sp>
      <p:sp>
        <p:nvSpPr>
          <p:cNvPr id="3" name="Shape 1"/>
          <p:cNvSpPr/>
          <p:nvPr/>
        </p:nvSpPr>
        <p:spPr>
          <a:xfrm>
            <a:off x="0" y="0"/>
            <a:ext cx="201168" cy="658368"/>
          </a:xfrm>
          <a:prstGeom prst="rect">
            <a:avLst/>
          </a:prstGeom>
          <a:solidFill>
            <a:srgbClr val="8B3A1A"/>
          </a:solidFill>
          <a:ln w="12700">
            <a:solidFill>
              <a:srgbClr val="8B3A1A"/>
            </a:solidFill>
            <a:prstDash val="solid"/>
          </a:ln>
        </p:spPr>
      </p:sp>
      <p:sp>
        <p:nvSpPr>
          <p:cNvPr id="4" name="Text 2"/>
          <p:cNvSpPr/>
          <p:nvPr/>
        </p:nvSpPr>
        <p:spPr>
          <a:xfrm>
            <a:off x="320040" y="0"/>
            <a:ext cx="5943600" cy="658368"/>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Framework &amp; Methodology</a:t>
            </a:r>
            <a:endPar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56032" y="804672"/>
            <a:ext cx="1572768" cy="2240280"/>
          </a:xfrm>
          <a:prstGeom prst="rect">
            <a:avLst/>
          </a:prstGeom>
          <a:solidFill>
            <a:srgbClr val="FFFFFF"/>
          </a:solidFill>
          <a:ln w="12700">
            <a:solidFill>
              <a:schemeClr val="accent2">
                <a:lumMod val="50000"/>
              </a:schemeClr>
            </a:solidFill>
            <a:prstDash val="solid"/>
          </a:ln>
          <a:effectLst>
            <a:outerShdw blurRad="101600" dist="38100" dir="8100000" algn="bl" rotWithShape="0">
              <a:srgbClr val="000000">
                <a:alpha val="12000"/>
              </a:srgbClr>
            </a:outerShdw>
          </a:effectLst>
        </p:spPr>
      </p:sp>
      <p:sp>
        <p:nvSpPr>
          <p:cNvPr id="9" name="Shape 7"/>
          <p:cNvSpPr/>
          <p:nvPr/>
        </p:nvSpPr>
        <p:spPr>
          <a:xfrm>
            <a:off x="256032" y="804672"/>
            <a:ext cx="1572768" cy="256032"/>
          </a:xfrm>
          <a:prstGeom prst="rect">
            <a:avLst/>
          </a:prstGeom>
          <a:solidFill>
            <a:schemeClr val="accent2">
              <a:lumMod val="75000"/>
            </a:schemeClr>
          </a:solidFill>
          <a:ln w="12700">
            <a:noFill/>
            <a:prstDash val="solid"/>
          </a:ln>
        </p:spPr>
      </p:sp>
      <p:sp>
        <p:nvSpPr>
          <p:cNvPr id="10" name="Text 8"/>
          <p:cNvSpPr/>
          <p:nvPr/>
        </p:nvSpPr>
        <p:spPr>
          <a:xfrm>
            <a:off x="256032" y="804672"/>
            <a:ext cx="1572768" cy="256032"/>
          </a:xfrm>
          <a:prstGeom prst="rect">
            <a:avLst/>
          </a:prstGeom>
          <a:solidFill>
            <a:schemeClr val="accent2">
              <a:lumMod val="75000"/>
            </a:schemeClr>
          </a:solidFill>
          <a:ln>
            <a:no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Market Data</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813816" y="1115568"/>
            <a:ext cx="457200" cy="3200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310896" y="1481328"/>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yfinance</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310896" y="1783080"/>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251 trading days</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310896" y="2084832"/>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2024-01-01 to</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310896" y="2386584"/>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2024-12-30</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2020824" y="804672"/>
            <a:ext cx="1572768" cy="2240280"/>
          </a:xfrm>
          <a:prstGeom prst="rect">
            <a:avLst/>
          </a:prstGeom>
          <a:solidFill>
            <a:srgbClr val="FFFFFF"/>
          </a:solidFill>
          <a:ln w="12700">
            <a:solidFill>
              <a:schemeClr val="accent2">
                <a:lumMod val="75000"/>
              </a:schemeClr>
            </a:solidFill>
            <a:prstDash val="solid"/>
          </a:ln>
          <a:effectLst>
            <a:outerShdw blurRad="101600" dist="38100" dir="8100000" algn="bl" rotWithShape="0">
              <a:srgbClr val="000000">
                <a:alpha val="12000"/>
              </a:srgbClr>
            </a:outerShdw>
          </a:effectLst>
        </p:spPr>
      </p:sp>
      <p:sp>
        <p:nvSpPr>
          <p:cNvPr id="19" name="Shape 17"/>
          <p:cNvSpPr/>
          <p:nvPr/>
        </p:nvSpPr>
        <p:spPr>
          <a:xfrm>
            <a:off x="2020824" y="804672"/>
            <a:ext cx="1572768" cy="256032"/>
          </a:xfrm>
          <a:prstGeom prst="rect">
            <a:avLst/>
          </a:prstGeom>
          <a:solidFill>
            <a:schemeClr val="accent2">
              <a:lumMod val="75000"/>
            </a:schemeClr>
          </a:solidFill>
          <a:ln w="12700">
            <a:noFill/>
            <a:prstDash val="solid"/>
          </a:ln>
        </p:spPr>
      </p:sp>
      <p:sp>
        <p:nvSpPr>
          <p:cNvPr id="20" name="Text 18"/>
          <p:cNvSpPr/>
          <p:nvPr/>
        </p:nvSpPr>
        <p:spPr>
          <a:xfrm>
            <a:off x="2020824" y="804672"/>
            <a:ext cx="1572768" cy="256032"/>
          </a:xfrm>
          <a:prstGeom prst="rect">
            <a:avLst/>
          </a:prstGeom>
          <a:solidFill>
            <a:schemeClr val="accent2">
              <a:lumMod val="75000"/>
            </a:schemeClr>
          </a:solidFill>
          <a:ln>
            <a:no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TTM Fundamentals</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2578608" y="1115568"/>
            <a:ext cx="457200" cy="3200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2075688" y="1481328"/>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yfinance quarterly</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2075688" y="1783080"/>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Revenue · Net Income</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2075688" y="2084832"/>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OCF · CapEx · FCF</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2075688" y="2386584"/>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P/S · P/E · P/FCF</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3785616" y="804672"/>
            <a:ext cx="1572768" cy="2240280"/>
          </a:xfrm>
          <a:prstGeom prst="rect">
            <a:avLst/>
          </a:prstGeom>
          <a:solidFill>
            <a:srgbClr val="FFFFFF"/>
          </a:solidFill>
          <a:ln w="12700">
            <a:solidFill>
              <a:schemeClr val="accent2">
                <a:lumMod val="60000"/>
                <a:lumOff val="40000"/>
              </a:schemeClr>
            </a:solidFill>
            <a:prstDash val="solid"/>
          </a:ln>
          <a:effectLst>
            <a:outerShdw blurRad="101600" dist="38100" dir="8100000" algn="bl" rotWithShape="0">
              <a:srgbClr val="000000">
                <a:alpha val="12000"/>
              </a:srgbClr>
            </a:outerShdw>
          </a:effectLst>
        </p:spPr>
      </p:sp>
      <p:sp>
        <p:nvSpPr>
          <p:cNvPr id="29" name="Shape 27"/>
          <p:cNvSpPr/>
          <p:nvPr/>
        </p:nvSpPr>
        <p:spPr>
          <a:xfrm>
            <a:off x="3785616" y="804672"/>
            <a:ext cx="1572768" cy="256032"/>
          </a:xfrm>
          <a:prstGeom prst="rect">
            <a:avLst/>
          </a:prstGeom>
          <a:solidFill>
            <a:schemeClr val="accent2">
              <a:lumMod val="75000"/>
            </a:schemeClr>
          </a:solidFill>
          <a:ln w="12700">
            <a:noFill/>
            <a:prstDash val="solid"/>
          </a:ln>
        </p:spPr>
      </p:sp>
      <p:sp>
        <p:nvSpPr>
          <p:cNvPr id="30" name="Text 28"/>
          <p:cNvSpPr/>
          <p:nvPr/>
        </p:nvSpPr>
        <p:spPr>
          <a:xfrm>
            <a:off x="3785616" y="804672"/>
            <a:ext cx="1572768" cy="256032"/>
          </a:xfrm>
          <a:prstGeom prst="rect">
            <a:avLst/>
          </a:prstGeom>
          <a:solidFill>
            <a:schemeClr val="accent2">
              <a:lumMod val="75000"/>
            </a:schemeClr>
          </a:solidFill>
          <a:ln>
            <a:no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Sentiment (Ex.1)</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4343400" y="1115568"/>
            <a:ext cx="457200" cy="3200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2" name="Text 30"/>
          <p:cNvSpPr/>
          <p:nvPr/>
        </p:nvSpPr>
        <p:spPr>
          <a:xfrm>
            <a:off x="3840480" y="1481328"/>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LM Lexicon score</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p:nvPr/>
        </p:nvSpPr>
        <p:spPr>
          <a:xfrm>
            <a:off x="3840480" y="1783080"/>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FinBERT score</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3840480" y="2084832"/>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GPT intensity (0–10)</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3840480" y="2386584"/>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2023Q4 &amp; 2024Q2</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Shape 36"/>
          <p:cNvSpPr/>
          <p:nvPr/>
        </p:nvSpPr>
        <p:spPr>
          <a:xfrm>
            <a:off x="5550408" y="804672"/>
            <a:ext cx="1572768" cy="2240280"/>
          </a:xfrm>
          <a:prstGeom prst="rect">
            <a:avLst/>
          </a:prstGeom>
          <a:solidFill>
            <a:srgbClr val="FFFFFF"/>
          </a:solidFill>
          <a:ln w="12700">
            <a:solidFill>
              <a:schemeClr val="accent2">
                <a:lumMod val="40000"/>
                <a:lumOff val="60000"/>
              </a:schemeClr>
            </a:solidFill>
            <a:prstDash val="solid"/>
          </a:ln>
          <a:effectLst>
            <a:outerShdw blurRad="101600" dist="38100" dir="8100000" algn="bl" rotWithShape="0">
              <a:srgbClr val="000000">
                <a:alpha val="12000"/>
              </a:srgbClr>
            </a:outerShdw>
          </a:effectLst>
        </p:spPr>
      </p:sp>
      <p:sp>
        <p:nvSpPr>
          <p:cNvPr id="39" name="Shape 37"/>
          <p:cNvSpPr/>
          <p:nvPr/>
        </p:nvSpPr>
        <p:spPr>
          <a:xfrm>
            <a:off x="5550408" y="804672"/>
            <a:ext cx="1572768" cy="256032"/>
          </a:xfrm>
          <a:prstGeom prst="rect">
            <a:avLst/>
          </a:prstGeom>
          <a:solidFill>
            <a:schemeClr val="accent2">
              <a:lumMod val="75000"/>
            </a:schemeClr>
          </a:solidFill>
          <a:ln w="12700">
            <a:noFill/>
            <a:prstDash val="solid"/>
          </a:ln>
        </p:spPr>
      </p:sp>
      <p:sp>
        <p:nvSpPr>
          <p:cNvPr id="40" name="Text 38"/>
          <p:cNvSpPr/>
          <p:nvPr/>
        </p:nvSpPr>
        <p:spPr>
          <a:xfrm>
            <a:off x="5550408" y="804672"/>
            <a:ext cx="1572768" cy="256032"/>
          </a:xfrm>
          <a:prstGeom prst="rect">
            <a:avLst/>
          </a:prstGeom>
          <a:solidFill>
            <a:schemeClr val="accent2">
              <a:lumMod val="75000"/>
            </a:schemeClr>
          </a:solidFill>
          <a:ln>
            <a:no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GPT-4o Agent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Text 39"/>
          <p:cNvSpPr/>
          <p:nvPr/>
        </p:nvSpPr>
        <p:spPr>
          <a:xfrm>
            <a:off x="6108192" y="1115568"/>
            <a:ext cx="457200" cy="3200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2" name="Text 40"/>
          <p:cNvSpPr/>
          <p:nvPr/>
        </p:nvSpPr>
        <p:spPr>
          <a:xfrm>
            <a:off x="5605272" y="1481328"/>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RAG filing context</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5605272" y="1783080"/>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With / without</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Text 42"/>
          <p:cNvSpPr/>
          <p:nvPr/>
        </p:nvSpPr>
        <p:spPr>
          <a:xfrm>
            <a:off x="5605272" y="2084832"/>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sentiment prompt</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5" name="Text 43"/>
          <p:cNvSpPr/>
          <p:nvPr/>
        </p:nvSpPr>
        <p:spPr>
          <a:xfrm>
            <a:off x="5605272" y="2386584"/>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Buy · Sell · Hold</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8" name="Shape 46"/>
          <p:cNvSpPr/>
          <p:nvPr/>
        </p:nvSpPr>
        <p:spPr>
          <a:xfrm>
            <a:off x="7315200" y="804672"/>
            <a:ext cx="1572768" cy="2240280"/>
          </a:xfrm>
          <a:prstGeom prst="rect">
            <a:avLst/>
          </a:prstGeom>
          <a:solidFill>
            <a:srgbClr val="FFFFFF"/>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49" name="Shape 47"/>
          <p:cNvSpPr/>
          <p:nvPr/>
        </p:nvSpPr>
        <p:spPr>
          <a:xfrm>
            <a:off x="7315200" y="804672"/>
            <a:ext cx="1572768" cy="256032"/>
          </a:xfrm>
          <a:prstGeom prst="rect">
            <a:avLst/>
          </a:prstGeom>
          <a:solidFill>
            <a:schemeClr val="accent2">
              <a:lumMod val="75000"/>
            </a:schemeClr>
          </a:solidFill>
          <a:ln w="12700">
            <a:noFill/>
            <a:prstDash val="solid"/>
          </a:ln>
        </p:spPr>
      </p:sp>
      <p:sp>
        <p:nvSpPr>
          <p:cNvPr id="50" name="Text 48"/>
          <p:cNvSpPr/>
          <p:nvPr/>
        </p:nvSpPr>
        <p:spPr>
          <a:xfrm>
            <a:off x="7315200" y="804672"/>
            <a:ext cx="1572768" cy="256032"/>
          </a:xfrm>
          <a:prstGeom prst="rect">
            <a:avLst/>
          </a:prstGeom>
          <a:solidFill>
            <a:schemeClr val="accent2">
              <a:lumMod val="75000"/>
            </a:schemeClr>
          </a:solidFill>
          <a:ln>
            <a:no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Backtester</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51" name="Text 49"/>
          <p:cNvSpPr/>
          <p:nvPr/>
        </p:nvSpPr>
        <p:spPr>
          <a:xfrm>
            <a:off x="7872984" y="1115568"/>
            <a:ext cx="457200" cy="3200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2" name="Text 50"/>
          <p:cNvSpPr/>
          <p:nvPr/>
        </p:nvSpPr>
        <p:spPr>
          <a:xfrm>
            <a:off x="7370064" y="1481328"/>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Event-driven</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3" name="Text 51"/>
          <p:cNvSpPr/>
          <p:nvPr/>
        </p:nvSpPr>
        <p:spPr>
          <a:xfrm>
            <a:off x="7370064" y="1783080"/>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2 decision points</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4" name="Text 52"/>
          <p:cNvSpPr/>
          <p:nvPr/>
        </p:nvSpPr>
        <p:spPr>
          <a:xfrm>
            <a:off x="7370064" y="2084832"/>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Sharpe Ratio</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5" name="Text 53"/>
          <p:cNvSpPr/>
          <p:nvPr/>
        </p:nvSpPr>
        <p:spPr>
          <a:xfrm>
            <a:off x="7370064" y="2386584"/>
            <a:ext cx="1463040" cy="256032"/>
          </a:xfrm>
          <a:prstGeom prst="rect">
            <a:avLst/>
          </a:prstGeom>
          <a:noFill/>
        </p:spPr>
        <p:txBody>
          <a:bodyPr wrap="square" lIns="0" tIns="0" rIns="0" bIns="0" rtlCol="0" anchor="ctr"/>
          <a:lstStyle/>
          <a:p>
            <a:pPr marL="0" indent="0" algn="ct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vs B&amp;H benchmark</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7" name="Shape 55"/>
          <p:cNvSpPr/>
          <p:nvPr/>
        </p:nvSpPr>
        <p:spPr>
          <a:xfrm>
            <a:off x="256032" y="3270885"/>
            <a:ext cx="4160520" cy="1508760"/>
          </a:xfrm>
          <a:prstGeom prst="rect">
            <a:avLst/>
          </a:prstGeom>
          <a:solidFill>
            <a:srgbClr val="FFFFFF"/>
          </a:solidFill>
          <a:ln w="12700">
            <a:solidFill>
              <a:schemeClr val="accent2"/>
            </a:solidFill>
            <a:prstDash val="solid"/>
          </a:ln>
          <a:effectLst>
            <a:outerShdw blurRad="101600" dist="38100" dir="8100000" algn="bl" rotWithShape="0">
              <a:srgbClr val="000000">
                <a:alpha val="12000"/>
              </a:srgbClr>
            </a:outerShdw>
          </a:effectLst>
        </p:spPr>
      </p:sp>
      <p:sp>
        <p:nvSpPr>
          <p:cNvPr id="58" name="Shape 56"/>
          <p:cNvSpPr/>
          <p:nvPr/>
        </p:nvSpPr>
        <p:spPr>
          <a:xfrm>
            <a:off x="256032" y="3270885"/>
            <a:ext cx="64008" cy="1508760"/>
          </a:xfrm>
          <a:prstGeom prst="rect">
            <a:avLst/>
          </a:prstGeom>
          <a:solidFill>
            <a:schemeClr val="accent2"/>
          </a:solidFill>
          <a:ln w="12700">
            <a:solidFill>
              <a:schemeClr val="accent2"/>
            </a:solidFill>
            <a:prstDash val="solid"/>
          </a:ln>
        </p:spPr>
      </p:sp>
      <p:sp>
        <p:nvSpPr>
          <p:cNvPr id="59" name="Text 57"/>
          <p:cNvSpPr/>
          <p:nvPr/>
        </p:nvSpPr>
        <p:spPr>
          <a:xfrm>
            <a:off x="420624" y="3316605"/>
            <a:ext cx="3858768" cy="256032"/>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Window 1 — February 2024</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0" name="Text 58"/>
          <p:cNvSpPr/>
          <p:nvPr/>
        </p:nvSpPr>
        <p:spPr>
          <a:xfrm>
            <a:off x="420624" y="3572637"/>
            <a:ext cx="3858768" cy="201168"/>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05/02/2024 – 10/02/2024</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1" name="Text 59"/>
          <p:cNvSpPr/>
          <p:nvPr/>
        </p:nvSpPr>
        <p:spPr>
          <a:xfrm>
            <a:off x="420624" y="3773805"/>
            <a:ext cx="3858768" cy="201168"/>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Sentiment: 2023Q4 earnings call (filed 2024-02-21)</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2" name="Text 60"/>
          <p:cNvSpPr/>
          <p:nvPr/>
        </p:nvSpPr>
        <p:spPr>
          <a:xfrm>
            <a:off x="420624" y="3984117"/>
            <a:ext cx="3858768" cy="685800"/>
          </a:xfrm>
          <a:prstGeom prst="rect">
            <a:avLst/>
          </a:prstGeom>
          <a:noFill/>
        </p:spPr>
        <p:txBody>
          <a:bodyPr wrap="square" lIns="0" tIns="0" rIns="0" bIns="0" rtlCol="0" anchor="ctr"/>
          <a:lstStyle/>
          <a:p>
            <a:pPr marL="0" indent="0">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NVDA price: $70.10  ·  P/E: 14.19  ·  P/S: 7.89  ·  P/FCF: 17.62</a:t>
            </a:r>
            <a:endPar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3" name="Shape 61"/>
          <p:cNvSpPr/>
          <p:nvPr/>
        </p:nvSpPr>
        <p:spPr>
          <a:xfrm>
            <a:off x="4645152" y="3270885"/>
            <a:ext cx="4160520" cy="1508760"/>
          </a:xfrm>
          <a:prstGeom prst="rect">
            <a:avLst/>
          </a:prstGeom>
          <a:solidFill>
            <a:srgbClr val="FFFFFF"/>
          </a:solidFill>
          <a:ln w="12700">
            <a:solidFill>
              <a:schemeClr val="accent2"/>
            </a:solidFill>
            <a:prstDash val="solid"/>
          </a:ln>
          <a:effectLst>
            <a:outerShdw blurRad="101600" dist="38100" dir="8100000" algn="bl" rotWithShape="0">
              <a:srgbClr val="000000">
                <a:alpha val="12000"/>
              </a:srgbClr>
            </a:outerShdw>
          </a:effectLst>
        </p:spPr>
      </p:sp>
      <p:sp>
        <p:nvSpPr>
          <p:cNvPr id="64" name="Shape 62"/>
          <p:cNvSpPr/>
          <p:nvPr/>
        </p:nvSpPr>
        <p:spPr>
          <a:xfrm>
            <a:off x="4645152" y="3270885"/>
            <a:ext cx="64008" cy="1508760"/>
          </a:xfrm>
          <a:prstGeom prst="rect">
            <a:avLst/>
          </a:prstGeom>
          <a:solidFill>
            <a:schemeClr val="accent2"/>
          </a:solidFill>
          <a:ln w="12700">
            <a:solidFill>
              <a:schemeClr val="accent2"/>
            </a:solidFill>
            <a:prstDash val="solid"/>
          </a:ln>
        </p:spPr>
      </p:sp>
      <p:sp>
        <p:nvSpPr>
          <p:cNvPr id="65" name="Text 63"/>
          <p:cNvSpPr/>
          <p:nvPr/>
        </p:nvSpPr>
        <p:spPr>
          <a:xfrm>
            <a:off x="4809744" y="3316605"/>
            <a:ext cx="3858768" cy="256032"/>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Window 2 — August 2024</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6" name="Text 64"/>
          <p:cNvSpPr/>
          <p:nvPr/>
        </p:nvSpPr>
        <p:spPr>
          <a:xfrm>
            <a:off x="4809744" y="3572637"/>
            <a:ext cx="3858768" cy="201168"/>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05/08/2024 – 10/08/2024</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7" name="Text 65"/>
          <p:cNvSpPr/>
          <p:nvPr/>
        </p:nvSpPr>
        <p:spPr>
          <a:xfrm>
            <a:off x="4809744" y="3773805"/>
            <a:ext cx="3858768" cy="201168"/>
          </a:xfrm>
          <a:prstGeom prst="rect">
            <a:avLst/>
          </a:prstGeom>
          <a:noFill/>
        </p:spPr>
        <p:txBody>
          <a:bodyPr wrap="square" lIns="0" tIns="0" rIns="0" bIns="0" rtlCol="0" anchor="ctr"/>
          <a:lstStyle/>
          <a:p>
            <a:pPr marL="0" indent="0">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Sentiment: 2024Q2 earnings call (filed 2024-08-28)</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8" name="Text 66"/>
          <p:cNvSpPr/>
          <p:nvPr/>
        </p:nvSpPr>
        <p:spPr>
          <a:xfrm>
            <a:off x="4809744" y="3984117"/>
            <a:ext cx="3858768" cy="685800"/>
          </a:xfrm>
          <a:prstGeom prst="rect">
            <a:avLst/>
          </a:prstGeom>
          <a:noFill/>
        </p:spPr>
        <p:txBody>
          <a:bodyPr wrap="square" lIns="0" tIns="0" rIns="0" bIns="0" rtlCol="0" anchor="ctr"/>
          <a:lstStyle/>
          <a:p>
            <a:pPr marL="0" indent="0">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NVDA price: $98.91  ·  P/E: 20.02  ·  P/S: 11.14  ·  P/FCF: 24.86</a:t>
            </a:r>
            <a:endPar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9" name="Text 67"/>
          <p:cNvSpPr/>
          <p:nvPr/>
        </p:nvSpPr>
        <p:spPr>
          <a:xfrm>
            <a:off x="256032" y="4913630"/>
            <a:ext cx="8631936" cy="146304"/>
          </a:xfrm>
          <a:prstGeom prst="rect">
            <a:avLst/>
          </a:prstGeom>
          <a:noFill/>
        </p:spPr>
        <p:txBody>
          <a:bodyPr wrap="square" lIns="0" tIns="0" rIns="0" bIns="0" rtlCol="0" anchor="ctr"/>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Data sources: Yahoo Finance (prices) · yfinance quarterly financials (fundamentals) · Exercise 1 NLP pipeline (sentiment) · OpenAI GPT-4o</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9" name="右箭头 88"/>
          <p:cNvSpPr/>
          <p:nvPr/>
        </p:nvSpPr>
        <p:spPr>
          <a:xfrm>
            <a:off x="1828800" y="1783080"/>
            <a:ext cx="193040" cy="123825"/>
          </a:xfrm>
          <a:prstGeom prst="rightArrow">
            <a:avLst/>
          </a:prstGeom>
          <a:solidFill>
            <a:schemeClr val="accent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右箭头 89"/>
          <p:cNvSpPr/>
          <p:nvPr/>
        </p:nvSpPr>
        <p:spPr>
          <a:xfrm>
            <a:off x="3592830" y="1783080"/>
            <a:ext cx="193040" cy="123825"/>
          </a:xfrm>
          <a:prstGeom prst="rightArrow">
            <a:avLst/>
          </a:prstGeom>
          <a:solidFill>
            <a:schemeClr val="accent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1" name="右箭头 90"/>
          <p:cNvSpPr/>
          <p:nvPr/>
        </p:nvSpPr>
        <p:spPr>
          <a:xfrm>
            <a:off x="5358130" y="1783080"/>
            <a:ext cx="193040" cy="123825"/>
          </a:xfrm>
          <a:prstGeom prst="rightArrow">
            <a:avLst/>
          </a:prstGeom>
          <a:solidFill>
            <a:schemeClr val="accent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2" name="右箭头 91"/>
          <p:cNvSpPr/>
          <p:nvPr/>
        </p:nvSpPr>
        <p:spPr>
          <a:xfrm>
            <a:off x="7122160" y="1783080"/>
            <a:ext cx="193040" cy="123825"/>
          </a:xfrm>
          <a:prstGeom prst="rightArrow">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3"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94" name="Text 3"/>
          <p:cNvSpPr/>
          <p:nvPr/>
        </p:nvSpPr>
        <p:spPr>
          <a:xfrm>
            <a:off x="6583680" y="0"/>
            <a:ext cx="2423160" cy="658368"/>
          </a:xfrm>
          <a:prstGeom prst="rect">
            <a:avLst/>
          </a:prstGeom>
          <a:noFill/>
        </p:spPr>
        <p:txBody>
          <a:bodyPr wrap="square" lIns="0" tIns="0" rIns="0" bIns="0" rtlCol="0" anchor="ctr"/>
          <a:lstStyle/>
          <a:p>
            <a:pPr marL="0" indent="0" algn="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TA-Class LLM Fundamental Agent</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AF7F4"/>
          </a:solidFill>
          <a:ln w="12700">
            <a:solidFill>
              <a:srgbClr val="FAF7F4"/>
            </a:solidFill>
            <a:prstDash val="solid"/>
          </a:ln>
        </p:spPr>
      </p:sp>
      <p:sp>
        <p:nvSpPr>
          <p:cNvPr id="3" name="Shape 1"/>
          <p:cNvSpPr/>
          <p:nvPr/>
        </p:nvSpPr>
        <p:spPr>
          <a:xfrm>
            <a:off x="0" y="0"/>
            <a:ext cx="201168" cy="658368"/>
          </a:xfrm>
          <a:prstGeom prst="rect">
            <a:avLst/>
          </a:prstGeom>
          <a:solidFill>
            <a:srgbClr val="8B3A1A"/>
          </a:solidFill>
          <a:ln w="12700">
            <a:solidFill>
              <a:srgbClr val="8B3A1A"/>
            </a:solidFill>
            <a:prstDash val="solid"/>
          </a:ln>
        </p:spPr>
      </p:sp>
      <p:sp>
        <p:nvSpPr>
          <p:cNvPr id="4" name="Text 2"/>
          <p:cNvSpPr/>
          <p:nvPr/>
        </p:nvSpPr>
        <p:spPr>
          <a:xfrm>
            <a:off x="320040" y="0"/>
            <a:ext cx="5943600" cy="658368"/>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TTM Valuation Metrics &amp; Sentiment Inputs</a:t>
            </a:r>
            <a:endPar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6583680" y="0"/>
            <a:ext cx="2423160" cy="658368"/>
          </a:xfrm>
          <a:prstGeom prst="rect">
            <a:avLst/>
          </a:prstGeom>
          <a:noFill/>
        </p:spPr>
        <p:txBody>
          <a:bodyPr wrap="square" lIns="0" tIns="0" rIns="0" bIns="0" rtlCol="0" anchor="ctr"/>
          <a:lstStyle/>
          <a:p>
            <a:pPr marL="0" indent="0" algn="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Point-in-time data for both windows</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56032" y="804672"/>
            <a:ext cx="5074920" cy="3218688"/>
          </a:xfrm>
          <a:prstGeom prst="rect">
            <a:avLst/>
          </a:prstGeom>
          <a:solidFill>
            <a:srgbClr val="FFFFFF"/>
          </a:solidFill>
          <a:ln w="12700">
            <a:solidFill>
              <a:srgbClr val="F4C2A1"/>
            </a:solidFill>
            <a:prstDash val="solid"/>
          </a:ln>
          <a:effectLst>
            <a:outerShdw blurRad="101600" dist="38100" dir="8100000" algn="bl" rotWithShape="0">
              <a:srgbClr val="000000">
                <a:alpha val="12000"/>
              </a:srgbClr>
            </a:outerShdw>
          </a:effectLst>
        </p:spPr>
      </p:sp>
      <p:sp>
        <p:nvSpPr>
          <p:cNvPr id="9" name="Shape 7"/>
          <p:cNvSpPr/>
          <p:nvPr/>
        </p:nvSpPr>
        <p:spPr>
          <a:xfrm>
            <a:off x="256032" y="804672"/>
            <a:ext cx="64008" cy="3218688"/>
          </a:xfrm>
          <a:prstGeom prst="rect">
            <a:avLst/>
          </a:prstGeom>
          <a:solidFill>
            <a:srgbClr val="F4C2A1"/>
          </a:solidFill>
          <a:ln w="12700">
            <a:solidFill>
              <a:srgbClr val="F4C2A1"/>
            </a:solidFill>
            <a:prstDash val="solid"/>
          </a:ln>
        </p:spPr>
      </p:sp>
      <p:sp>
        <p:nvSpPr>
          <p:cNvPr id="10" name="Text 8"/>
          <p:cNvSpPr/>
          <p:nvPr/>
        </p:nvSpPr>
        <p:spPr>
          <a:xfrm>
            <a:off x="411480" y="868680"/>
            <a:ext cx="4773168" cy="256032"/>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Point-in-Time TTM Valuation Metrics</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320040" y="4059936"/>
            <a:ext cx="4892040" cy="201168"/>
          </a:xfrm>
          <a:prstGeom prst="rect">
            <a:avLst/>
          </a:prstGeom>
          <a:noFill/>
        </p:spPr>
        <p:txBody>
          <a:bodyPr wrap="square" lIns="0" tIns="0" rIns="0" bIns="0" rtlCol="0" anchor="ctr"/>
          <a:lstStyle/>
          <a:p>
            <a:pPr marL="0" indent="0">
              <a:buNone/>
            </a:pPr>
            <a:r>
              <a:rPr lang="en-US" sz="700" dirty="0">
                <a:solidFill>
                  <a:srgbClr val="64748B"/>
                </a:solidFill>
                <a:latin typeface="Calibri" panose="020F0502020204030204" pitchFamily="34" charset="0"/>
                <a:ea typeface="Calibri" panose="020F0502020204030204" pitchFamily="34" charset="-122"/>
                <a:cs typeface="Calibri" panose="020F0502020204030204" pitchFamily="34" charset="-120"/>
              </a:rPr>
              <a:t>✓ = within agent cheap threshold range  ·  Fundamentals via yfinance (NVDA FY ends Jan 31)</a:t>
            </a:r>
            <a:endParaRPr lang="en-US" sz="700" dirty="0"/>
          </a:p>
        </p:txBody>
      </p:sp>
      <p:sp>
        <p:nvSpPr>
          <p:cNvPr id="44" name="Shape 42"/>
          <p:cNvSpPr/>
          <p:nvPr/>
        </p:nvSpPr>
        <p:spPr>
          <a:xfrm>
            <a:off x="5532120" y="804672"/>
            <a:ext cx="3355848" cy="3218688"/>
          </a:xfrm>
          <a:prstGeom prst="rect">
            <a:avLst/>
          </a:prstGeom>
          <a:solidFill>
            <a:srgbClr val="FFFFFF"/>
          </a:solidFill>
          <a:ln w="12700">
            <a:solidFill>
              <a:srgbClr val="F4C2A1"/>
            </a:solidFill>
            <a:prstDash val="solid"/>
          </a:ln>
          <a:effectLst>
            <a:outerShdw blurRad="101600" dist="38100" dir="8100000" algn="bl" rotWithShape="0">
              <a:srgbClr val="000000">
                <a:alpha val="12000"/>
              </a:srgbClr>
            </a:outerShdw>
          </a:effectLst>
        </p:spPr>
      </p:sp>
      <p:sp>
        <p:nvSpPr>
          <p:cNvPr id="45" name="Shape 43"/>
          <p:cNvSpPr/>
          <p:nvPr/>
        </p:nvSpPr>
        <p:spPr>
          <a:xfrm>
            <a:off x="5532120" y="804672"/>
            <a:ext cx="64008" cy="3218688"/>
          </a:xfrm>
          <a:prstGeom prst="rect">
            <a:avLst/>
          </a:prstGeom>
          <a:solidFill>
            <a:srgbClr val="F4C2A1"/>
          </a:solidFill>
          <a:ln w="12700">
            <a:solidFill>
              <a:srgbClr val="F4C2A1"/>
            </a:solidFill>
            <a:prstDash val="solid"/>
          </a:ln>
        </p:spPr>
      </p:sp>
      <p:sp>
        <p:nvSpPr>
          <p:cNvPr id="46" name="Text 44"/>
          <p:cNvSpPr/>
          <p:nvPr/>
        </p:nvSpPr>
        <p:spPr>
          <a:xfrm>
            <a:off x="5687568" y="868680"/>
            <a:ext cx="3063240" cy="256032"/>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Sentiment Inputs  (from Exercise 1)</a:t>
            </a:r>
            <a:endPar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Shape 45"/>
          <p:cNvSpPr/>
          <p:nvPr/>
        </p:nvSpPr>
        <p:spPr>
          <a:xfrm>
            <a:off x="5596128" y="1188720"/>
            <a:ext cx="3182112" cy="219456"/>
          </a:xfrm>
          <a:prstGeom prst="rect">
            <a:avLst/>
          </a:prstGeom>
          <a:solidFill>
            <a:srgbClr val="1565C0"/>
          </a:solidFill>
          <a:ln w="12700">
            <a:solidFill>
              <a:srgbClr val="1565C0"/>
            </a:solidFill>
            <a:prstDash val="solid"/>
          </a:ln>
        </p:spPr>
      </p:sp>
      <p:sp>
        <p:nvSpPr>
          <p:cNvPr id="48" name="Text 46"/>
          <p:cNvSpPr/>
          <p:nvPr/>
        </p:nvSpPr>
        <p:spPr>
          <a:xfrm>
            <a:off x="5596128" y="1188720"/>
            <a:ext cx="3182112" cy="219456"/>
          </a:xfrm>
          <a:prstGeom prst="rect">
            <a:avLst/>
          </a:prstGeom>
          <a:solidFill>
            <a:srgbClr val="F4C2A1"/>
          </a:solidFill>
          <a:ln>
            <a:solidFill>
              <a:srgbClr val="F4C2A1"/>
            </a:solidFill>
          </a:ln>
        </p:spPr>
        <p:txBody>
          <a:bodyPr wrap="square" lIns="0" tIns="0" rIns="0" bIns="0" rtlCol="0" anchor="ctr"/>
          <a:lstStyle/>
          <a:p>
            <a:pPr marL="0" indent="0" algn="ctr">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Window 1  ·  2023Q4 Earnings Call</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9" name="Text 47"/>
          <p:cNvSpPr/>
          <p:nvPr/>
        </p:nvSpPr>
        <p:spPr>
          <a:xfrm>
            <a:off x="5673598" y="1463040"/>
            <a:ext cx="1143000" cy="182880"/>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LM Lexicon</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0" name="Text 48"/>
          <p:cNvSpPr/>
          <p:nvPr/>
        </p:nvSpPr>
        <p:spPr>
          <a:xfrm>
            <a:off x="7269480" y="1463040"/>
            <a:ext cx="1417320" cy="182880"/>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0.0748</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1" name="Shape 49"/>
          <p:cNvSpPr/>
          <p:nvPr/>
        </p:nvSpPr>
        <p:spPr>
          <a:xfrm>
            <a:off x="5596128" y="1664208"/>
            <a:ext cx="3090672" cy="91440"/>
          </a:xfrm>
          <a:prstGeom prst="rect">
            <a:avLst/>
          </a:prstGeom>
          <a:solidFill>
            <a:schemeClr val="accent2">
              <a:lumMod val="20000"/>
              <a:lumOff val="80000"/>
            </a:schemeClr>
          </a:solidFill>
          <a:ln w="12700">
            <a:solidFill>
              <a:srgbClr val="E8EEF4"/>
            </a:solidFill>
            <a:prstDash val="solid"/>
          </a:ln>
        </p:spPr>
      </p:sp>
      <p:sp>
        <p:nvSpPr>
          <p:cNvPr id="52" name="Shape 50"/>
          <p:cNvSpPr/>
          <p:nvPr/>
        </p:nvSpPr>
        <p:spPr>
          <a:xfrm>
            <a:off x="5596128" y="1664208"/>
            <a:ext cx="1607149" cy="91440"/>
          </a:xfrm>
          <a:prstGeom prst="rect">
            <a:avLst/>
          </a:prstGeom>
          <a:solidFill>
            <a:schemeClr val="accent2"/>
          </a:solidFill>
          <a:ln w="12700">
            <a:solidFill>
              <a:schemeClr val="accent2"/>
            </a:solidFill>
            <a:prstDash val="solid"/>
          </a:ln>
        </p:spPr>
      </p:sp>
      <p:sp>
        <p:nvSpPr>
          <p:cNvPr id="53" name="Text 51"/>
          <p:cNvSpPr/>
          <p:nvPr/>
        </p:nvSpPr>
        <p:spPr>
          <a:xfrm>
            <a:off x="5673598" y="1847088"/>
            <a:ext cx="1143000" cy="182880"/>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FinBERT</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4" name="Text 52"/>
          <p:cNvSpPr/>
          <p:nvPr/>
        </p:nvSpPr>
        <p:spPr>
          <a:xfrm>
            <a:off x="7269480" y="1847088"/>
            <a:ext cx="1417320" cy="182880"/>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0.3265</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5" name="Shape 53"/>
          <p:cNvSpPr/>
          <p:nvPr/>
        </p:nvSpPr>
        <p:spPr>
          <a:xfrm>
            <a:off x="5596128" y="2048256"/>
            <a:ext cx="3090672" cy="91440"/>
          </a:xfrm>
          <a:prstGeom prst="rect">
            <a:avLst/>
          </a:prstGeom>
          <a:solidFill>
            <a:schemeClr val="accent2">
              <a:lumMod val="20000"/>
              <a:lumOff val="80000"/>
            </a:schemeClr>
          </a:solidFill>
          <a:ln w="12700">
            <a:solidFill>
              <a:srgbClr val="E8EEF4"/>
            </a:solidFill>
            <a:prstDash val="solid"/>
          </a:ln>
        </p:spPr>
      </p:sp>
      <p:sp>
        <p:nvSpPr>
          <p:cNvPr id="56" name="Shape 54"/>
          <p:cNvSpPr/>
          <p:nvPr/>
        </p:nvSpPr>
        <p:spPr>
          <a:xfrm>
            <a:off x="5596128" y="2048256"/>
            <a:ext cx="2379817" cy="91440"/>
          </a:xfrm>
          <a:prstGeom prst="rect">
            <a:avLst/>
          </a:prstGeom>
          <a:solidFill>
            <a:schemeClr val="accent2"/>
          </a:solidFill>
          <a:ln w="12700">
            <a:solidFill>
              <a:schemeClr val="accent2"/>
            </a:solidFill>
            <a:prstDash val="solid"/>
          </a:ln>
        </p:spPr>
      </p:sp>
      <p:sp>
        <p:nvSpPr>
          <p:cNvPr id="57" name="Text 55"/>
          <p:cNvSpPr/>
          <p:nvPr/>
        </p:nvSpPr>
        <p:spPr>
          <a:xfrm>
            <a:off x="5673598" y="2231136"/>
            <a:ext cx="1143000" cy="182880"/>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GPT Intensity</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8" name="Text 56"/>
          <p:cNvSpPr/>
          <p:nvPr/>
        </p:nvSpPr>
        <p:spPr>
          <a:xfrm>
            <a:off x="7269480" y="2231136"/>
            <a:ext cx="1417320" cy="182880"/>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6.81 / 10</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9" name="Shape 57"/>
          <p:cNvSpPr/>
          <p:nvPr/>
        </p:nvSpPr>
        <p:spPr>
          <a:xfrm>
            <a:off x="5596128" y="2432304"/>
            <a:ext cx="3090672" cy="91440"/>
          </a:xfrm>
          <a:prstGeom prst="rect">
            <a:avLst/>
          </a:prstGeom>
          <a:solidFill>
            <a:schemeClr val="accent2">
              <a:lumMod val="20000"/>
              <a:lumOff val="80000"/>
            </a:schemeClr>
          </a:solidFill>
          <a:ln w="12700">
            <a:solidFill>
              <a:srgbClr val="E8EEF4"/>
            </a:solidFill>
            <a:prstDash val="solid"/>
          </a:ln>
        </p:spPr>
      </p:sp>
      <p:sp>
        <p:nvSpPr>
          <p:cNvPr id="60" name="Shape 58"/>
          <p:cNvSpPr/>
          <p:nvPr/>
        </p:nvSpPr>
        <p:spPr>
          <a:xfrm>
            <a:off x="5596128" y="2432304"/>
            <a:ext cx="2225284" cy="91440"/>
          </a:xfrm>
          <a:prstGeom prst="rect">
            <a:avLst/>
          </a:prstGeom>
          <a:solidFill>
            <a:schemeClr val="accent2"/>
          </a:solidFill>
          <a:ln w="12700">
            <a:solidFill>
              <a:schemeClr val="accent2"/>
            </a:solidFill>
            <a:prstDash val="solid"/>
          </a:ln>
        </p:spPr>
      </p:sp>
      <p:sp>
        <p:nvSpPr>
          <p:cNvPr id="61" name="Shape 59"/>
          <p:cNvSpPr/>
          <p:nvPr/>
        </p:nvSpPr>
        <p:spPr>
          <a:xfrm>
            <a:off x="5596128" y="2679192"/>
            <a:ext cx="3182112" cy="219456"/>
          </a:xfrm>
          <a:prstGeom prst="rect">
            <a:avLst/>
          </a:prstGeom>
          <a:solidFill>
            <a:srgbClr val="F4C2A1"/>
          </a:solidFill>
          <a:ln w="12700">
            <a:solidFill>
              <a:srgbClr val="F4C2A1"/>
            </a:solidFill>
            <a:prstDash val="solid"/>
          </a:ln>
        </p:spPr>
      </p:sp>
      <p:sp>
        <p:nvSpPr>
          <p:cNvPr id="62" name="Text 60"/>
          <p:cNvSpPr/>
          <p:nvPr/>
        </p:nvSpPr>
        <p:spPr>
          <a:xfrm>
            <a:off x="5596128" y="2679192"/>
            <a:ext cx="3182112" cy="219456"/>
          </a:xfrm>
          <a:prstGeom prst="rect">
            <a:avLst/>
          </a:prstGeom>
          <a:noFill/>
        </p:spPr>
        <p:txBody>
          <a:bodyPr wrap="square" lIns="0" tIns="0" rIns="0" bIns="0" rtlCol="0" anchor="ctr"/>
          <a:lstStyle/>
          <a:p>
            <a:pPr marL="0" indent="0" algn="ctr">
              <a:buNone/>
            </a:pPr>
            <a:r>
              <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Window 2  ·  2024Q2 Earnings Call</a:t>
            </a:r>
            <a:endParaRPr lang="en-US" sz="11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3" name="Text 61"/>
          <p:cNvSpPr/>
          <p:nvPr/>
        </p:nvSpPr>
        <p:spPr>
          <a:xfrm>
            <a:off x="5673598" y="2962656"/>
            <a:ext cx="1143000" cy="164592"/>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LM Lexicon</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4" name="Text 62"/>
          <p:cNvSpPr/>
          <p:nvPr/>
        </p:nvSpPr>
        <p:spPr>
          <a:xfrm>
            <a:off x="7269480" y="2962656"/>
            <a:ext cx="1417320" cy="164592"/>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0.0316</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5" name="Shape 63"/>
          <p:cNvSpPr/>
          <p:nvPr/>
        </p:nvSpPr>
        <p:spPr>
          <a:xfrm>
            <a:off x="5596128" y="3145536"/>
            <a:ext cx="3090672" cy="82296"/>
          </a:xfrm>
          <a:prstGeom prst="rect">
            <a:avLst/>
          </a:prstGeom>
          <a:solidFill>
            <a:schemeClr val="accent2">
              <a:lumMod val="20000"/>
              <a:lumOff val="80000"/>
            </a:schemeClr>
          </a:solidFill>
          <a:ln w="12700">
            <a:solidFill>
              <a:srgbClr val="E8EEF4"/>
            </a:solidFill>
            <a:prstDash val="solid"/>
          </a:ln>
        </p:spPr>
      </p:sp>
      <p:sp>
        <p:nvSpPr>
          <p:cNvPr id="66" name="Shape 64"/>
          <p:cNvSpPr/>
          <p:nvPr/>
        </p:nvSpPr>
        <p:spPr>
          <a:xfrm>
            <a:off x="5596128" y="3145536"/>
            <a:ext cx="1298082" cy="82296"/>
          </a:xfrm>
          <a:prstGeom prst="rect">
            <a:avLst/>
          </a:prstGeom>
          <a:solidFill>
            <a:schemeClr val="accent2"/>
          </a:solidFill>
          <a:ln w="12700">
            <a:solidFill>
              <a:schemeClr val="accent2"/>
            </a:solidFill>
            <a:prstDash val="solid"/>
          </a:ln>
        </p:spPr>
      </p:sp>
      <p:sp>
        <p:nvSpPr>
          <p:cNvPr id="67" name="Text 65"/>
          <p:cNvSpPr/>
          <p:nvPr/>
        </p:nvSpPr>
        <p:spPr>
          <a:xfrm>
            <a:off x="5673598" y="3310128"/>
            <a:ext cx="1143000" cy="164592"/>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FinBERT</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8" name="Text 66"/>
          <p:cNvSpPr/>
          <p:nvPr/>
        </p:nvSpPr>
        <p:spPr>
          <a:xfrm>
            <a:off x="7269480" y="3310128"/>
            <a:ext cx="1417320" cy="164592"/>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0.3650</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69" name="Shape 67"/>
          <p:cNvSpPr/>
          <p:nvPr/>
        </p:nvSpPr>
        <p:spPr>
          <a:xfrm>
            <a:off x="5596128" y="3493008"/>
            <a:ext cx="3090672" cy="82296"/>
          </a:xfrm>
          <a:prstGeom prst="rect">
            <a:avLst/>
          </a:prstGeom>
          <a:solidFill>
            <a:schemeClr val="accent2">
              <a:lumMod val="20000"/>
              <a:lumOff val="80000"/>
            </a:schemeClr>
          </a:solidFill>
          <a:ln w="12700">
            <a:solidFill>
              <a:srgbClr val="E8EEF4"/>
            </a:solidFill>
            <a:prstDash val="solid"/>
          </a:ln>
        </p:spPr>
      </p:sp>
      <p:sp>
        <p:nvSpPr>
          <p:cNvPr id="70" name="Shape 68"/>
          <p:cNvSpPr/>
          <p:nvPr/>
        </p:nvSpPr>
        <p:spPr>
          <a:xfrm>
            <a:off x="5596128" y="3493008"/>
            <a:ext cx="2534351" cy="82296"/>
          </a:xfrm>
          <a:prstGeom prst="rect">
            <a:avLst/>
          </a:prstGeom>
          <a:solidFill>
            <a:schemeClr val="accent2"/>
          </a:solidFill>
          <a:ln w="12700">
            <a:solidFill>
              <a:schemeClr val="accent2"/>
            </a:solidFill>
            <a:prstDash val="solid"/>
          </a:ln>
        </p:spPr>
      </p:sp>
      <p:sp>
        <p:nvSpPr>
          <p:cNvPr id="71" name="Text 69"/>
          <p:cNvSpPr/>
          <p:nvPr/>
        </p:nvSpPr>
        <p:spPr>
          <a:xfrm>
            <a:off x="5673598" y="3657600"/>
            <a:ext cx="1143000" cy="164592"/>
          </a:xfrm>
          <a:prstGeom prst="rect">
            <a:avLst/>
          </a:prstGeom>
          <a:noFill/>
        </p:spPr>
        <p:txBody>
          <a:bodyPr wrap="square" lIns="0" tIns="0" rIns="0" bIns="0" rtlCol="0" anchor="ctr"/>
          <a:lstStyle/>
          <a:p>
            <a:pPr marL="0" indent="0">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GPT Intensity</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72" name="Text 70"/>
          <p:cNvSpPr/>
          <p:nvPr/>
        </p:nvSpPr>
        <p:spPr>
          <a:xfrm>
            <a:off x="7269480" y="3657600"/>
            <a:ext cx="1417320" cy="164592"/>
          </a:xfrm>
          <a:prstGeom prst="rect">
            <a:avLst/>
          </a:prstGeom>
          <a:noFill/>
        </p:spPr>
        <p:txBody>
          <a:bodyPr wrap="square" lIns="0" tIns="0" rIns="0" bIns="0" rtlCol="0" anchor="ctr"/>
          <a:lstStyle/>
          <a:p>
            <a:pPr marL="0" indent="0" algn="r">
              <a:buNone/>
            </a:pPr>
            <a:r>
              <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6.61 / 10</a:t>
            </a:r>
            <a:endParaRPr lang="en-US" sz="10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73" name="Shape 71"/>
          <p:cNvSpPr/>
          <p:nvPr/>
        </p:nvSpPr>
        <p:spPr>
          <a:xfrm>
            <a:off x="5596128" y="3840480"/>
            <a:ext cx="3090672" cy="82296"/>
          </a:xfrm>
          <a:prstGeom prst="rect">
            <a:avLst/>
          </a:prstGeom>
          <a:solidFill>
            <a:schemeClr val="accent2">
              <a:lumMod val="20000"/>
              <a:lumOff val="80000"/>
            </a:schemeClr>
          </a:solidFill>
          <a:ln w="12700">
            <a:solidFill>
              <a:srgbClr val="E8EEF4"/>
            </a:solidFill>
            <a:prstDash val="solid"/>
          </a:ln>
        </p:spPr>
      </p:sp>
      <p:sp>
        <p:nvSpPr>
          <p:cNvPr id="74" name="Shape 72"/>
          <p:cNvSpPr/>
          <p:nvPr/>
        </p:nvSpPr>
        <p:spPr>
          <a:xfrm>
            <a:off x="5596128" y="3840480"/>
            <a:ext cx="2163470" cy="82296"/>
          </a:xfrm>
          <a:prstGeom prst="rect">
            <a:avLst/>
          </a:prstGeom>
          <a:solidFill>
            <a:schemeClr val="accent2"/>
          </a:solidFill>
          <a:ln w="12700">
            <a:solidFill>
              <a:schemeClr val="accent2"/>
            </a:solidFill>
            <a:prstDash val="solid"/>
          </a:ln>
        </p:spPr>
      </p:sp>
      <p:sp>
        <p:nvSpPr>
          <p:cNvPr id="75" name="Shape 73"/>
          <p:cNvSpPr/>
          <p:nvPr/>
        </p:nvSpPr>
        <p:spPr>
          <a:xfrm>
            <a:off x="255905" y="4096385"/>
            <a:ext cx="8632190" cy="815975"/>
          </a:xfrm>
          <a:prstGeom prst="rect">
            <a:avLst/>
          </a:prstGeom>
          <a:solidFill>
            <a:srgbClr val="D9C9BB"/>
          </a:solidFill>
          <a:ln w="12700">
            <a:solidFill>
              <a:srgbClr val="EDE5DC"/>
            </a:solidFill>
            <a:prstDash val="solid"/>
          </a:ln>
        </p:spPr>
      </p:sp>
      <p:sp>
        <p:nvSpPr>
          <p:cNvPr id="76" name="Text 74"/>
          <p:cNvSpPr/>
          <p:nvPr/>
        </p:nvSpPr>
        <p:spPr>
          <a:xfrm>
            <a:off x="411480" y="4151376"/>
            <a:ext cx="1417320" cy="201168"/>
          </a:xfrm>
          <a:prstGeom prst="rect">
            <a:avLst/>
          </a:prstGeom>
          <a:noFill/>
        </p:spPr>
        <p:txBody>
          <a:bodyPr wrap="square" lIns="0" tIns="0" rIns="0" bIns="0" rtlCol="0" anchor="ctr"/>
          <a:lstStyle/>
          <a:p>
            <a:pPr marL="0" indent="0">
              <a:buNone/>
            </a:pPr>
            <a:r>
              <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Key Observation:</a:t>
            </a:r>
            <a:endPar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77" name="Text 75"/>
          <p:cNvSpPr/>
          <p:nvPr/>
        </p:nvSpPr>
        <p:spPr>
          <a:xfrm>
            <a:off x="411480" y="4352290"/>
            <a:ext cx="8339455" cy="497205"/>
          </a:xfrm>
          <a:prstGeom prst="rect">
            <a:avLst/>
          </a:prstGeom>
          <a:noFill/>
        </p:spPr>
        <p:txBody>
          <a:bodyPr wrap="square" lIns="0" tIns="0" rIns="0" bIns="0" rtlCol="0" anchor="ctr"/>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Window 2 shows higher FinBERT score (0.365 vs 0.327) despite lower LM score (0.032 vs 0.075), highlighting FinBERT better captures AI-specific bullish language ('Blackwell demand exceeds supply', 'sovereign AI') that LM lexicon misses due to pre-AI vocabulary. Both windows reflect moderately positive management tone, consistent with strong but supply-constrained AI demand narrative.</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78" name="Shape 2"/>
          <p:cNvSpPr/>
          <p:nvPr/>
        </p:nvSpPr>
        <p:spPr>
          <a:xfrm>
            <a:off x="320040" y="658368"/>
            <a:ext cx="8503920" cy="18288"/>
          </a:xfrm>
          <a:prstGeom prst="rect">
            <a:avLst/>
          </a:prstGeom>
          <a:solidFill>
            <a:srgbClr val="D9C9BB"/>
          </a:solidFill>
          <a:ln w="12700">
            <a:solidFill>
              <a:srgbClr val="D9C9BB"/>
            </a:solidFill>
            <a:prstDash val="solid"/>
          </a:ln>
        </p:spPr>
      </p:sp>
      <p:graphicFrame>
        <p:nvGraphicFramePr>
          <p:cNvPr id="80" name="表格 79"/>
          <p:cNvGraphicFramePr/>
          <p:nvPr>
            <p:custDataLst>
              <p:tags r:id="rId1"/>
            </p:custDataLst>
          </p:nvPr>
        </p:nvGraphicFramePr>
        <p:xfrm>
          <a:off x="320040" y="1130935"/>
          <a:ext cx="5004435" cy="2891790"/>
        </p:xfrm>
        <a:graphic>
          <a:graphicData uri="http://schemas.openxmlformats.org/drawingml/2006/table">
            <a:tbl>
              <a:tblPr firstRow="1" bandRow="1">
                <a:tableStyleId>{72833802-FEF1-4C79-8D5D-14CF1EAF98D9}</a:tableStyleId>
              </a:tblPr>
              <a:tblGrid>
                <a:gridCol w="1668145"/>
                <a:gridCol w="1668145"/>
                <a:gridCol w="1668145"/>
              </a:tblGrid>
              <a:tr h="387350">
                <a:tc>
                  <a:txBody>
                    <a:bodyPr/>
                    <a:p>
                      <a:pPr algn="ctr">
                        <a:buNone/>
                      </a:pPr>
                      <a:r>
                        <a:rPr lang="en-US" altLang="zh-CN" sz="1100"/>
                        <a:t>Metric</a:t>
                      </a:r>
                      <a:endParaRPr lang="en-US" altLang="zh-CN" sz="11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solidFill>
                      <a:schemeClr val="accent2">
                        <a:lumMod val="60000"/>
                        <a:lumOff val="40000"/>
                      </a:schemeClr>
                    </a:solidFill>
                  </a:tcPr>
                </a:tc>
                <a:tc>
                  <a:txBody>
                    <a:bodyPr/>
                    <a:p>
                      <a:pPr algn="ctr">
                        <a:buNone/>
                      </a:pPr>
                      <a:r>
                        <a:rPr lang="en-US" altLang="zh-CN" sz="1100"/>
                        <a:t>Window </a:t>
                      </a:r>
                      <a:r>
                        <a:rPr lang="en-US" sz="1100" dirty="0"/>
                        <a:t>1  (Feb 2024)</a:t>
                      </a:r>
                      <a:endParaRPr lang="en-US" altLang="zh-CN" sz="1100" dirty="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solidFill>
                      <a:schemeClr val="accent2">
                        <a:lumMod val="60000"/>
                        <a:lumOff val="40000"/>
                      </a:schemeClr>
                    </a:solidFill>
                  </a:tcPr>
                </a:tc>
                <a:tc>
                  <a:txBody>
                    <a:bodyPr/>
                    <a:p>
                      <a:pPr algn="ctr">
                        <a:buNone/>
                      </a:pPr>
                      <a:r>
                        <a:rPr lang="en-US" sz="1100" dirty="0"/>
                        <a:t>Window 2  (Aug 2024)</a:t>
                      </a:r>
                      <a:endParaRPr lang="en-US" altLang="en-US" sz="1100" dirty="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solidFill>
                      <a:schemeClr val="accent2">
                        <a:lumMod val="60000"/>
                        <a:lumOff val="40000"/>
                      </a:schemeClr>
                    </a:solidFill>
                  </a:tcPr>
                </a:tc>
              </a:tr>
              <a:tr h="357505">
                <a:tc>
                  <a:txBody>
                    <a:bodyPr/>
                    <a:p>
                      <a:pPr algn="l">
                        <a:buNone/>
                      </a:pPr>
                      <a:r>
                        <a:rPr lang="en-US" altLang="zh-CN" sz="1000"/>
                        <a:t>Price</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$70.10</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98.91</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8140">
                <a:tc>
                  <a:txBody>
                    <a:bodyPr/>
                    <a:p>
                      <a:pPr algn="l">
                        <a:buNone/>
                      </a:pPr>
                      <a:r>
                        <a:rPr lang="en-US" altLang="zh-CN" sz="1000"/>
                        <a:t>TTM Revenue</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$60.98</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96.38</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8140">
                <a:tc>
                  <a:txBody>
                    <a:bodyPr/>
                    <a:p>
                      <a:pPr algn="l">
                        <a:buNone/>
                      </a:pPr>
                      <a:r>
                        <a:rPr lang="en-US" altLang="zh-CN" sz="1000"/>
                        <a:t>TTM Net Income</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$29.88</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55.38</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8140">
                <a:tc>
                  <a:txBody>
                    <a:bodyPr/>
                    <a:p>
                      <a:pPr algn="l">
                        <a:buNone/>
                      </a:pPr>
                      <a:r>
                        <a:rPr lang="en-US" altLang="zh-CN" sz="1000"/>
                        <a:t>TTM FCF</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$27.08</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49.68</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6870">
                <a:tc>
                  <a:txBody>
                    <a:bodyPr/>
                    <a:p>
                      <a:pPr algn="l">
                        <a:buNone/>
                      </a:pPr>
                      <a:r>
                        <a:rPr lang="en-US" altLang="zh-CN" sz="1000"/>
                        <a:t>P/S</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7.89</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11.14</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8140">
                <a:tc>
                  <a:txBody>
                    <a:bodyPr/>
                    <a:p>
                      <a:pPr algn="l">
                        <a:buNone/>
                      </a:pPr>
                      <a:r>
                        <a:rPr lang="en-US" altLang="zh-CN" sz="1000"/>
                        <a:t>P/E</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14.19</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20.02</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r h="357505">
                <a:tc>
                  <a:txBody>
                    <a:bodyPr/>
                    <a:p>
                      <a:pPr algn="l">
                        <a:buNone/>
                      </a:pPr>
                      <a:r>
                        <a:rPr lang="en-US" altLang="zh-CN" sz="1000"/>
                        <a:t>P/FCF</a:t>
                      </a:r>
                      <a:endParaRPr lang="en-US" altLang="zh-CN" sz="1000"/>
                    </a:p>
                  </a:txBody>
                  <a:tcPr anchor="ctr" anchorCtr="0">
                    <a:lnL w="12700" cap="flat" cmpd="sng" algn="ctr">
                      <a:solidFill>
                        <a:srgbClr val="F4C2A1"/>
                      </a:solidFill>
                      <a:prstDash val="solid"/>
                      <a:miter lim="800000"/>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17.62</a:t>
                      </a:r>
                      <a:endParaRPr lang="en-US" altLang="zh-CN" sz="1000"/>
                    </a:p>
                  </a:txBody>
                  <a:tcPr anchor="ctr" anchorCtr="0">
                    <a:lnL w="12700">
                      <a:solidFill>
                        <a:srgbClr val="F4C2A1"/>
                      </a:solidFill>
                      <a:prstDash val="solid"/>
                    </a:lnL>
                    <a:lnR w="12700">
                      <a:solidFill>
                        <a:srgbClr val="F4C2A1"/>
                      </a:solidFill>
                      <a:prstDash val="solid"/>
                    </a:lnR>
                    <a:lnT w="12700" cap="flat" cmpd="sng" algn="ctr">
                      <a:solidFill>
                        <a:srgbClr val="F4C2A1"/>
                      </a:solidFill>
                      <a:prstDash val="solid"/>
                      <a:miter lim="800000"/>
                    </a:lnT>
                    <a:lnB w="12700" cap="flat" cmpd="sng" algn="ctr">
                      <a:solidFill>
                        <a:srgbClr val="F4C2A1"/>
                      </a:solidFill>
                      <a:prstDash val="solid"/>
                      <a:miter lim="800000"/>
                    </a:lnB>
                  </a:tcPr>
                </a:tc>
                <a:tc>
                  <a:txBody>
                    <a:bodyPr/>
                    <a:p>
                      <a:pPr algn="l">
                        <a:buNone/>
                      </a:pPr>
                      <a:r>
                        <a:rPr lang="en-US" altLang="zh-CN" sz="1000"/>
                        <a:t>24.86</a:t>
                      </a:r>
                      <a:endParaRPr lang="en-US" altLang="zh-CN" sz="1000"/>
                    </a:p>
                  </a:txBody>
                  <a:tcPr anchor="ctr" anchorCtr="0">
                    <a:lnL w="12700">
                      <a:solidFill>
                        <a:srgbClr val="F4C2A1"/>
                      </a:solidFill>
                      <a:prstDash val="solid"/>
                    </a:lnL>
                    <a:lnR w="12700" cap="flat" cmpd="sng" algn="ctr">
                      <a:solidFill>
                        <a:srgbClr val="F4C2A1"/>
                      </a:solidFill>
                      <a:prstDash val="solid"/>
                      <a:miter lim="800000"/>
                    </a:lnR>
                    <a:lnT w="12700" cap="flat" cmpd="sng" algn="ctr">
                      <a:solidFill>
                        <a:srgbClr val="F4C2A1"/>
                      </a:solidFill>
                      <a:prstDash val="solid"/>
                      <a:miter lim="800000"/>
                    </a:lnT>
                    <a:lnB w="12700" cap="flat" cmpd="sng" algn="ctr">
                      <a:solidFill>
                        <a:srgbClr val="F4C2A1"/>
                      </a:solidFill>
                      <a:prstDash val="solid"/>
                      <a:miter lim="800000"/>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AF7F4"/>
          </a:solidFill>
          <a:ln w="12700">
            <a:solidFill>
              <a:srgbClr val="FAF7F4"/>
            </a:solidFill>
            <a:prstDash val="solid"/>
          </a:ln>
        </p:spPr>
      </p:sp>
      <p:sp>
        <p:nvSpPr>
          <p:cNvPr id="3" name="Shape 1"/>
          <p:cNvSpPr/>
          <p:nvPr/>
        </p:nvSpPr>
        <p:spPr>
          <a:xfrm>
            <a:off x="0" y="0"/>
            <a:ext cx="201168" cy="658368"/>
          </a:xfrm>
          <a:prstGeom prst="rect">
            <a:avLst/>
          </a:prstGeom>
          <a:solidFill>
            <a:srgbClr val="8B3A1A"/>
          </a:solidFill>
          <a:ln w="12700">
            <a:solidFill>
              <a:srgbClr val="8B3A1A"/>
            </a:solidFill>
            <a:prstDash val="solid"/>
          </a:ln>
        </p:spPr>
      </p:sp>
      <p:sp>
        <p:nvSpPr>
          <p:cNvPr id="4" name="Text 2"/>
          <p:cNvSpPr/>
          <p:nvPr/>
        </p:nvSpPr>
        <p:spPr>
          <a:xfrm>
            <a:off x="320040" y="0"/>
            <a:ext cx="5943600" cy="658368"/>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Agent Decisions — With vs Without Sentiment</a:t>
            </a:r>
            <a:endPar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6583680" y="0"/>
            <a:ext cx="2423160" cy="658368"/>
          </a:xfrm>
          <a:prstGeom prst="rect">
            <a:avLst/>
          </a:prstGeom>
          <a:noFill/>
        </p:spPr>
        <p:txBody>
          <a:bodyPr wrap="square" lIns="0" tIns="0" rIns="0" bIns="0" rtlCol="0" anchor="ctr"/>
          <a:lstStyle/>
          <a:p>
            <a:pPr marL="0" indent="0" algn="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GPT-4o output at each TTM window</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852928" y="804672"/>
            <a:ext cx="3054096" cy="274320"/>
          </a:xfrm>
          <a:prstGeom prst="rect">
            <a:avLst/>
          </a:prstGeom>
          <a:solidFill>
            <a:schemeClr val="accent2">
              <a:lumMod val="40000"/>
              <a:lumOff val="60000"/>
            </a:schemeClr>
          </a:solidFill>
          <a:ln w="12700">
            <a:solidFill>
              <a:schemeClr val="accent2">
                <a:lumMod val="40000"/>
                <a:lumOff val="60000"/>
              </a:schemeClr>
            </a:solidFill>
            <a:prstDash val="solid"/>
          </a:ln>
        </p:spPr>
      </p:sp>
      <p:sp>
        <p:nvSpPr>
          <p:cNvPr id="9" name="Text 7"/>
          <p:cNvSpPr/>
          <p:nvPr/>
        </p:nvSpPr>
        <p:spPr>
          <a:xfrm>
            <a:off x="2852928" y="804672"/>
            <a:ext cx="3054096" cy="274320"/>
          </a:xfrm>
          <a:prstGeom prst="rect">
            <a:avLst/>
          </a:prstGeom>
          <a:noFill/>
        </p:spPr>
        <p:txBody>
          <a:bodyPr wrap="square" lIns="0" tIns="0" rIns="0" bIns="0" rtlCol="0" anchor="ctr"/>
          <a:lstStyle/>
          <a:p>
            <a:pPr marL="0" indent="0" algn="ctr">
              <a:buNone/>
            </a:pPr>
            <a:r>
              <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WITHOUT Sentiment</a:t>
            </a:r>
            <a:endPar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6016752" y="804672"/>
            <a:ext cx="3054096" cy="274320"/>
          </a:xfrm>
          <a:prstGeom prst="rect">
            <a:avLst/>
          </a:prstGeom>
          <a:solidFill>
            <a:schemeClr val="accent2">
              <a:lumMod val="75000"/>
            </a:schemeClr>
          </a:solidFill>
          <a:ln w="12700">
            <a:solidFill>
              <a:schemeClr val="accent2">
                <a:lumMod val="75000"/>
              </a:schemeClr>
            </a:solidFill>
            <a:prstDash val="solid"/>
          </a:ln>
        </p:spPr>
      </p:sp>
      <p:sp>
        <p:nvSpPr>
          <p:cNvPr id="11" name="Text 9"/>
          <p:cNvSpPr/>
          <p:nvPr/>
        </p:nvSpPr>
        <p:spPr>
          <a:xfrm>
            <a:off x="6016752" y="804672"/>
            <a:ext cx="3054096" cy="27432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WITH Sentiment</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256032" y="804672"/>
            <a:ext cx="2487168" cy="274320"/>
          </a:xfrm>
          <a:prstGeom prst="rect">
            <a:avLst/>
          </a:prstGeom>
          <a:solidFill>
            <a:srgbClr val="EDE5DC"/>
          </a:solidFill>
        </p:spPr>
        <p:txBody>
          <a:bodyPr wrap="square" lIns="0" tIns="0" rIns="0" bIns="0" rtlCol="0" anchor="ctr"/>
          <a:lstStyle/>
          <a:p>
            <a:pPr marL="0" indent="0" algn="ctr">
              <a:buNone/>
            </a:pPr>
            <a:r>
              <a:rPr lang="en-US" sz="1400" b="1" dirty="0">
                <a:solidFill>
                  <a:srgbClr val="F0AB7C"/>
                </a:solidFill>
                <a:latin typeface="Calibri" panose="020F0502020204030204" pitchFamily="34" charset="0"/>
                <a:ea typeface="Calibri" panose="020F0502020204030204" pitchFamily="34" charset="-122"/>
                <a:cs typeface="Calibri" panose="020F0502020204030204" pitchFamily="34" charset="-120"/>
              </a:rPr>
              <a:t>Window</a:t>
            </a:r>
            <a:endParaRPr lang="en-US" sz="1400" b="1" dirty="0">
              <a:solidFill>
                <a:srgbClr val="F0AB7C"/>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255905" y="1143000"/>
            <a:ext cx="2487295" cy="1645920"/>
          </a:xfrm>
          <a:prstGeom prst="rect">
            <a:avLst/>
          </a:prstGeom>
          <a:solidFill>
            <a:srgbClr val="EDE5DC"/>
          </a:solidFill>
          <a:ln w="12700">
            <a:solidFill>
              <a:srgbClr val="EDE5DC"/>
            </a:solidFill>
            <a:prstDash val="solid"/>
          </a:ln>
          <a:effectLst>
            <a:outerShdw blurRad="101600" dist="38100" dir="8100000" algn="bl" rotWithShape="0">
              <a:srgbClr val="000000">
                <a:alpha val="12000"/>
              </a:srgbClr>
            </a:outerShdw>
          </a:effectLst>
        </p:spPr>
      </p:sp>
      <p:sp>
        <p:nvSpPr>
          <p:cNvPr id="14" name="Shape 12"/>
          <p:cNvSpPr/>
          <p:nvPr/>
        </p:nvSpPr>
        <p:spPr>
          <a:xfrm>
            <a:off x="256032" y="1143000"/>
            <a:ext cx="64008" cy="1645920"/>
          </a:xfrm>
          <a:prstGeom prst="rect">
            <a:avLst/>
          </a:prstGeom>
          <a:solidFill>
            <a:srgbClr val="C8692A"/>
          </a:solidFill>
          <a:ln w="12700">
            <a:solidFill>
              <a:srgbClr val="EDE5DC"/>
            </a:solidFill>
            <a:prstDash val="solid"/>
          </a:ln>
        </p:spPr>
      </p:sp>
      <p:sp>
        <p:nvSpPr>
          <p:cNvPr id="15" name="Text 13"/>
          <p:cNvSpPr/>
          <p:nvPr/>
        </p:nvSpPr>
        <p:spPr>
          <a:xfrm>
            <a:off x="411480" y="1216152"/>
            <a:ext cx="2194560" cy="1463040"/>
          </a:xfrm>
          <a:prstGeom prst="rect">
            <a:avLst/>
          </a:prstGeom>
          <a:noFill/>
        </p:spPr>
        <p:txBody>
          <a:bodyPr wrap="square" lIns="0" tIns="0" rIns="0" bIns="0" rtlCol="0" anchor="t"/>
          <a:lstStyle/>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Window 1</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Feb 2024</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$70.10</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P/E 14.19</a:t>
            </a:r>
            <a:endParaRPr lang="en-US" sz="1200" dirty="0"/>
          </a:p>
        </p:txBody>
      </p:sp>
      <p:sp>
        <p:nvSpPr>
          <p:cNvPr id="16" name="Shape 14"/>
          <p:cNvSpPr/>
          <p:nvPr/>
        </p:nvSpPr>
        <p:spPr>
          <a:xfrm>
            <a:off x="2852928" y="1143000"/>
            <a:ext cx="3054096" cy="1645920"/>
          </a:xfrm>
          <a:prstGeom prst="rect">
            <a:avLst/>
          </a:prstGeom>
          <a:solidFill>
            <a:schemeClr val="accent2">
              <a:lumMod val="20000"/>
              <a:lumOff val="80000"/>
            </a:schemeClr>
          </a:solidFill>
          <a:ln w="12700">
            <a:solidFill>
              <a:srgbClr val="EDE5DC"/>
            </a:solidFill>
            <a:prstDash val="solid"/>
          </a:ln>
          <a:effectLst>
            <a:outerShdw blurRad="101600" dist="38100" dir="8100000" algn="bl" rotWithShape="0">
              <a:srgbClr val="000000">
                <a:alpha val="12000"/>
              </a:srgbClr>
            </a:outerShdw>
          </a:effectLst>
        </p:spPr>
      </p:sp>
      <p:sp>
        <p:nvSpPr>
          <p:cNvPr id="17" name="Shape 15"/>
          <p:cNvSpPr/>
          <p:nvPr/>
        </p:nvSpPr>
        <p:spPr>
          <a:xfrm>
            <a:off x="2944368" y="1252728"/>
            <a:ext cx="658368" cy="274320"/>
          </a:xfrm>
          <a:prstGeom prst="rect">
            <a:avLst/>
          </a:prstGeom>
          <a:solidFill>
            <a:srgbClr val="F57C00"/>
          </a:solidFill>
          <a:ln w="12700">
            <a:solidFill>
              <a:srgbClr val="F57C00"/>
            </a:solidFill>
            <a:prstDash val="solid"/>
          </a:ln>
        </p:spPr>
      </p:sp>
      <p:sp>
        <p:nvSpPr>
          <p:cNvPr id="18" name="Text 16"/>
          <p:cNvSpPr/>
          <p:nvPr/>
        </p:nvSpPr>
        <p:spPr>
          <a:xfrm>
            <a:off x="2944368" y="1252728"/>
            <a:ext cx="658368"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HOLD</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3675888" y="1298448"/>
            <a:ext cx="2148840" cy="201168"/>
          </a:xfrm>
          <a:prstGeom prst="rect">
            <a:avLst/>
          </a:prstGeom>
          <a:noFill/>
        </p:spPr>
        <p:txBody>
          <a:bodyPr wrap="square" lIns="0" tIns="0" rIns="0" bIns="0" rtlCol="0" anchor="ctr"/>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conf=0.65  score=+0.50</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2944368" y="1600200"/>
            <a:ext cx="2834640" cy="1097280"/>
          </a:xfrm>
          <a:prstGeom prst="rect">
            <a:avLst/>
          </a:prstGeom>
          <a:noFill/>
        </p:spPr>
        <p:txBody>
          <a:bodyPr wrap="square" lIns="0" tIns="0" rIns="0" bIns="0" rtlCol="0" anchor="t"/>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NVDA fairly valued; P/E 14.19 and P/FCF 17.62 are reasonable given strong profitability. Positive price momentum (+11.2% over 5 days) suggests market optimism, but high P/FCF limits further upside.</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6016752" y="1143000"/>
            <a:ext cx="3054096" cy="1645920"/>
          </a:xfrm>
          <a:prstGeom prst="rect">
            <a:avLst/>
          </a:prstGeom>
          <a:solidFill>
            <a:srgbClr val="F4C2A1"/>
          </a:solidFill>
          <a:ln w="12700">
            <a:solidFill>
              <a:srgbClr val="EDE5DC"/>
            </a:solidFill>
            <a:prstDash val="solid"/>
          </a:ln>
          <a:effectLst>
            <a:outerShdw blurRad="101600" dist="38100" dir="8100000" algn="bl" rotWithShape="0">
              <a:srgbClr val="000000">
                <a:alpha val="12000"/>
              </a:srgbClr>
            </a:outerShdw>
          </a:effectLst>
        </p:spPr>
      </p:sp>
      <p:sp>
        <p:nvSpPr>
          <p:cNvPr id="22" name="Shape 20"/>
          <p:cNvSpPr/>
          <p:nvPr/>
        </p:nvSpPr>
        <p:spPr>
          <a:xfrm>
            <a:off x="6108192" y="1252728"/>
            <a:ext cx="658368" cy="274320"/>
          </a:xfrm>
          <a:prstGeom prst="rect">
            <a:avLst/>
          </a:prstGeom>
          <a:solidFill>
            <a:srgbClr val="F57C00"/>
          </a:solidFill>
          <a:ln w="12700">
            <a:solidFill>
              <a:srgbClr val="F57C00"/>
            </a:solidFill>
            <a:prstDash val="solid"/>
          </a:ln>
        </p:spPr>
      </p:sp>
      <p:sp>
        <p:nvSpPr>
          <p:cNvPr id="23" name="Text 21"/>
          <p:cNvSpPr/>
          <p:nvPr/>
        </p:nvSpPr>
        <p:spPr>
          <a:xfrm>
            <a:off x="6108192" y="1252728"/>
            <a:ext cx="658368"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HOLD</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6839712" y="1298448"/>
            <a:ext cx="2148840" cy="201168"/>
          </a:xfrm>
          <a:prstGeom prst="rect">
            <a:avLst/>
          </a:prstGeom>
          <a:noFill/>
        </p:spPr>
        <p:txBody>
          <a:bodyPr wrap="square" lIns="0" tIns="0" rIns="0" bIns="0" rtlCol="0" anchor="ctr"/>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conf=0.65  score=+0.30</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6108192" y="1600200"/>
            <a:ext cx="2834640" cy="1097280"/>
          </a:xfrm>
          <a:prstGeom prst="rect">
            <a:avLst/>
          </a:prstGeom>
          <a:noFill/>
        </p:spPr>
        <p:txBody>
          <a:bodyPr wrap="square" lIns="0" tIns="0" rIns="0" bIns="0" rtlCol="0" anchor="t"/>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Valuation multiples reasonable with P/E 14.19. FinBERT score of 0.3265 supports stable outlook, but recent 11.2% price increase may already price in the positive sentiment — maintain caution.</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255905" y="2853055"/>
            <a:ext cx="2487295" cy="1645920"/>
          </a:xfrm>
          <a:prstGeom prst="rect">
            <a:avLst/>
          </a:prstGeom>
          <a:solidFill>
            <a:srgbClr val="EDE5DC"/>
          </a:solidFill>
          <a:ln w="12700">
            <a:solidFill>
              <a:srgbClr val="EDE5DC"/>
            </a:solidFill>
            <a:prstDash val="solid"/>
          </a:ln>
          <a:effectLst>
            <a:outerShdw blurRad="101600" dist="38100" dir="8100000" algn="bl" rotWithShape="0">
              <a:srgbClr val="000000">
                <a:alpha val="12000"/>
              </a:srgbClr>
            </a:outerShdw>
          </a:effectLst>
        </p:spPr>
      </p:sp>
      <p:sp>
        <p:nvSpPr>
          <p:cNvPr id="27" name="Shape 25"/>
          <p:cNvSpPr/>
          <p:nvPr/>
        </p:nvSpPr>
        <p:spPr>
          <a:xfrm>
            <a:off x="256032" y="2853055"/>
            <a:ext cx="64008" cy="1645920"/>
          </a:xfrm>
          <a:prstGeom prst="rect">
            <a:avLst/>
          </a:prstGeom>
          <a:solidFill>
            <a:srgbClr val="C8692A"/>
          </a:solidFill>
          <a:ln w="12700">
            <a:solidFill>
              <a:srgbClr val="EDE5DC"/>
            </a:solidFill>
            <a:prstDash val="solid"/>
          </a:ln>
        </p:spPr>
      </p:sp>
      <p:sp>
        <p:nvSpPr>
          <p:cNvPr id="28" name="Text 26"/>
          <p:cNvSpPr/>
          <p:nvPr/>
        </p:nvSpPr>
        <p:spPr>
          <a:xfrm>
            <a:off x="411480" y="2926207"/>
            <a:ext cx="2194560" cy="1463040"/>
          </a:xfrm>
          <a:prstGeom prst="rect">
            <a:avLst/>
          </a:prstGeom>
          <a:noFill/>
        </p:spPr>
        <p:txBody>
          <a:bodyPr wrap="square" lIns="0" tIns="0" rIns="0" bIns="0" rtlCol="0" anchor="t"/>
          <a:lstStyle/>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Window 2</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Aug 2024</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$98.91</a:t>
            </a:r>
            <a:endParaRPr lang="en-US" sz="1200" dirty="0"/>
          </a:p>
          <a:p>
            <a:pPr marL="0" indent="0">
              <a:buNone/>
            </a:pPr>
            <a:r>
              <a:rPr lang="en-US" sz="1200" dirty="0">
                <a:solidFill>
                  <a:srgbClr val="1A2B3C"/>
                </a:solidFill>
                <a:latin typeface="Calibri" panose="020F0502020204030204" pitchFamily="34" charset="0"/>
                <a:ea typeface="Calibri" panose="020F0502020204030204" pitchFamily="34" charset="-122"/>
                <a:cs typeface="Calibri" panose="020F0502020204030204" pitchFamily="34" charset="-120"/>
              </a:rPr>
              <a:t>P/E 20.02</a:t>
            </a:r>
            <a:endParaRPr lang="en-US" sz="1200" dirty="0"/>
          </a:p>
        </p:txBody>
      </p:sp>
      <p:sp>
        <p:nvSpPr>
          <p:cNvPr id="29" name="Shape 27"/>
          <p:cNvSpPr/>
          <p:nvPr/>
        </p:nvSpPr>
        <p:spPr>
          <a:xfrm>
            <a:off x="2852928" y="2853055"/>
            <a:ext cx="3054096" cy="1645920"/>
          </a:xfrm>
          <a:prstGeom prst="rect">
            <a:avLst/>
          </a:prstGeom>
          <a:solidFill>
            <a:schemeClr val="accent2">
              <a:lumMod val="20000"/>
              <a:lumOff val="80000"/>
            </a:schemeClr>
          </a:solidFill>
          <a:ln w="12700">
            <a:solidFill>
              <a:srgbClr val="EDE5DC"/>
            </a:solidFill>
            <a:prstDash val="solid"/>
          </a:ln>
          <a:effectLst>
            <a:outerShdw blurRad="101600" dist="38100" dir="8100000" algn="bl" rotWithShape="0">
              <a:srgbClr val="000000">
                <a:alpha val="12000"/>
              </a:srgbClr>
            </a:outerShdw>
          </a:effectLst>
        </p:spPr>
      </p:sp>
      <p:sp>
        <p:nvSpPr>
          <p:cNvPr id="30" name="Shape 28"/>
          <p:cNvSpPr/>
          <p:nvPr/>
        </p:nvSpPr>
        <p:spPr>
          <a:xfrm>
            <a:off x="2944368" y="2962783"/>
            <a:ext cx="658368" cy="274320"/>
          </a:xfrm>
          <a:prstGeom prst="rect">
            <a:avLst/>
          </a:prstGeom>
          <a:solidFill>
            <a:srgbClr val="F57C00"/>
          </a:solidFill>
          <a:ln w="12700">
            <a:solidFill>
              <a:srgbClr val="F57C00"/>
            </a:solidFill>
            <a:prstDash val="solid"/>
          </a:ln>
        </p:spPr>
      </p:sp>
      <p:sp>
        <p:nvSpPr>
          <p:cNvPr id="31" name="Text 29"/>
          <p:cNvSpPr/>
          <p:nvPr/>
        </p:nvSpPr>
        <p:spPr>
          <a:xfrm>
            <a:off x="2944368" y="2962783"/>
            <a:ext cx="658368"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HOLD</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3675888" y="3008503"/>
            <a:ext cx="2148840" cy="201168"/>
          </a:xfrm>
          <a:prstGeom prst="rect">
            <a:avLst/>
          </a:prstGeom>
          <a:noFill/>
        </p:spPr>
        <p:txBody>
          <a:bodyPr wrap="square" lIns="0" tIns="0" rIns="0" bIns="0" rtlCol="0" anchor="ctr"/>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conf=0.60  score=+0.20</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p:nvPr/>
        </p:nvSpPr>
        <p:spPr>
          <a:xfrm>
            <a:off x="2944368" y="3310255"/>
            <a:ext cx="2834640" cy="1097280"/>
          </a:xfrm>
          <a:prstGeom prst="rect">
            <a:avLst/>
          </a:prstGeom>
          <a:noFill/>
        </p:spPr>
        <p:txBody>
          <a:bodyPr wrap="square" lIns="0" tIns="0" rIns="0" bIns="0" rtlCol="0" anchor="t"/>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P/E 20.02 and P/FCF 24.86 indicate fair value relative to strong profitability. Recent price decline of 9.4% is negative momentum. Robust revenue growth is a positive, but supply constraints for Blackwell pose near-term risk.</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Shape 32"/>
          <p:cNvSpPr/>
          <p:nvPr/>
        </p:nvSpPr>
        <p:spPr>
          <a:xfrm>
            <a:off x="6016752" y="2853055"/>
            <a:ext cx="3054096" cy="1645920"/>
          </a:xfrm>
          <a:prstGeom prst="rect">
            <a:avLst/>
          </a:prstGeom>
          <a:solidFill>
            <a:srgbClr val="F4C2A1"/>
          </a:solidFill>
          <a:ln w="12700">
            <a:solidFill>
              <a:srgbClr val="EDE5DC"/>
            </a:solidFill>
            <a:prstDash val="solid"/>
          </a:ln>
          <a:effectLst>
            <a:outerShdw blurRad="101600" dist="38100" dir="8100000" algn="bl" rotWithShape="0">
              <a:srgbClr val="000000">
                <a:alpha val="12000"/>
              </a:srgbClr>
            </a:outerShdw>
          </a:effectLst>
        </p:spPr>
      </p:sp>
      <p:sp>
        <p:nvSpPr>
          <p:cNvPr id="35" name="Shape 33"/>
          <p:cNvSpPr/>
          <p:nvPr/>
        </p:nvSpPr>
        <p:spPr>
          <a:xfrm>
            <a:off x="6108192" y="2962783"/>
            <a:ext cx="658368" cy="274320"/>
          </a:xfrm>
          <a:prstGeom prst="rect">
            <a:avLst/>
          </a:prstGeom>
          <a:solidFill>
            <a:srgbClr val="F57C00"/>
          </a:solidFill>
          <a:ln w="12700">
            <a:solidFill>
              <a:srgbClr val="F57C00"/>
            </a:solidFill>
            <a:prstDash val="solid"/>
          </a:ln>
        </p:spPr>
      </p:sp>
      <p:sp>
        <p:nvSpPr>
          <p:cNvPr id="36" name="Text 34"/>
          <p:cNvSpPr/>
          <p:nvPr/>
        </p:nvSpPr>
        <p:spPr>
          <a:xfrm>
            <a:off x="6108192" y="2962783"/>
            <a:ext cx="658368" cy="27432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HOLD</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6839712" y="3008503"/>
            <a:ext cx="2148840" cy="201168"/>
          </a:xfrm>
          <a:prstGeom prst="rect">
            <a:avLst/>
          </a:prstGeom>
          <a:noFill/>
        </p:spPr>
        <p:txBody>
          <a:bodyPr wrap="square" lIns="0" tIns="0" rIns="0" bIns="0" rtlCol="0" anchor="ctr"/>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conf=0.60  score=+0.10</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Text 36"/>
          <p:cNvSpPr/>
          <p:nvPr/>
        </p:nvSpPr>
        <p:spPr>
          <a:xfrm>
            <a:off x="6108192" y="3310255"/>
            <a:ext cx="2834640" cy="1097280"/>
          </a:xfrm>
          <a:prstGeom prst="rect">
            <a:avLst/>
          </a:prstGeom>
          <a:noFill/>
        </p:spPr>
        <p:txBody>
          <a:bodyPr wrap="square" lIns="0" tIns="0" rIns="0" bIns="0" rtlCol="0" anchor="t"/>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Valuation multiples relatively high but justified by strong AI revenue growth. Positive FinBERT (0.365) and GPT intensity (6.61) reflect management confidence in Blackwell ramp. Price decline of 9.4% and high multiples warrant cautious hold.</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Shape 37"/>
          <p:cNvSpPr/>
          <p:nvPr/>
        </p:nvSpPr>
        <p:spPr>
          <a:xfrm>
            <a:off x="255905" y="4636135"/>
            <a:ext cx="8814435" cy="372745"/>
          </a:xfrm>
          <a:prstGeom prst="rect">
            <a:avLst/>
          </a:prstGeom>
          <a:solidFill>
            <a:srgbClr val="D9C9BB"/>
          </a:solidFill>
          <a:ln w="12700">
            <a:solidFill>
              <a:srgbClr val="EDE5DC"/>
            </a:solidFill>
            <a:prstDash val="solid"/>
          </a:ln>
        </p:spPr>
      </p:sp>
      <p:sp>
        <p:nvSpPr>
          <p:cNvPr id="40" name="Text 38"/>
          <p:cNvSpPr/>
          <p:nvPr/>
        </p:nvSpPr>
        <p:spPr>
          <a:xfrm>
            <a:off x="255905" y="4636135"/>
            <a:ext cx="8802370" cy="363855"/>
          </a:xfrm>
          <a:prstGeom prst="rect">
            <a:avLst/>
          </a:prstGeom>
          <a:noFill/>
        </p:spPr>
        <p:txBody>
          <a:bodyPr wrap="square" lIns="25400" tIns="25400" rIns="25400" bIns="25400" rtlCol="0" anchor="ctr"/>
          <a:lstStyle/>
          <a:p>
            <a:pPr marL="0" indent="0">
              <a:buNone/>
            </a:pPr>
            <a:r>
              <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Key: </a:t>
            </a: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 Both agents consistently output HOLD across both windows.  Adding sentiment enriched the thesis narrative (referencing FinBERT/GPT scores) but did not alter the final signal. Hence, moderately positive sentiment was insufficient to override valuation-based caution.</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Shape 2"/>
          <p:cNvSpPr/>
          <p:nvPr/>
        </p:nvSpPr>
        <p:spPr>
          <a:xfrm>
            <a:off x="320040" y="658368"/>
            <a:ext cx="8503920" cy="18288"/>
          </a:xfrm>
          <a:prstGeom prst="rect">
            <a:avLst/>
          </a:prstGeom>
          <a:solidFill>
            <a:srgbClr val="D9C9BB"/>
          </a:solidFill>
          <a:ln w="12700">
            <a:solidFill>
              <a:srgbClr val="D9C9BB"/>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AF7F4"/>
          </a:solidFill>
          <a:ln w="12700">
            <a:solidFill>
              <a:srgbClr val="FAF7F4"/>
            </a:solidFill>
            <a:prstDash val="solid"/>
          </a:ln>
        </p:spPr>
      </p:sp>
      <p:sp>
        <p:nvSpPr>
          <p:cNvPr id="3" name="Shape 1"/>
          <p:cNvSpPr/>
          <p:nvPr/>
        </p:nvSpPr>
        <p:spPr>
          <a:xfrm>
            <a:off x="0" y="0"/>
            <a:ext cx="201168" cy="658368"/>
          </a:xfrm>
          <a:prstGeom prst="rect">
            <a:avLst/>
          </a:prstGeom>
          <a:solidFill>
            <a:srgbClr val="8B3A1A"/>
          </a:solidFill>
          <a:ln w="12700">
            <a:solidFill>
              <a:srgbClr val="8B3A1A"/>
            </a:solidFill>
            <a:prstDash val="solid"/>
          </a:ln>
        </p:spPr>
      </p:sp>
      <p:sp>
        <p:nvSpPr>
          <p:cNvPr id="4" name="Text 2"/>
          <p:cNvSpPr/>
          <p:nvPr/>
        </p:nvSpPr>
        <p:spPr>
          <a:xfrm>
            <a:off x="320040" y="0"/>
            <a:ext cx="5943600" cy="658368"/>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Backtest Performance &amp; Sharpe Ratio</a:t>
            </a:r>
            <a:endPar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5755005" y="0"/>
            <a:ext cx="3251835" cy="658495"/>
          </a:xfrm>
          <a:prstGeom prst="rect">
            <a:avLst/>
          </a:prstGeom>
          <a:noFill/>
        </p:spPr>
        <p:txBody>
          <a:bodyPr wrap="square" lIns="0" tIns="0" rIns="0" bIns="0" rtlCol="0" anchor="ctr"/>
          <a:lstStyle/>
          <a:p>
            <a:pPr marL="0" indent="0" algn="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Event-driven agent vs Buy-and-Hold benchmark</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56032" y="804672"/>
            <a:ext cx="2816352" cy="1920240"/>
          </a:xfrm>
          <a:prstGeom prst="rect">
            <a:avLst/>
          </a:prstGeom>
          <a:solidFill>
            <a:schemeClr val="accent2">
              <a:lumMod val="20000"/>
              <a:lumOff val="80000"/>
            </a:schemeClr>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9" name="Shape 7"/>
          <p:cNvSpPr/>
          <p:nvPr/>
        </p:nvSpPr>
        <p:spPr>
          <a:xfrm>
            <a:off x="256032" y="804672"/>
            <a:ext cx="2816352" cy="292608"/>
          </a:xfrm>
          <a:prstGeom prst="rect">
            <a:avLst/>
          </a:prstGeom>
          <a:solidFill>
            <a:schemeClr val="accent2">
              <a:lumMod val="40000"/>
              <a:lumOff val="60000"/>
            </a:schemeClr>
          </a:solidFill>
          <a:ln w="12700">
            <a:solidFill>
              <a:schemeClr val="accent2">
                <a:lumMod val="40000"/>
                <a:lumOff val="60000"/>
              </a:schemeClr>
            </a:solidFill>
            <a:prstDash val="solid"/>
          </a:ln>
        </p:spPr>
      </p:sp>
      <p:sp>
        <p:nvSpPr>
          <p:cNvPr id="10" name="Text 8"/>
          <p:cNvSpPr/>
          <p:nvPr/>
        </p:nvSpPr>
        <p:spPr>
          <a:xfrm>
            <a:off x="256032" y="804672"/>
            <a:ext cx="2816352" cy="292608"/>
          </a:xfrm>
          <a:prstGeom prst="rect">
            <a:avLst/>
          </a:prstGeom>
          <a:noFill/>
        </p:spPr>
        <p:txBody>
          <a:bodyPr wrap="square" lIns="0" tIns="0" rIns="0" bIns="0" rtlCol="0" anchor="ctr"/>
          <a:lstStyle/>
          <a:p>
            <a:pPr marL="0" indent="0" algn="ctr">
              <a:buNone/>
            </a:pPr>
            <a:r>
              <a:rPr lang="en-US" sz="1400" b="1" dirty="0">
                <a:solidFill>
                  <a:srgbClr val="FAF7F4"/>
                </a:solidFill>
                <a:latin typeface="Calibri" panose="020F0502020204030204" pitchFamily="34" charset="0"/>
                <a:ea typeface="Calibri" panose="020F0502020204030204" pitchFamily="34" charset="-122"/>
                <a:cs typeface="Calibri" panose="020F0502020204030204" pitchFamily="34" charset="-120"/>
              </a:rPr>
              <a:t>WITHOUT Sentiment</a:t>
            </a:r>
            <a:endParaRPr lang="en-US" sz="1400" b="1" dirty="0">
              <a:solidFill>
                <a:srgbClr val="FAF7F4"/>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365760" y="1170432"/>
            <a:ext cx="2596896" cy="621792"/>
          </a:xfrm>
          <a:prstGeom prst="rect">
            <a:avLst/>
          </a:prstGeom>
          <a:noFill/>
        </p:spPr>
        <p:txBody>
          <a:bodyPr wrap="square" lIns="0" tIns="0" rIns="0" bIns="0" rtlCol="0" anchor="ctr"/>
          <a:lstStyle/>
          <a:p>
            <a:pPr marL="0" indent="0" algn="ctr">
              <a:buNone/>
            </a:pPr>
            <a:r>
              <a:rPr lang="en-US" sz="3600" b="1" dirty="0">
                <a:solidFill>
                  <a:schemeClr val="accent2"/>
                </a:solidFill>
                <a:latin typeface="Calibri" panose="020F0502020204030204" pitchFamily="34" charset="0"/>
                <a:ea typeface="Calibri" panose="020F0502020204030204" pitchFamily="34" charset="-122"/>
                <a:cs typeface="Calibri" panose="020F0502020204030204" pitchFamily="34" charset="-120"/>
              </a:rPr>
              <a:t>+0.00%</a:t>
            </a:r>
            <a:endParaRPr lang="en-US" sz="3600" b="1" dirty="0">
              <a:solidFill>
                <a:schemeClr val="accent2"/>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365760" y="1755648"/>
            <a:ext cx="2596896" cy="182880"/>
          </a:xfrm>
          <a:prstGeom prst="rect">
            <a:avLst/>
          </a:prstGeom>
          <a:noFill/>
        </p:spPr>
        <p:txBody>
          <a:bodyPr wrap="square" lIns="0" tIns="0" rIns="0" bIns="0" rtlCol="0" anchor="ctr"/>
          <a:lstStyle/>
          <a:p>
            <a:pPr marL="0" indent="0" algn="ctr">
              <a:buNone/>
            </a:pPr>
            <a:r>
              <a:rPr lang="en-US" sz="1100" dirty="0">
                <a:solidFill>
                  <a:schemeClr val="accent2"/>
                </a:solidFill>
                <a:latin typeface="Calibri" panose="020F0502020204030204" pitchFamily="34" charset="0"/>
                <a:ea typeface="Calibri" panose="020F0502020204030204" pitchFamily="34" charset="-122"/>
                <a:cs typeface="Calibri" panose="020F0502020204030204" pitchFamily="34" charset="-120"/>
              </a:rPr>
              <a:t>Total Return</a:t>
            </a:r>
            <a:endParaRPr lang="en-US" sz="1100" dirty="0">
              <a:solidFill>
                <a:schemeClr val="accent2"/>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713232" y="1965960"/>
            <a:ext cx="1901952" cy="36576"/>
          </a:xfrm>
          <a:prstGeom prst="rect">
            <a:avLst/>
          </a:prstGeom>
          <a:solidFill>
            <a:schemeClr val="accent2"/>
          </a:solidFill>
          <a:ln w="12700">
            <a:solidFill>
              <a:schemeClr val="accent2"/>
            </a:solidFill>
            <a:prstDash val="solid"/>
          </a:ln>
        </p:spPr>
      </p:sp>
      <p:sp>
        <p:nvSpPr>
          <p:cNvPr id="14" name="Text 12"/>
          <p:cNvSpPr/>
          <p:nvPr/>
        </p:nvSpPr>
        <p:spPr>
          <a:xfrm>
            <a:off x="365760" y="2029968"/>
            <a:ext cx="2596896" cy="292608"/>
          </a:xfrm>
          <a:prstGeom prst="rect">
            <a:avLst/>
          </a:prstGeom>
          <a:noFill/>
        </p:spPr>
        <p:txBody>
          <a:bodyPr wrap="square" lIns="0" tIns="0" rIns="0" bIns="0" rtlCol="0" anchor="ctr"/>
          <a:lstStyle/>
          <a:p>
            <a:pPr marL="0" indent="0" algn="ctr">
              <a:buNone/>
            </a:pPr>
            <a:r>
              <a:rPr lang="en-US" sz="1400" b="1" dirty="0">
                <a:solidFill>
                  <a:schemeClr val="accent2"/>
                </a:solidFill>
                <a:latin typeface="Calibri" panose="020F0502020204030204" pitchFamily="34" charset="0"/>
                <a:ea typeface="Calibri" panose="020F0502020204030204" pitchFamily="34" charset="-122"/>
                <a:cs typeface="Calibri" panose="020F0502020204030204" pitchFamily="34" charset="-120"/>
              </a:rPr>
              <a:t>Sharpe: N/A</a:t>
            </a:r>
            <a:endParaRPr lang="en-US" sz="1400" b="1" dirty="0">
              <a:solidFill>
                <a:schemeClr val="accent2"/>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365760" y="2350008"/>
            <a:ext cx="2596896" cy="201168"/>
          </a:xfrm>
          <a:prstGeom prst="rect">
            <a:avLst/>
          </a:prstGeom>
          <a:noFill/>
        </p:spPr>
        <p:txBody>
          <a:bodyPr wrap="square" lIns="0" tIns="0" rIns="0" bIns="0" rtlCol="0" anchor="ctr"/>
          <a:lstStyle/>
          <a:p>
            <a:pPr marL="0" indent="0" algn="ctr">
              <a:buNone/>
            </a:pPr>
            <a:r>
              <a:rPr lang="en-US" sz="1100" dirty="0">
                <a:solidFill>
                  <a:schemeClr val="accent2"/>
                </a:solidFill>
                <a:latin typeface="Calibri" panose="020F0502020204030204" pitchFamily="34" charset="0"/>
                <a:ea typeface="Calibri" panose="020F0502020204030204" pitchFamily="34" charset="-122"/>
                <a:cs typeface="Calibri" panose="020F0502020204030204" pitchFamily="34" charset="-120"/>
              </a:rPr>
              <a:t>No trades executed</a:t>
            </a:r>
            <a:endParaRPr lang="en-US" sz="1100" dirty="0">
              <a:solidFill>
                <a:schemeClr val="accent2"/>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3218688" y="804672"/>
            <a:ext cx="2816352" cy="1920240"/>
          </a:xfrm>
          <a:prstGeom prst="rect">
            <a:avLst/>
          </a:prstGeom>
          <a:solidFill>
            <a:schemeClr val="accent2">
              <a:lumMod val="40000"/>
              <a:lumOff val="60000"/>
            </a:schemeClr>
          </a:solidFill>
          <a:ln w="12700">
            <a:solidFill>
              <a:schemeClr val="accent2">
                <a:lumMod val="40000"/>
                <a:lumOff val="60000"/>
              </a:schemeClr>
            </a:solidFill>
            <a:prstDash val="solid"/>
          </a:ln>
          <a:effectLst>
            <a:outerShdw blurRad="101600" dist="38100" dir="8100000" algn="bl" rotWithShape="0">
              <a:srgbClr val="000000">
                <a:alpha val="12000"/>
              </a:srgbClr>
            </a:outerShdw>
          </a:effectLst>
        </p:spPr>
      </p:sp>
      <p:sp>
        <p:nvSpPr>
          <p:cNvPr id="17" name="Shape 15"/>
          <p:cNvSpPr/>
          <p:nvPr/>
        </p:nvSpPr>
        <p:spPr>
          <a:xfrm>
            <a:off x="3218688" y="804672"/>
            <a:ext cx="2816352" cy="292608"/>
          </a:xfrm>
          <a:prstGeom prst="rect">
            <a:avLst/>
          </a:prstGeom>
          <a:solidFill>
            <a:srgbClr val="00897B"/>
          </a:solidFill>
          <a:ln w="12700">
            <a:solidFill>
              <a:srgbClr val="00897B"/>
            </a:solidFill>
            <a:prstDash val="solid"/>
          </a:ln>
        </p:spPr>
      </p:sp>
      <p:sp>
        <p:nvSpPr>
          <p:cNvPr id="18" name="Text 16"/>
          <p:cNvSpPr/>
          <p:nvPr/>
        </p:nvSpPr>
        <p:spPr>
          <a:xfrm>
            <a:off x="3218688" y="804672"/>
            <a:ext cx="2816352" cy="292608"/>
          </a:xfrm>
          <a:prstGeom prst="rect">
            <a:avLst/>
          </a:prstGeom>
          <a:solidFill>
            <a:schemeClr val="accent2">
              <a:lumMod val="60000"/>
              <a:lumOff val="40000"/>
            </a:schemeClr>
          </a:solidFill>
          <a:ln>
            <a:solidFill>
              <a:schemeClr val="accent2">
                <a:lumMod val="60000"/>
                <a:lumOff val="40000"/>
              </a:schemeClr>
            </a:solidFill>
          </a:ln>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WITH Sentiment</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3328416" y="1170432"/>
            <a:ext cx="2596896" cy="621792"/>
          </a:xfrm>
          <a:prstGeom prst="rect">
            <a:avLst/>
          </a:prstGeom>
          <a:noFill/>
        </p:spPr>
        <p:txBody>
          <a:bodyPr wrap="square" lIns="0" tIns="0" rIns="0" bIns="0" rtlCol="0" anchor="ctr"/>
          <a:lstStyle/>
          <a:p>
            <a:pPr marL="0" indent="0" algn="ctr">
              <a:buNone/>
            </a:pPr>
            <a:r>
              <a:rPr lang="en-US" sz="36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+0.00%</a:t>
            </a:r>
            <a:endParaRPr lang="en-US" sz="36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3328416" y="1755648"/>
            <a:ext cx="2596896" cy="182880"/>
          </a:xfrm>
          <a:prstGeom prst="rect">
            <a:avLst/>
          </a:prstGeom>
          <a:noFill/>
        </p:spPr>
        <p:txBody>
          <a:bodyPr wrap="square" lIns="0" tIns="0" rIns="0" bIns="0" rtlCol="0" anchor="ctr"/>
          <a:lstStyle/>
          <a:p>
            <a:pPr marL="0" indent="0" algn="ctr">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Total Return</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3675888" y="1965960"/>
            <a:ext cx="1901952" cy="36576"/>
          </a:xfrm>
          <a:prstGeom prst="rect">
            <a:avLst/>
          </a:prstGeom>
          <a:solidFill>
            <a:schemeClr val="accent2">
              <a:lumMod val="75000"/>
            </a:schemeClr>
          </a:solidFill>
          <a:ln w="12700">
            <a:solidFill>
              <a:schemeClr val="accent2">
                <a:lumMod val="75000"/>
              </a:schemeClr>
            </a:solidFill>
            <a:prstDash val="solid"/>
          </a:ln>
        </p:spPr>
      </p:sp>
      <p:sp>
        <p:nvSpPr>
          <p:cNvPr id="22" name="Text 20"/>
          <p:cNvSpPr/>
          <p:nvPr/>
        </p:nvSpPr>
        <p:spPr>
          <a:xfrm>
            <a:off x="3328416" y="2029968"/>
            <a:ext cx="2596896" cy="292608"/>
          </a:xfrm>
          <a:prstGeom prst="rect">
            <a:avLst/>
          </a:prstGeom>
          <a:noFill/>
        </p:spPr>
        <p:txBody>
          <a:bodyPr wrap="square" lIns="0" tIns="0" rIns="0" bIns="0" rtlCol="0" anchor="ctr"/>
          <a:lstStyle/>
          <a:p>
            <a:pPr marL="0" indent="0" algn="ctr">
              <a:buNone/>
            </a:pPr>
            <a:r>
              <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Sharpe: N/A</a:t>
            </a:r>
            <a:endPar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3328416" y="2350008"/>
            <a:ext cx="2596896" cy="201168"/>
          </a:xfrm>
          <a:prstGeom prst="rect">
            <a:avLst/>
          </a:prstGeom>
          <a:noFill/>
        </p:spPr>
        <p:txBody>
          <a:bodyPr wrap="square" lIns="0" tIns="0" rIns="0" bIns="0" rtlCol="0" anchor="ctr"/>
          <a:lstStyle/>
          <a:p>
            <a:pPr marL="0" indent="0" algn="ctr">
              <a:buNone/>
            </a:pPr>
            <a:r>
              <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No trades executed</a:t>
            </a:r>
            <a:endParaRPr lang="en-US" sz="11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6181344" y="804672"/>
            <a:ext cx="2816352" cy="1920240"/>
          </a:xfrm>
          <a:prstGeom prst="rect">
            <a:avLst/>
          </a:prstGeom>
          <a:solidFill>
            <a:schemeClr val="accent2">
              <a:lumMod val="60000"/>
              <a:lumOff val="40000"/>
            </a:schemeClr>
          </a:solidFill>
          <a:ln w="12700">
            <a:solidFill>
              <a:schemeClr val="accent2">
                <a:lumMod val="60000"/>
                <a:lumOff val="40000"/>
              </a:schemeClr>
            </a:solidFill>
            <a:prstDash val="solid"/>
          </a:ln>
          <a:effectLst>
            <a:outerShdw blurRad="101600" dist="38100" dir="8100000" algn="bl" rotWithShape="0">
              <a:srgbClr val="000000">
                <a:alpha val="12000"/>
              </a:srgbClr>
            </a:outerShdw>
          </a:effectLst>
        </p:spPr>
      </p:sp>
      <p:sp>
        <p:nvSpPr>
          <p:cNvPr id="25" name="Shape 23"/>
          <p:cNvSpPr/>
          <p:nvPr/>
        </p:nvSpPr>
        <p:spPr>
          <a:xfrm>
            <a:off x="6181344" y="804672"/>
            <a:ext cx="2816352" cy="292608"/>
          </a:xfrm>
          <a:prstGeom prst="rect">
            <a:avLst/>
          </a:prstGeom>
          <a:solidFill>
            <a:schemeClr val="accent2">
              <a:lumMod val="75000"/>
            </a:schemeClr>
          </a:solidFill>
          <a:ln w="12700">
            <a:solidFill>
              <a:schemeClr val="accent2">
                <a:lumMod val="75000"/>
              </a:schemeClr>
            </a:solidFill>
            <a:prstDash val="solid"/>
          </a:ln>
        </p:spPr>
      </p:sp>
      <p:sp>
        <p:nvSpPr>
          <p:cNvPr id="26" name="Text 24"/>
          <p:cNvSpPr/>
          <p:nvPr/>
        </p:nvSpPr>
        <p:spPr>
          <a:xfrm>
            <a:off x="6181344" y="804672"/>
            <a:ext cx="2816352" cy="292608"/>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Buy-and-Hold Benchmark</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6291072" y="1170432"/>
            <a:ext cx="2596896" cy="621792"/>
          </a:xfrm>
          <a:prstGeom prst="rect">
            <a:avLst/>
          </a:prstGeom>
          <a:noFill/>
        </p:spPr>
        <p:txBody>
          <a:bodyPr wrap="square" lIns="0" tIns="0" rIns="0" bIns="0" rtlCol="0" anchor="ctr"/>
          <a:lstStyle/>
          <a:p>
            <a:pPr marL="0" indent="0" algn="ctr">
              <a:buNone/>
            </a:pPr>
            <a:r>
              <a:rPr lang="en-US" sz="3600" b="1" dirty="0">
                <a:solidFill>
                  <a:srgbClr val="FAF7F4"/>
                </a:solidFill>
                <a:latin typeface="Calibri" panose="020F0502020204030204" pitchFamily="34" charset="0"/>
                <a:ea typeface="Calibri" panose="020F0502020204030204" pitchFamily="34" charset="-122"/>
                <a:cs typeface="Calibri" panose="020F0502020204030204" pitchFamily="34" charset="-120"/>
              </a:rPr>
              <a:t>+185.44%</a:t>
            </a:r>
            <a:endParaRPr lang="en-US" sz="3600" b="1" dirty="0">
              <a:solidFill>
                <a:srgbClr val="FAF7F4"/>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6291072" y="1755648"/>
            <a:ext cx="2596896" cy="182880"/>
          </a:xfrm>
          <a:prstGeom prst="rect">
            <a:avLst/>
          </a:prstGeom>
          <a:noFill/>
        </p:spPr>
        <p:txBody>
          <a:bodyPr wrap="square" lIns="0" tIns="0" rIns="0" bIns="0" rtlCol="0" anchor="ctr"/>
          <a:lstStyle/>
          <a:p>
            <a:pPr marL="0" indent="0" algn="ctr">
              <a:buNone/>
            </a:pPr>
            <a:r>
              <a:rPr lang="en-US" sz="1100" dirty="0">
                <a:solidFill>
                  <a:srgbClr val="FAF7F4"/>
                </a:solidFill>
                <a:latin typeface="Calibri" panose="020F0502020204030204" pitchFamily="34" charset="0"/>
                <a:ea typeface="Calibri" panose="020F0502020204030204" pitchFamily="34" charset="-122"/>
                <a:cs typeface="Calibri" panose="020F0502020204030204" pitchFamily="34" charset="-120"/>
              </a:rPr>
              <a:t>Total Return</a:t>
            </a:r>
            <a:endParaRPr lang="en-US" sz="1100" dirty="0">
              <a:solidFill>
                <a:srgbClr val="FAF7F4"/>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6638544" y="1965960"/>
            <a:ext cx="1901952" cy="36576"/>
          </a:xfrm>
          <a:prstGeom prst="rect">
            <a:avLst/>
          </a:prstGeom>
          <a:solidFill>
            <a:schemeClr val="accent2">
              <a:lumMod val="20000"/>
              <a:lumOff val="80000"/>
            </a:schemeClr>
          </a:solidFill>
          <a:ln w="12700">
            <a:solidFill>
              <a:schemeClr val="accent2">
                <a:lumMod val="20000"/>
                <a:lumOff val="80000"/>
              </a:schemeClr>
            </a:solidFill>
            <a:prstDash val="solid"/>
          </a:ln>
        </p:spPr>
      </p:sp>
      <p:sp>
        <p:nvSpPr>
          <p:cNvPr id="30" name="Text 28"/>
          <p:cNvSpPr/>
          <p:nvPr/>
        </p:nvSpPr>
        <p:spPr>
          <a:xfrm>
            <a:off x="6291072" y="2029968"/>
            <a:ext cx="2596896" cy="292608"/>
          </a:xfrm>
          <a:prstGeom prst="rect">
            <a:avLst/>
          </a:prstGeom>
          <a:noFill/>
        </p:spPr>
        <p:txBody>
          <a:bodyPr wrap="square" lIns="0" tIns="0" rIns="0" bIns="0" rtlCol="0" anchor="ctr"/>
          <a:lstStyle/>
          <a:p>
            <a:pPr marL="0" indent="0" algn="ctr">
              <a:buNone/>
            </a:pPr>
            <a:r>
              <a:rPr lang="en-US" sz="1400" b="1" dirty="0">
                <a:solidFill>
                  <a:srgbClr val="FAF7F4"/>
                </a:solidFill>
                <a:latin typeface="Calibri" panose="020F0502020204030204" pitchFamily="34" charset="0"/>
                <a:ea typeface="Calibri" panose="020F0502020204030204" pitchFamily="34" charset="-122"/>
                <a:cs typeface="Calibri" panose="020F0502020204030204" pitchFamily="34" charset="-120"/>
              </a:rPr>
              <a:t>Sharpe: 2.18</a:t>
            </a:r>
            <a:endParaRPr lang="en-US" sz="1400" b="1" dirty="0">
              <a:solidFill>
                <a:srgbClr val="FAF7F4"/>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6291072" y="2350008"/>
            <a:ext cx="2596896" cy="201168"/>
          </a:xfrm>
          <a:prstGeom prst="rect">
            <a:avLst/>
          </a:prstGeom>
          <a:noFill/>
        </p:spPr>
        <p:txBody>
          <a:bodyPr wrap="square" lIns="0" tIns="0" rIns="0" bIns="0" rtlCol="0" anchor="ctr"/>
          <a:lstStyle/>
          <a:p>
            <a:pPr marL="0" indent="0" algn="ctr">
              <a:buNone/>
            </a:pPr>
            <a:r>
              <a:rPr lang="en-US" sz="1100" dirty="0">
                <a:solidFill>
                  <a:srgbClr val="FAF7F4"/>
                </a:solidFill>
                <a:latin typeface="Calibri" panose="020F0502020204030204" pitchFamily="34" charset="0"/>
                <a:ea typeface="Calibri" panose="020F0502020204030204" pitchFamily="34" charset="-122"/>
                <a:cs typeface="Calibri" panose="020F0502020204030204" pitchFamily="34" charset="-120"/>
              </a:rPr>
              <a:t>Passive full-year 2024</a:t>
            </a:r>
            <a:endParaRPr lang="en-US" sz="1100" dirty="0">
              <a:solidFill>
                <a:srgbClr val="FAF7F4"/>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256032" y="2834640"/>
            <a:ext cx="8631936" cy="228600"/>
          </a:xfrm>
          <a:prstGeom prst="rect">
            <a:avLst/>
          </a:prstGeom>
          <a:noFill/>
        </p:spPr>
        <p:txBody>
          <a:bodyPr wrap="square" lIns="0" tIns="0" rIns="0" bIns="0" rtlCol="0" anchor="ctr"/>
          <a:lstStyle/>
          <a:p>
            <a:pPr marL="0" indent="0">
              <a:buNone/>
            </a:pPr>
            <a:r>
              <a:rPr lang="en-US" sz="14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Return Comparison</a:t>
            </a:r>
            <a:endParaRPr lang="en-US" sz="14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255905" y="3090545"/>
            <a:ext cx="8751570" cy="1390015"/>
          </a:xfrm>
          <a:prstGeom prst="rect">
            <a:avLst/>
          </a:prstGeom>
          <a:solidFill>
            <a:srgbClr val="FAF7F4"/>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35" name="Shape 33"/>
          <p:cNvSpPr/>
          <p:nvPr/>
        </p:nvSpPr>
        <p:spPr>
          <a:xfrm>
            <a:off x="1097280" y="4108196"/>
            <a:ext cx="1280160" cy="36576"/>
          </a:xfrm>
          <a:prstGeom prst="rect">
            <a:avLst/>
          </a:prstGeom>
          <a:solidFill>
            <a:schemeClr val="accent2">
              <a:lumMod val="50000"/>
            </a:schemeClr>
          </a:solidFill>
          <a:ln w="12700">
            <a:solidFill>
              <a:schemeClr val="accent2">
                <a:lumMod val="50000"/>
              </a:schemeClr>
            </a:solidFill>
            <a:prstDash val="solid"/>
          </a:ln>
        </p:spPr>
      </p:sp>
      <p:sp>
        <p:nvSpPr>
          <p:cNvPr id="36" name="Text 34"/>
          <p:cNvSpPr/>
          <p:nvPr/>
        </p:nvSpPr>
        <p:spPr>
          <a:xfrm>
            <a:off x="1051560" y="4181348"/>
            <a:ext cx="1371600" cy="274320"/>
          </a:xfrm>
          <a:prstGeom prst="rect">
            <a:avLst/>
          </a:prstGeom>
          <a:noFill/>
        </p:spPr>
        <p:txBody>
          <a:bodyPr wrap="square" lIns="0" tIns="0" rIns="0" bIns="0" rtlCol="0" anchor="ctr"/>
          <a:lstStyle/>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WITHOUT Sentiment</a:t>
            </a:r>
            <a:endParaRPr lang="en-US" sz="1000" dirty="0">
              <a:solidFill>
                <a:schemeClr val="accent2">
                  <a:lumMod val="75000"/>
                </a:schemeClr>
              </a:solidFill>
            </a:endParaRPr>
          </a:p>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+0.00%</a:t>
            </a:r>
            <a:endPar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Shape 35"/>
          <p:cNvSpPr/>
          <p:nvPr/>
        </p:nvSpPr>
        <p:spPr>
          <a:xfrm>
            <a:off x="3991610" y="4108196"/>
            <a:ext cx="1280160" cy="36576"/>
          </a:xfrm>
          <a:prstGeom prst="rect">
            <a:avLst/>
          </a:prstGeom>
          <a:solidFill>
            <a:schemeClr val="accent2"/>
          </a:solidFill>
          <a:ln w="12700">
            <a:solidFill>
              <a:schemeClr val="accent2"/>
            </a:solidFill>
            <a:prstDash val="solid"/>
          </a:ln>
        </p:spPr>
      </p:sp>
      <p:sp>
        <p:nvSpPr>
          <p:cNvPr id="38" name="Text 36"/>
          <p:cNvSpPr/>
          <p:nvPr/>
        </p:nvSpPr>
        <p:spPr>
          <a:xfrm>
            <a:off x="3945890" y="4181348"/>
            <a:ext cx="1371600" cy="274320"/>
          </a:xfrm>
          <a:prstGeom prst="rect">
            <a:avLst/>
          </a:prstGeom>
          <a:noFill/>
        </p:spPr>
        <p:txBody>
          <a:bodyPr wrap="square" lIns="0" tIns="0" rIns="0" bIns="0" rtlCol="0" anchor="ctr"/>
          <a:lstStyle/>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WITH Sentiment</a:t>
            </a:r>
            <a:endParaRPr lang="en-US" sz="1000" dirty="0">
              <a:solidFill>
                <a:schemeClr val="accent2">
                  <a:lumMod val="75000"/>
                </a:schemeClr>
              </a:solidFill>
            </a:endParaRPr>
          </a:p>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+0.00%</a:t>
            </a:r>
            <a:endPar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Shape 37"/>
          <p:cNvSpPr/>
          <p:nvPr/>
        </p:nvSpPr>
        <p:spPr>
          <a:xfrm>
            <a:off x="6949440" y="3255645"/>
            <a:ext cx="1280160" cy="889000"/>
          </a:xfrm>
          <a:prstGeom prst="rect">
            <a:avLst/>
          </a:prstGeom>
          <a:solidFill>
            <a:schemeClr val="accent2">
              <a:lumMod val="20000"/>
              <a:lumOff val="80000"/>
            </a:schemeClr>
          </a:solidFill>
          <a:ln w="12700">
            <a:solidFill>
              <a:schemeClr val="accent2">
                <a:lumMod val="20000"/>
                <a:lumOff val="80000"/>
              </a:schemeClr>
            </a:solidFill>
            <a:prstDash val="solid"/>
          </a:ln>
        </p:spPr>
      </p:sp>
      <p:sp>
        <p:nvSpPr>
          <p:cNvPr id="40" name="Text 38"/>
          <p:cNvSpPr/>
          <p:nvPr/>
        </p:nvSpPr>
        <p:spPr>
          <a:xfrm>
            <a:off x="6903720" y="4181348"/>
            <a:ext cx="1371600" cy="274320"/>
          </a:xfrm>
          <a:prstGeom prst="rect">
            <a:avLst/>
          </a:prstGeom>
          <a:noFill/>
        </p:spPr>
        <p:txBody>
          <a:bodyPr wrap="square" lIns="0" tIns="0" rIns="0" bIns="0" rtlCol="0" anchor="ctr"/>
          <a:lstStyle/>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Buy-and-Hold</a:t>
            </a:r>
            <a:endParaRPr lang="en-US" sz="1000" dirty="0">
              <a:solidFill>
                <a:schemeClr val="accent2">
                  <a:lumMod val="75000"/>
                </a:schemeClr>
              </a:solidFill>
            </a:endParaRPr>
          </a:p>
          <a:p>
            <a:pPr marL="0" indent="0" algn="ctr">
              <a:buNone/>
            </a:pPr>
            <a:r>
              <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+185.44%</a:t>
            </a:r>
            <a:endParaRPr lang="en-US" sz="10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Text 39"/>
          <p:cNvSpPr/>
          <p:nvPr/>
        </p:nvSpPr>
        <p:spPr>
          <a:xfrm>
            <a:off x="255905" y="4723130"/>
            <a:ext cx="8872220" cy="269240"/>
          </a:xfrm>
          <a:prstGeom prst="rect">
            <a:avLst/>
          </a:prstGeom>
          <a:noFill/>
        </p:spPr>
        <p:txBody>
          <a:bodyPr wrap="square" lIns="0" tIns="0" rIns="0" bIns="0" rtlCol="0" anchor="ctr"/>
          <a:lstStyle/>
          <a:p>
            <a:pPr marL="0" indent="0">
              <a:buNone/>
            </a:pPr>
            <a:r>
              <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Backtest config: Initial capital $100,000 · Transaction cost 10bps · 5 shares per trade · Short selling enabled · Risk-free rate 5% annualised</a:t>
            </a:r>
            <a:endParaRPr lang="en-US" sz="12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42"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34" name="Shape 32"/>
          <p:cNvSpPr/>
          <p:nvPr/>
        </p:nvSpPr>
        <p:spPr>
          <a:xfrm>
            <a:off x="347472" y="4144772"/>
            <a:ext cx="8449056" cy="18288"/>
          </a:xfrm>
          <a:prstGeom prst="rect">
            <a:avLst/>
          </a:prstGeom>
          <a:solidFill>
            <a:schemeClr val="accent2">
              <a:lumMod val="75000"/>
            </a:schemeClr>
          </a:solidFill>
          <a:ln w="12700">
            <a:solidFill>
              <a:schemeClr val="accent2">
                <a:lumMod val="75000"/>
              </a:scheme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AF7F4"/>
          </a:solidFill>
          <a:ln w="12700">
            <a:solidFill>
              <a:srgbClr val="FAF7F4"/>
            </a:solidFill>
            <a:prstDash val="solid"/>
          </a:ln>
        </p:spPr>
      </p:sp>
      <p:sp>
        <p:nvSpPr>
          <p:cNvPr id="3" name="Shape 1"/>
          <p:cNvSpPr/>
          <p:nvPr/>
        </p:nvSpPr>
        <p:spPr>
          <a:xfrm>
            <a:off x="0" y="0"/>
            <a:ext cx="201168" cy="658368"/>
          </a:xfrm>
          <a:prstGeom prst="rect">
            <a:avLst/>
          </a:prstGeom>
          <a:solidFill>
            <a:srgbClr val="8B3A1A"/>
          </a:solidFill>
          <a:ln w="12700">
            <a:solidFill>
              <a:srgbClr val="8B3A1A"/>
            </a:solidFill>
            <a:prstDash val="solid"/>
          </a:ln>
        </p:spPr>
      </p:sp>
      <p:sp>
        <p:nvSpPr>
          <p:cNvPr id="4" name="Text 2"/>
          <p:cNvSpPr/>
          <p:nvPr/>
        </p:nvSpPr>
        <p:spPr>
          <a:xfrm>
            <a:off x="320040" y="0"/>
            <a:ext cx="5943600" cy="658368"/>
          </a:xfrm>
          <a:prstGeom prst="rect">
            <a:avLst/>
          </a:prstGeom>
          <a:noFill/>
        </p:spPr>
        <p:txBody>
          <a:bodyPr wrap="square" lIns="0" tIns="0" rIns="0" bIns="0" rtlCol="0" anchor="ctr"/>
          <a:lstStyle/>
          <a:p>
            <a:pPr marL="0" indent="0">
              <a:buNone/>
            </a:pPr>
            <a:r>
              <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Key Findings, Limitations &amp; Improvements</a:t>
            </a:r>
            <a:endParaRPr lang="en-US" sz="20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6583680" y="0"/>
            <a:ext cx="2423160" cy="658368"/>
          </a:xfrm>
          <a:prstGeom prst="rect">
            <a:avLst/>
          </a:prstGeom>
          <a:noFill/>
        </p:spPr>
        <p:txBody>
          <a:bodyPr wrap="square" lIns="0" tIns="0" rIns="0" bIns="0" rtlCol="0" anchor="ctr"/>
          <a:lstStyle/>
          <a:p>
            <a:pPr marL="0" indent="0" algn="r">
              <a:buNone/>
            </a:pPr>
            <a:r>
              <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Critical discussion</a:t>
            </a:r>
            <a:endParaRPr lang="en-US" sz="1000"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56032" y="804672"/>
            <a:ext cx="2816352" cy="2606040"/>
          </a:xfrm>
          <a:prstGeom prst="rect">
            <a:avLst/>
          </a:prstGeom>
          <a:solidFill>
            <a:srgbClr val="FFFFFF"/>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9" name="Shape 7"/>
          <p:cNvSpPr/>
          <p:nvPr/>
        </p:nvSpPr>
        <p:spPr>
          <a:xfrm>
            <a:off x="256032" y="804672"/>
            <a:ext cx="2816352" cy="274320"/>
          </a:xfrm>
          <a:prstGeom prst="rect">
            <a:avLst/>
          </a:prstGeom>
          <a:solidFill>
            <a:srgbClr val="1565C0"/>
          </a:solidFill>
          <a:ln w="12700">
            <a:solidFill>
              <a:srgbClr val="1565C0"/>
            </a:solidFill>
            <a:prstDash val="solid"/>
          </a:ln>
        </p:spPr>
      </p:sp>
      <p:sp>
        <p:nvSpPr>
          <p:cNvPr id="10" name="Text 8"/>
          <p:cNvSpPr/>
          <p:nvPr/>
        </p:nvSpPr>
        <p:spPr>
          <a:xfrm>
            <a:off x="256032" y="804672"/>
            <a:ext cx="2816352" cy="274320"/>
          </a:xfrm>
          <a:prstGeom prst="rect">
            <a:avLst/>
          </a:prstGeom>
          <a:solidFill>
            <a:schemeClr val="accent2">
              <a:lumMod val="20000"/>
              <a:lumOff val="80000"/>
            </a:schemeClr>
          </a:solidFill>
          <a:ln>
            <a:solidFill>
              <a:schemeClr val="accent2">
                <a:lumMod val="20000"/>
                <a:lumOff val="80000"/>
              </a:schemeClr>
            </a:solidFill>
          </a:ln>
        </p:spPr>
        <p:txBody>
          <a:bodyPr wrap="square" lIns="0" tIns="0" rIns="0" bIns="0" rtlCol="0" anchor="ctr"/>
          <a:lstStyle/>
          <a:p>
            <a:pPr marL="0" indent="0" algn="ctr">
              <a:buNone/>
            </a:pPr>
            <a:r>
              <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Finding 01</a:t>
            </a:r>
            <a:endPar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365760" y="1133856"/>
            <a:ext cx="2596896" cy="438912"/>
          </a:xfrm>
          <a:prstGeom prst="rect">
            <a:avLst/>
          </a:prstGeom>
          <a:noFill/>
        </p:spPr>
        <p:txBody>
          <a:bodyPr wrap="square" lIns="0" tIns="0" rIns="0" bIns="0" rtlCol="0" anchor="t"/>
          <a:lstStyle/>
          <a:p>
            <a:pPr marL="0" indent="0">
              <a:buNone/>
            </a:pPr>
            <a:r>
              <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Fundamental agents underperform on momentum-driven stocks</a:t>
            </a:r>
            <a:endPar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365760" y="1609344"/>
            <a:ext cx="2596896" cy="1719072"/>
          </a:xfrm>
          <a:prstGeom prst="rect">
            <a:avLst/>
          </a:prstGeom>
          <a:noFill/>
        </p:spPr>
        <p:txBody>
          <a:bodyPr wrap="square" lIns="0" tIns="0" rIns="0" bIns="0" rtlCol="0" anchor="t"/>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Both agents output HOLD throughout 2024 while Buy-and-Hold returned +185.44% (Sharpe 2.18). Traditional multiples (P/E, P/FCF) fail to capture the AI-driven growth premium embedded in NVDA's price, leading to systematic under-action during a hyper-growth cycle.</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3218688" y="804672"/>
            <a:ext cx="2816352" cy="2606040"/>
          </a:xfrm>
          <a:prstGeom prst="rect">
            <a:avLst/>
          </a:prstGeom>
          <a:solidFill>
            <a:srgbClr val="FFFFFF"/>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14" name="Shape 12"/>
          <p:cNvSpPr/>
          <p:nvPr/>
        </p:nvSpPr>
        <p:spPr>
          <a:xfrm>
            <a:off x="3218688" y="804672"/>
            <a:ext cx="2816352" cy="274320"/>
          </a:xfrm>
          <a:prstGeom prst="rect">
            <a:avLst/>
          </a:prstGeom>
          <a:solidFill>
            <a:srgbClr val="00897B"/>
          </a:solidFill>
          <a:ln w="12700">
            <a:solidFill>
              <a:srgbClr val="00897B"/>
            </a:solidFill>
            <a:prstDash val="solid"/>
          </a:ln>
        </p:spPr>
      </p:sp>
      <p:sp>
        <p:nvSpPr>
          <p:cNvPr id="15" name="Text 13"/>
          <p:cNvSpPr/>
          <p:nvPr/>
        </p:nvSpPr>
        <p:spPr>
          <a:xfrm>
            <a:off x="3218688" y="804672"/>
            <a:ext cx="2816352" cy="274320"/>
          </a:xfrm>
          <a:prstGeom prst="rect">
            <a:avLst/>
          </a:prstGeom>
          <a:solidFill>
            <a:schemeClr val="accent2">
              <a:lumMod val="40000"/>
              <a:lumOff val="60000"/>
            </a:schemeClr>
          </a:solidFill>
          <a:ln>
            <a:solidFill>
              <a:schemeClr val="accent2">
                <a:lumMod val="40000"/>
                <a:lumOff val="60000"/>
              </a:schemeClr>
            </a:solidFill>
          </a:ln>
        </p:spPr>
        <p:txBody>
          <a:bodyPr wrap="square" lIns="0" tIns="0" rIns="0" bIns="0" rtlCol="0" anchor="ctr"/>
          <a:lstStyle/>
          <a:p>
            <a:pPr marL="0" indent="0" algn="ctr">
              <a:buNone/>
            </a:pPr>
            <a:r>
              <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Finding 02</a:t>
            </a:r>
            <a:endPar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3328416" y="1133856"/>
            <a:ext cx="2596896" cy="438912"/>
          </a:xfrm>
          <a:prstGeom prst="rect">
            <a:avLst/>
          </a:prstGeom>
          <a:noFill/>
        </p:spPr>
        <p:txBody>
          <a:bodyPr wrap="square" lIns="0" tIns="0" rIns="0" bIns="0" rtlCol="0" anchor="t"/>
          <a:lstStyle/>
          <a:p>
            <a:pPr marL="0" indent="0">
              <a:buNone/>
            </a:pPr>
            <a:r>
              <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Sentiment enriches reasoning but does not change decisions</a:t>
            </a:r>
            <a:endPar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3328416" y="1609344"/>
            <a:ext cx="2596896" cy="1719072"/>
          </a:xfrm>
          <a:prstGeom prst="rect">
            <a:avLst/>
          </a:prstGeom>
          <a:noFill/>
        </p:spPr>
        <p:txBody>
          <a:bodyPr wrap="square" lIns="0" tIns="0" rIns="0" bIns="0" rtlCol="0" anchor="t"/>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Adding earnings-call sentiment shifted the thesis from purely quantitative to qualitatively richer, explicitly referencing FinBERT and GPT scores. However, moderately positive sentiment (~0.33–0.37 FinBERT) was insufficient to override valuation-based caution. A higher sentiment threshold for triggering action may be needed.</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6181344" y="804672"/>
            <a:ext cx="2816352" cy="2606040"/>
          </a:xfrm>
          <a:prstGeom prst="rect">
            <a:avLst/>
          </a:prstGeom>
          <a:solidFill>
            <a:srgbClr val="FFFFFF"/>
          </a:solidFill>
          <a:ln w="12700">
            <a:solidFill>
              <a:schemeClr val="accent2">
                <a:lumMod val="20000"/>
                <a:lumOff val="80000"/>
              </a:schemeClr>
            </a:solidFill>
            <a:prstDash val="solid"/>
          </a:ln>
          <a:effectLst>
            <a:outerShdw blurRad="101600" dist="38100" dir="8100000" algn="bl" rotWithShape="0">
              <a:srgbClr val="000000">
                <a:alpha val="12000"/>
              </a:srgbClr>
            </a:outerShdw>
          </a:effectLst>
        </p:spPr>
      </p:sp>
      <p:sp>
        <p:nvSpPr>
          <p:cNvPr id="19" name="Shape 17"/>
          <p:cNvSpPr/>
          <p:nvPr/>
        </p:nvSpPr>
        <p:spPr>
          <a:xfrm>
            <a:off x="6181344" y="804672"/>
            <a:ext cx="2816352" cy="274320"/>
          </a:xfrm>
          <a:prstGeom prst="rect">
            <a:avLst/>
          </a:prstGeom>
          <a:solidFill>
            <a:srgbClr val="F57C00"/>
          </a:solidFill>
          <a:ln w="12700">
            <a:solidFill>
              <a:srgbClr val="F57C00"/>
            </a:solidFill>
            <a:prstDash val="solid"/>
          </a:ln>
        </p:spPr>
      </p:sp>
      <p:sp>
        <p:nvSpPr>
          <p:cNvPr id="20" name="Text 18"/>
          <p:cNvSpPr/>
          <p:nvPr/>
        </p:nvSpPr>
        <p:spPr>
          <a:xfrm>
            <a:off x="6181344" y="804672"/>
            <a:ext cx="2816352" cy="274320"/>
          </a:xfrm>
          <a:prstGeom prst="rect">
            <a:avLst/>
          </a:prstGeom>
          <a:solidFill>
            <a:schemeClr val="accent2">
              <a:lumMod val="60000"/>
              <a:lumOff val="40000"/>
            </a:schemeClr>
          </a:solidFill>
          <a:ln>
            <a:solidFill>
              <a:schemeClr val="accent2">
                <a:lumMod val="60000"/>
                <a:lumOff val="40000"/>
              </a:schemeClr>
            </a:solidFill>
          </a:ln>
        </p:spPr>
        <p:txBody>
          <a:bodyPr wrap="square" lIns="0" tIns="0" rIns="0" bIns="0" rtlCol="0" anchor="ctr"/>
          <a:lstStyle/>
          <a:p>
            <a:pPr marL="0" indent="0" algn="ctr">
              <a:buNone/>
            </a:pPr>
            <a:r>
              <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Finding 03</a:t>
            </a:r>
            <a:endParaRPr lang="en-US" sz="14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6291072" y="1133856"/>
            <a:ext cx="2596896" cy="438912"/>
          </a:xfrm>
          <a:prstGeom prst="rect">
            <a:avLst/>
          </a:prstGeom>
          <a:noFill/>
        </p:spPr>
        <p:txBody>
          <a:bodyPr wrap="square" lIns="0" tIns="0" rIns="0" bIns="0" rtlCol="0" anchor="t"/>
          <a:lstStyle/>
          <a:p>
            <a:pPr marL="0" indent="0">
              <a:buNone/>
            </a:pPr>
            <a:r>
              <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rPr>
              <a:t>Data integrity: fiscal year mismatch in XBRL pipeline</a:t>
            </a:r>
            <a:endParaRPr lang="en-US" sz="1200" b="1" dirty="0">
              <a:solidFill>
                <a:schemeClr val="accent2">
                  <a:lumMod val="50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6291072" y="1609344"/>
            <a:ext cx="2596896" cy="1719072"/>
          </a:xfrm>
          <a:prstGeom prst="rect">
            <a:avLst/>
          </a:prstGeom>
          <a:noFill/>
        </p:spPr>
        <p:txBody>
          <a:bodyPr wrap="square" lIns="0" tIns="0" rIns="0" bIns="0" rtlCol="0" anchor="t"/>
          <a:lstStyle/>
          <a:p>
            <a:pPr marL="0" indent="0">
              <a:buNone/>
            </a:pP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NVDA's non-standard fiscal year (ends Jan 31) caused SEC EDGAR XBRL revenue tags to return NaN. Switching to yfinance quarterly financials resolved this, highlighting the importance of source validation in automated pipelines. P/E and P/FCF were successfully computed for both windows.</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255905" y="3521075"/>
            <a:ext cx="4324985" cy="237490"/>
          </a:xfrm>
          <a:prstGeom prst="rect">
            <a:avLst/>
          </a:prstGeom>
          <a:solidFill>
            <a:schemeClr val="accent2">
              <a:lumMod val="75000"/>
            </a:schemeClr>
          </a:solidFill>
          <a:ln>
            <a:solidFill>
              <a:schemeClr val="accent2">
                <a:lumMod val="75000"/>
              </a:schemeClr>
            </a:solid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Limitations</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255905" y="3757930"/>
            <a:ext cx="4324350" cy="1188085"/>
          </a:xfrm>
          <a:prstGeom prst="rect">
            <a:avLst/>
          </a:prstGeom>
          <a:solidFill>
            <a:srgbClr val="FFFFFF"/>
          </a:solidFill>
          <a:ln w="12700">
            <a:solidFill>
              <a:schemeClr val="accent2">
                <a:lumMod val="75000"/>
              </a:schemeClr>
            </a:solidFill>
            <a:prstDash val="solid"/>
          </a:ln>
        </p:spPr>
      </p:sp>
      <p:sp>
        <p:nvSpPr>
          <p:cNvPr id="26" name="Text 24"/>
          <p:cNvSpPr/>
          <p:nvPr/>
        </p:nvSpPr>
        <p:spPr>
          <a:xfrm>
            <a:off x="365125" y="3763010"/>
            <a:ext cx="4132580" cy="1046480"/>
          </a:xfrm>
          <a:prstGeom prst="rect">
            <a:avLst/>
          </a:prstGeom>
          <a:noFill/>
        </p:spPr>
        <p:txBody>
          <a:bodyPr wrap="square" lIns="0" tIns="0" rIns="0" bIns="0" rtlCol="0" anchor="ctr"/>
          <a:lstStyle/>
          <a:p>
            <a:pPr marL="0" indent="0">
              <a:buNone/>
            </a:pP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4636135" y="3757930"/>
            <a:ext cx="4362450" cy="1188085"/>
          </a:xfrm>
          <a:prstGeom prst="rect">
            <a:avLst/>
          </a:prstGeom>
          <a:solidFill>
            <a:srgbClr val="FFFFFF"/>
          </a:solidFill>
          <a:ln w="12700">
            <a:solidFill>
              <a:schemeClr val="accent2"/>
            </a:solidFill>
            <a:prstDash val="solid"/>
          </a:ln>
        </p:spPr>
      </p:sp>
      <p:sp>
        <p:nvSpPr>
          <p:cNvPr id="32" name="Text 30"/>
          <p:cNvSpPr/>
          <p:nvPr/>
        </p:nvSpPr>
        <p:spPr>
          <a:xfrm>
            <a:off x="4745990" y="3762375"/>
            <a:ext cx="4157980" cy="116459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rPr>
              <a:t>Add PEG ratio or forward P/E to capture growth-adjusted valuation for AI stocks</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Calibrate sentiment thresholds, trigger BUY only above a minimum FinBERT score</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Expand to multi-quarter decision points and integrate full 10-Q filings via RAG</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2"/>
          <p:cNvSpPr/>
          <p:nvPr/>
        </p:nvSpPr>
        <p:spPr>
          <a:xfrm>
            <a:off x="320040" y="658368"/>
            <a:ext cx="8503920" cy="18288"/>
          </a:xfrm>
          <a:prstGeom prst="rect">
            <a:avLst/>
          </a:prstGeom>
          <a:solidFill>
            <a:srgbClr val="D9C9BB"/>
          </a:solidFill>
          <a:ln w="12700">
            <a:solidFill>
              <a:srgbClr val="D9C9BB"/>
            </a:solidFill>
            <a:prstDash val="solid"/>
          </a:ln>
        </p:spPr>
      </p:sp>
      <p:sp>
        <p:nvSpPr>
          <p:cNvPr id="36" name="Text 28"/>
          <p:cNvSpPr/>
          <p:nvPr/>
        </p:nvSpPr>
        <p:spPr>
          <a:xfrm>
            <a:off x="4636135" y="3521075"/>
            <a:ext cx="4362450" cy="237490"/>
          </a:xfrm>
          <a:prstGeom prst="rect">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Potential Improvements</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0"/>
          <p:cNvSpPr/>
          <p:nvPr/>
        </p:nvSpPr>
        <p:spPr>
          <a:xfrm>
            <a:off x="365125" y="3762375"/>
            <a:ext cx="4157980" cy="1183640"/>
          </a:xfrm>
          <a:prstGeom prst="rect">
            <a:avLst/>
          </a:prstGeom>
          <a:noFill/>
        </p:spPr>
        <p:txBody>
          <a:bodyPr wrap="square" lIns="0" tIns="0" rIns="0" bIns="0" rtlCol="0" anchor="ctr"/>
          <a:lstStyle/>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Only 2 decision points, Sharpe Ratio estimation is not robust with sparse signals</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RAG context limited to manual snippets, not full 10-Q filing texts</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buNone/>
            </a:pPr>
            <a:r>
              <a:rPr lang="en-US" sz="1200" b="1"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sym typeface="+mn-ea"/>
              </a:rPr>
              <a:t>Single ticker,  findings may not generalise beyond NVDA's exceptional 2024 context</a:t>
            </a:r>
            <a:endParaRPr lang="en-US" sz="1200" dirty="0">
              <a:solidFill>
                <a:schemeClr val="accent2">
                  <a:lumMod val="75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3"/>
          <p:cNvSpPr/>
          <p:nvPr/>
        </p:nvSpPr>
        <p:spPr>
          <a:xfrm>
            <a:off x="223520" y="236220"/>
            <a:ext cx="8528050" cy="427355"/>
          </a:xfrm>
          <a:prstGeom prst="rect">
            <a:avLst/>
          </a:prstGeom>
          <a:noFill/>
        </p:spPr>
        <p:txBody>
          <a:bodyPr wrap="square" lIns="0" tIns="0" rIns="0" bIns="0" rtlCol="0" anchor="t"/>
          <a:lstStyle/>
          <a:p>
            <a:pPr marL="0" indent="0">
              <a:buNone/>
            </a:pPr>
            <a:r>
              <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rPr>
              <a:t>Appendix - Exercise 1 Code S</a:t>
            </a:r>
            <a:r>
              <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rPr>
              <a:t>tructure</a:t>
            </a:r>
            <a:endPar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endParaRPr>
          </a:p>
        </p:txBody>
      </p:sp>
      <p:graphicFrame>
        <p:nvGraphicFramePr>
          <p:cNvPr id="3" name="表格 2"/>
          <p:cNvGraphicFramePr/>
          <p:nvPr>
            <p:custDataLst>
              <p:tags r:id="rId1"/>
            </p:custDataLst>
          </p:nvPr>
        </p:nvGraphicFramePr>
        <p:xfrm>
          <a:off x="223520" y="1037590"/>
          <a:ext cx="8517890" cy="3482340"/>
        </p:xfrm>
        <a:graphic>
          <a:graphicData uri="http://schemas.openxmlformats.org/drawingml/2006/table">
            <a:tbl>
              <a:tblPr>
                <a:tableStyleId>{00A15C55-8517-42AA-B614-E9B94910E393}</a:tableStyleId>
              </a:tblPr>
              <a:tblGrid>
                <a:gridCol w="2159635"/>
                <a:gridCol w="574040"/>
                <a:gridCol w="5784215"/>
              </a:tblGrid>
              <a:tr h="284480">
                <a:tc>
                  <a:txBody>
                    <a:bodyPr/>
                    <a:p>
                      <a:pPr algn="ctr"/>
                      <a:r>
                        <a:rPr lang="en-US" altLang="zh-CN" sz="1600" b="1">
                          <a:solidFill>
                            <a:schemeClr val="accent2">
                              <a:lumMod val="50000"/>
                            </a:schemeClr>
                          </a:solidFill>
                        </a:rPr>
                        <a:t>File</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r>
                        <a:rPr lang="en-US" altLang="zh-CN" sz="1600" b="1">
                          <a:solidFill>
                            <a:schemeClr val="accent2">
                              <a:lumMod val="50000"/>
                            </a:schemeClr>
                          </a:solidFill>
                        </a:rPr>
                        <a:t>Doc</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600" b="1">
                          <a:solidFill>
                            <a:schemeClr val="accent2">
                              <a:lumMod val="50000"/>
                            </a:schemeClr>
                          </a:solidFill>
                        </a:rPr>
                        <a:t>Role</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314325">
                <a:tc>
                  <a:txBody>
                    <a:bodyPr/>
                    <a:p>
                      <a:pPr algn="ctr"/>
                      <a:r>
                        <a:rPr lang="en-US" altLang="zh-CN" sz="1400" b="0">
                          <a:solidFill>
                            <a:schemeClr val="accent2">
                              <a:lumMod val="75000"/>
                            </a:schemeClr>
                          </a:solidFill>
                          <a:sym typeface="+mn-ea"/>
                        </a:rPr>
                        <a:t>step1_data_collection.py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96570">
                <a:tc>
                  <a:txBody>
                    <a:bodyPr/>
                    <a:p>
                      <a:pPr algn="ctr"/>
                      <a:r>
                        <a:rPr lang="en-US" altLang="zh-CN" sz="1400" b="0">
                          <a:solidFill>
                            <a:schemeClr val="accent2">
                              <a:lumMod val="75000"/>
                            </a:schemeClr>
                          </a:solidFill>
                          <a:sym typeface="+mn-ea"/>
                        </a:rPr>
                        <a:t>step2_parse_transcripts.py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sym typeface="+mn-ea"/>
                        </a:rPr>
                        <a:t> Parse earnings call PDFs into structured JSON, tagging each segment by speaker type (management / analyst) and section.</a:t>
                      </a:r>
                      <a:endParaRPr lang="en-US" altLang="zh-CN" sz="140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95300">
                <a:tc>
                  <a:txBody>
                    <a:bodyPr/>
                    <a:p>
                      <a:pPr algn="ctr"/>
                      <a:r>
                        <a:rPr lang="en-US" altLang="zh-CN" sz="1400" b="0">
                          <a:solidFill>
                            <a:schemeClr val="accent2">
                              <a:lumMod val="75000"/>
                            </a:schemeClr>
                          </a:solidFill>
                          <a:sym typeface="+mn-ea"/>
                        </a:rPr>
                        <a:t>step3_forward_looking.py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sym typeface="+mn-ea"/>
                        </a:rPr>
                        <a:t> Extract forward-looking sentences using a two-pass filter, and compute LM lexicon scores per sentence.</a:t>
                      </a:r>
                      <a:endParaRPr lang="en-US" altLang="zh-CN" sz="140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96570">
                <a:tc>
                  <a:txBody>
                    <a:bodyPr/>
                    <a:p>
                      <a:pPr algn="ctr"/>
                      <a:r>
                        <a:rPr lang="en-US" altLang="zh-CN" sz="1400" b="0">
                          <a:solidFill>
                            <a:schemeClr val="accent2">
                              <a:lumMod val="75000"/>
                            </a:schemeClr>
                          </a:solidFill>
                          <a:sym typeface="+mn-ea"/>
                        </a:rPr>
                        <a:t>step4_sentiment_scoring.py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sym typeface="+mn-ea"/>
                        </a:rPr>
                        <a:t> Score all forward-looking sentences with three methods: LM net sentiment, FinBERT classification, and GPT-4o intensity scoring (0–10).</a:t>
                      </a:r>
                      <a:endParaRPr lang="en-US" altLang="zh-CN" sz="140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744855">
                <a:tc>
                  <a:txBody>
                    <a:bodyPr/>
                    <a:p>
                      <a:pPr algn="ctr"/>
                      <a:r>
                        <a:rPr lang="en-US" altLang="zh-CN" sz="1400" b="0">
                          <a:solidFill>
                            <a:schemeClr val="accent2">
                              <a:lumMod val="75000"/>
                            </a:schemeClr>
                          </a:solidFill>
                          <a:sym typeface="+mn-ea"/>
                        </a:rPr>
                        <a:t>step5_aggregation.py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sym typeface="+mn-ea"/>
                        </a:rPr>
                        <a:t> Aggregate sentence-level scores to company-quarter and sector-quarter indices (market-cap weighted), and compute management vs analyst divergence and uncertainty index.</a:t>
                      </a:r>
                      <a:endParaRPr lang="en-US" altLang="zh-CN" sz="140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650240">
                <a:tc>
                  <a:txBody>
                    <a:bodyPr/>
                    <a:p>
                      <a:pPr algn="ctr"/>
                      <a:r>
                        <a:rPr lang="en-US" altLang="zh-CN" sz="1400" b="0">
                          <a:solidFill>
                            <a:schemeClr val="accent2">
                              <a:lumMod val="75000"/>
                            </a:schemeClr>
                          </a:solidFill>
                          <a:sym typeface="+mn-ea"/>
                        </a:rPr>
                        <a:t>step6_visualization.py</a:t>
                      </a: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b="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sym typeface="+mn-ea"/>
                        </a:rPr>
                        <a:t> Generate all 8 output figures from aggregated data, covering sentiment trends, ETF overlay, sub-sector heatmap, divergence, and cross-method validation.</a:t>
                      </a:r>
                      <a:endParaRPr lang="en-US" altLang="zh-CN" sz="1400">
                        <a:solidFill>
                          <a:schemeClr val="accent2">
                            <a:lumMod val="75000"/>
                          </a:schemeClr>
                        </a:solidFill>
                        <a:sym typeface="+mn-ea"/>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bl>
          </a:graphicData>
        </a:graphic>
      </p:graphicFrame>
      <p:graphicFrame>
        <p:nvGraphicFramePr>
          <p:cNvPr id="8" name="对象 7">
            <a:hlinkClick r:id="" action="ppaction://ole?verb="/>
          </p:cNvPr>
          <p:cNvGraphicFramePr>
            <a:graphicFrameLocks noChangeAspect="1"/>
          </p:cNvGraphicFramePr>
          <p:nvPr/>
        </p:nvGraphicFramePr>
        <p:xfrm>
          <a:off x="2486025" y="1657350"/>
          <a:ext cx="360000" cy="458824"/>
        </p:xfrm>
        <a:graphic>
          <a:graphicData uri="http://schemas.openxmlformats.org/presentationml/2006/ole">
            <mc:AlternateContent xmlns:mc="http://schemas.openxmlformats.org/markup-compatibility/2006">
              <mc:Choice xmlns:v="urn:schemas-microsoft-com:vml" Requires="v">
                <p:oleObj spid="_x0000_s1026" name="" showAsIcon="1" r:id="rId2" imgW="971550" imgH="1238250" progId="Package">
                  <p:embed/>
                </p:oleObj>
              </mc:Choice>
              <mc:Fallback>
                <p:oleObj name="" showAsIcon="1" r:id="rId2" imgW="971550" imgH="1238250" progId="Package">
                  <p:embed/>
                  <p:pic>
                    <p:nvPicPr>
                      <p:cNvPr id="0" name="图片 1025"/>
                      <p:cNvPicPr/>
                      <p:nvPr/>
                    </p:nvPicPr>
                    <p:blipFill>
                      <a:blip r:embed="rId3"/>
                      <a:stretch>
                        <a:fillRect/>
                      </a:stretch>
                    </p:blipFill>
                    <p:spPr>
                      <a:xfrm>
                        <a:off x="2486025" y="1657350"/>
                        <a:ext cx="360000" cy="458824"/>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486025" y="2152650"/>
          <a:ext cx="360000" cy="458824"/>
        </p:xfrm>
        <a:graphic>
          <a:graphicData uri="http://schemas.openxmlformats.org/presentationml/2006/ole">
            <mc:AlternateContent xmlns:mc="http://schemas.openxmlformats.org/markup-compatibility/2006">
              <mc:Choice xmlns:v="urn:schemas-microsoft-com:vml" Requires="v">
                <p:oleObj spid="_x0000_s1027" name="" showAsIcon="1" r:id="rId4" imgW="971550" imgH="1238250" progId="Package">
                  <p:embed/>
                </p:oleObj>
              </mc:Choice>
              <mc:Fallback>
                <p:oleObj name="" showAsIcon="1" r:id="rId4" imgW="971550" imgH="1238250" progId="Package">
                  <p:embed/>
                  <p:pic>
                    <p:nvPicPr>
                      <p:cNvPr id="0" name="图片 1026"/>
                      <p:cNvPicPr/>
                      <p:nvPr/>
                    </p:nvPicPr>
                    <p:blipFill>
                      <a:blip r:embed="rId5"/>
                      <a:stretch>
                        <a:fillRect/>
                      </a:stretch>
                    </p:blipFill>
                    <p:spPr>
                      <a:xfrm>
                        <a:off x="2486025" y="2152650"/>
                        <a:ext cx="360000" cy="458824"/>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2486025" y="2647950"/>
          <a:ext cx="360000" cy="458824"/>
        </p:xfrm>
        <a:graphic>
          <a:graphicData uri="http://schemas.openxmlformats.org/presentationml/2006/ole">
            <mc:AlternateContent xmlns:mc="http://schemas.openxmlformats.org/markup-compatibility/2006">
              <mc:Choice xmlns:v="urn:schemas-microsoft-com:vml" Requires="v">
                <p:oleObj spid="_x0000_s1028" name="" showAsIcon="1" r:id="rId6" imgW="971550" imgH="1238250" progId="Package">
                  <p:embed/>
                </p:oleObj>
              </mc:Choice>
              <mc:Fallback>
                <p:oleObj name="" showAsIcon="1" r:id="rId6" imgW="971550" imgH="1238250" progId="Package">
                  <p:embed/>
                  <p:pic>
                    <p:nvPicPr>
                      <p:cNvPr id="0" name="图片 1027"/>
                      <p:cNvPicPr/>
                      <p:nvPr/>
                    </p:nvPicPr>
                    <p:blipFill>
                      <a:blip r:embed="rId7"/>
                      <a:stretch>
                        <a:fillRect/>
                      </a:stretch>
                    </p:blipFill>
                    <p:spPr>
                      <a:xfrm>
                        <a:off x="2486025" y="2647950"/>
                        <a:ext cx="360000" cy="458824"/>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2486025" y="3276600"/>
          <a:ext cx="360000" cy="458824"/>
        </p:xfrm>
        <a:graphic>
          <a:graphicData uri="http://schemas.openxmlformats.org/presentationml/2006/ole">
            <mc:AlternateContent xmlns:mc="http://schemas.openxmlformats.org/markup-compatibility/2006">
              <mc:Choice xmlns:v="urn:schemas-microsoft-com:vml" Requires="v">
                <p:oleObj spid="_x0000_s1029" name="" showAsIcon="1" r:id="rId8" imgW="971550" imgH="1238250" progId="Package">
                  <p:embed/>
                </p:oleObj>
              </mc:Choice>
              <mc:Fallback>
                <p:oleObj name="" showAsIcon="1" r:id="rId8" imgW="971550" imgH="1238250" progId="Package">
                  <p:embed/>
                  <p:pic>
                    <p:nvPicPr>
                      <p:cNvPr id="0" name="图片 1028"/>
                      <p:cNvPicPr/>
                      <p:nvPr/>
                    </p:nvPicPr>
                    <p:blipFill>
                      <a:blip r:embed="rId9"/>
                      <a:stretch>
                        <a:fillRect/>
                      </a:stretch>
                    </p:blipFill>
                    <p:spPr>
                      <a:xfrm>
                        <a:off x="2486025" y="3276600"/>
                        <a:ext cx="360000" cy="458824"/>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2486025" y="3962400"/>
          <a:ext cx="360000" cy="458824"/>
        </p:xfrm>
        <a:graphic>
          <a:graphicData uri="http://schemas.openxmlformats.org/presentationml/2006/ole">
            <mc:AlternateContent xmlns:mc="http://schemas.openxmlformats.org/markup-compatibility/2006">
              <mc:Choice xmlns:v="urn:schemas-microsoft-com:vml" Requires="v">
                <p:oleObj spid="_x0000_s1030" name="" showAsIcon="1" r:id="rId10" imgW="971550" imgH="1238250" progId="Package">
                  <p:embed/>
                </p:oleObj>
              </mc:Choice>
              <mc:Fallback>
                <p:oleObj name="" showAsIcon="1" r:id="rId10" imgW="971550" imgH="1238250" progId="Package">
                  <p:embed/>
                  <p:pic>
                    <p:nvPicPr>
                      <p:cNvPr id="0" name="图片 1029"/>
                      <p:cNvPicPr/>
                      <p:nvPr/>
                    </p:nvPicPr>
                    <p:blipFill>
                      <a:blip r:embed="rId11"/>
                      <a:stretch>
                        <a:fillRect/>
                      </a:stretch>
                    </p:blipFill>
                    <p:spPr>
                      <a:xfrm>
                        <a:off x="2486025" y="3962400"/>
                        <a:ext cx="360000" cy="458824"/>
                      </a:xfrm>
                      <a:prstGeom prst="rect">
                        <a:avLst/>
                      </a:prstGeom>
                    </p:spPr>
                  </p:pic>
                </p:oleObj>
              </mc:Fallback>
            </mc:AlternateContent>
          </a:graphicData>
        </a:graphic>
      </p:graphicFrame>
      <p:sp>
        <p:nvSpPr>
          <p:cNvPr id="14" name="Text 3"/>
          <p:cNvSpPr/>
          <p:nvPr/>
        </p:nvSpPr>
        <p:spPr>
          <a:xfrm>
            <a:off x="223520" y="698500"/>
            <a:ext cx="6528435" cy="427355"/>
          </a:xfrm>
          <a:prstGeom prst="rect">
            <a:avLst/>
          </a:prstGeom>
          <a:noFill/>
        </p:spPr>
        <p:txBody>
          <a:bodyPr wrap="square" lIns="0" tIns="0" rIns="0" bIns="0" rtlCol="0" anchor="t"/>
          <a:lstStyle/>
          <a:p>
            <a:pPr>
              <a:spcAft>
                <a:spcPct val="60000"/>
              </a:spcAft>
            </a:pPr>
            <a:r>
              <a:rPr lang="en-US" altLang="zh-CN" sz="1600" dirty="0">
                <a:solidFill>
                  <a:schemeClr val="accent2">
                    <a:lumMod val="75000"/>
                  </a:schemeClr>
                </a:solidFill>
                <a:latin typeface="Calibri" panose="020F0502020204030204" pitchFamily="34" charset="0"/>
                <a:ea typeface="Georgia" panose="02040502050405020303" pitchFamily="34" charset="-122"/>
                <a:cs typeface="Calibri" panose="020F0502020204030204" pitchFamily="34" charset="0"/>
                <a:sym typeface="+mn-ea"/>
              </a:rPr>
              <a:t>** Double-click the Doc image to get the code.</a:t>
            </a:r>
            <a:endParaRPr lang="en-US" altLang="zh-CN" sz="1600" dirty="0">
              <a:solidFill>
                <a:schemeClr val="accent2">
                  <a:lumMod val="75000"/>
                </a:schemeClr>
              </a:solidFill>
              <a:latin typeface="Calibri" panose="020F0502020204030204" pitchFamily="34" charset="0"/>
              <a:ea typeface="Georgia" panose="02040502050405020303" pitchFamily="34" charset="-122"/>
              <a:cs typeface="Calibri" panose="020F0502020204030204" pitchFamily="34"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3"/>
          <p:cNvSpPr/>
          <p:nvPr/>
        </p:nvSpPr>
        <p:spPr>
          <a:xfrm>
            <a:off x="223520" y="236220"/>
            <a:ext cx="8516620" cy="427355"/>
          </a:xfrm>
          <a:prstGeom prst="rect">
            <a:avLst/>
          </a:prstGeom>
          <a:noFill/>
        </p:spPr>
        <p:txBody>
          <a:bodyPr wrap="square" lIns="0" tIns="0" rIns="0" bIns="0" rtlCol="0" anchor="t"/>
          <a:lstStyle/>
          <a:p>
            <a:pPr marL="0" indent="0">
              <a:buNone/>
            </a:pPr>
            <a:r>
              <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rPr>
              <a:t>Appendix - Exercise 2 Code</a:t>
            </a:r>
            <a:r>
              <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sym typeface="+mn-ea"/>
              </a:rPr>
              <a:t> Structure</a:t>
            </a:r>
            <a:endParaRPr lang="en-US" sz="2600" b="1" dirty="0">
              <a:solidFill>
                <a:schemeClr val="accent2">
                  <a:lumMod val="50000"/>
                </a:schemeClr>
              </a:solidFill>
              <a:latin typeface="Georgia" panose="02040502050405020303" pitchFamily="34" charset="0"/>
              <a:ea typeface="Georgia" panose="02040502050405020303" pitchFamily="34" charset="-122"/>
              <a:cs typeface="Georgia" panose="02040502050405020303" pitchFamily="34" charset="-120"/>
            </a:endParaRPr>
          </a:p>
        </p:txBody>
      </p:sp>
      <p:graphicFrame>
        <p:nvGraphicFramePr>
          <p:cNvPr id="3" name="表格 2"/>
          <p:cNvGraphicFramePr/>
          <p:nvPr>
            <p:custDataLst>
              <p:tags r:id="rId1"/>
            </p:custDataLst>
          </p:nvPr>
        </p:nvGraphicFramePr>
        <p:xfrm>
          <a:off x="223520" y="1060450"/>
          <a:ext cx="8780145" cy="3418840"/>
        </p:xfrm>
        <a:graphic>
          <a:graphicData uri="http://schemas.openxmlformats.org/drawingml/2006/table">
            <a:tbl>
              <a:tblPr>
                <a:tableStyleId>{00A15C55-8517-42AA-B614-E9B94910E393}</a:tableStyleId>
              </a:tblPr>
              <a:tblGrid>
                <a:gridCol w="1665605"/>
                <a:gridCol w="599440"/>
                <a:gridCol w="3844008"/>
                <a:gridCol w="2671153"/>
              </a:tblGrid>
              <a:tr h="243840">
                <a:tc>
                  <a:txBody>
                    <a:bodyPr/>
                    <a:p>
                      <a:pPr algn="ctr"/>
                      <a:r>
                        <a:rPr lang="en-US" altLang="zh-CN" sz="1600" b="1">
                          <a:solidFill>
                            <a:schemeClr val="accent2">
                              <a:lumMod val="50000"/>
                            </a:schemeClr>
                          </a:solidFill>
                        </a:rPr>
                        <a:t>File</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r>
                        <a:rPr lang="en-US" altLang="zh-CN" sz="1600" b="1">
                          <a:solidFill>
                            <a:schemeClr val="accent2">
                              <a:lumMod val="50000"/>
                            </a:schemeClr>
                          </a:solidFill>
                        </a:rPr>
                        <a:t>Doc</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600" b="1">
                          <a:solidFill>
                            <a:schemeClr val="accent2">
                              <a:lumMod val="50000"/>
                            </a:schemeClr>
                          </a:solidFill>
                        </a:rPr>
                        <a:t>Role</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600" b="1">
                          <a:solidFill>
                            <a:schemeClr val="accent2">
                              <a:lumMod val="50000"/>
                            </a:schemeClr>
                          </a:solidFill>
                        </a:rPr>
                        <a:t>Modified</a:t>
                      </a:r>
                      <a:endParaRPr lang="en-US" altLang="zh-CN" sz="1600" b="1">
                        <a:solidFill>
                          <a:schemeClr val="accent2">
                            <a:lumMod val="50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640080">
                <a:tc>
                  <a:txBody>
                    <a:bodyPr/>
                    <a:p>
                      <a:pPr algn="ctr"/>
                      <a:r>
                        <a:rPr lang="en-US" altLang="zh-CN" sz="1400">
                          <a:solidFill>
                            <a:schemeClr val="accent2">
                              <a:lumMod val="75000"/>
                            </a:schemeClr>
                          </a:solidFill>
                        </a:rPr>
                        <a:t>valuation_agent.py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Core agent: computes TTM metrics, builds prompt, calls GPT-4o, returns Buy/Sell/Hold + thesis</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Added sentiment_scores, recent_prices fields; two prompt variants (with/without sentiment)</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46405">
                <a:tc>
                  <a:txBody>
                    <a:bodyPr/>
                    <a:p>
                      <a:pPr algn="ctr"/>
                      <a:r>
                        <a:rPr lang="en-US" altLang="zh-CN" sz="1400">
                          <a:solidFill>
                            <a:schemeClr val="accent2">
                              <a:lumMod val="75000"/>
                            </a:schemeClr>
                          </a:solidFill>
                        </a:rPr>
                        <a:t>backtester.py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Event-driven backtest engine: executes trades on signal dates, tracks portfolio value</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Added compute_sharpe() and print_summary()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640080">
                <a:tc>
                  <a:txBody>
                    <a:bodyPr/>
                    <a:p>
                      <a:pPr algn="ctr"/>
                      <a:r>
                        <a:rPr lang="en-US" altLang="zh-CN" sz="1400">
                          <a:solidFill>
                            <a:schemeClr val="accent2">
                              <a:lumMod val="75000"/>
                            </a:schemeClr>
                          </a:solidFill>
                        </a:rPr>
                        <a:t>main.py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Orchestrator: loads data, runs both agent versions, prints comparison</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Replaced SEC EDGAR with yfinance (NVDA FY mismatch); added sentiment inputs, B&amp;H benchmark</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26720">
                <a:tc>
                  <a:txBody>
                    <a:bodyPr/>
                    <a:p>
                      <a:pPr algn="ctr"/>
                      <a:r>
                        <a:rPr lang="en-US" altLang="zh-CN" sz="1400">
                          <a:solidFill>
                            <a:schemeClr val="accent2">
                              <a:lumMod val="75000"/>
                            </a:schemeClr>
                          </a:solidFill>
                        </a:rPr>
                        <a:t>llm_backend.py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OpenAI API wrapper for chat completions and embeddings</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Unchanged</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297180">
                <a:tc>
                  <a:txBody>
                    <a:bodyPr/>
                    <a:p>
                      <a:pPr algn="ctr"/>
                      <a:r>
                        <a:rPr lang="en-US" altLang="zh-CN" sz="1400">
                          <a:solidFill>
                            <a:schemeClr val="accent2">
                              <a:lumMod val="75000"/>
                            </a:schemeClr>
                          </a:solidFill>
                        </a:rPr>
                        <a:t>market_data.py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Fetches NVDA price series via yfinance</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Unchanged</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426720">
                <a:tc>
                  <a:txBody>
                    <a:bodyPr/>
                    <a:p>
                      <a:pPr algn="ctr"/>
                      <a:r>
                        <a:rPr lang="en-US" altLang="zh-CN" sz="1400">
                          <a:solidFill>
                            <a:schemeClr val="accent2">
                              <a:lumMod val="75000"/>
                            </a:schemeClr>
                          </a:solidFill>
                        </a:rPr>
                        <a:t>filing_rag.py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Chunks, embeds, and retrieves filing text for RAG context</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Unchanged</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r h="297815">
                <a:tc>
                  <a:txBody>
                    <a:bodyPr/>
                    <a:p>
                      <a:pPr algn="ctr"/>
                      <a:r>
                        <a:rPr lang="en-US" altLang="zh-CN" sz="1400">
                          <a:solidFill>
                            <a:schemeClr val="accent2">
                              <a:lumMod val="75000"/>
                            </a:schemeClr>
                          </a:solidFill>
                        </a:rPr>
                        <a:t>sec_fundamentals.py</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buNone/>
                      </a:pP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SEC EDGAR XBRL fetcher and TTM calculator</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c>
                  <a:txBody>
                    <a:bodyPr/>
                    <a:p>
                      <a:pPr algn="ctr"/>
                      <a:r>
                        <a:rPr lang="en-US" altLang="zh-CN" sz="1400">
                          <a:solidFill>
                            <a:schemeClr val="accent2">
                              <a:lumMod val="75000"/>
                            </a:schemeClr>
                          </a:solidFill>
                        </a:rPr>
                        <a:t>Unchanged (not used for NVDA)</a:t>
                      </a:r>
                      <a:endParaRPr lang="en-US" altLang="zh-CN" sz="1400">
                        <a:solidFill>
                          <a:schemeClr val="accent2">
                            <a:lumMod val="75000"/>
                          </a:schemeClr>
                        </a:solidFill>
                      </a:endParaRPr>
                    </a:p>
                  </a:txBody>
                  <a:tcPr marL="0" marR="0" marT="0" marB="0" anchor="ctr" anchorCtr="0">
                    <a:lnL w="12700" cmpd="sng">
                      <a:solidFill>
                        <a:schemeClr val="accent2">
                          <a:lumMod val="40000"/>
                          <a:lumOff val="60000"/>
                        </a:schemeClr>
                      </a:solidFill>
                      <a:prstDash val="solid"/>
                    </a:lnL>
                    <a:lnR w="12700" cmpd="sng">
                      <a:solidFill>
                        <a:schemeClr val="accent2">
                          <a:lumMod val="40000"/>
                          <a:lumOff val="60000"/>
                        </a:schemeClr>
                      </a:solidFill>
                      <a:prstDash val="solid"/>
                    </a:lnR>
                    <a:lnT w="12700" cmpd="sng">
                      <a:solidFill>
                        <a:schemeClr val="accent2">
                          <a:lumMod val="40000"/>
                          <a:lumOff val="60000"/>
                        </a:schemeClr>
                      </a:solidFill>
                      <a:prstDash val="solid"/>
                    </a:lnT>
                    <a:lnB w="12700" cmpd="sng">
                      <a:solidFill>
                        <a:schemeClr val="accent2">
                          <a:lumMod val="40000"/>
                          <a:lumOff val="60000"/>
                        </a:schemeClr>
                      </a:solidFill>
                      <a:prstDash val="solid"/>
                    </a:lnB>
                  </a:tcPr>
                </a:tc>
              </a:tr>
            </a:tbl>
          </a:graphicData>
        </a:graphic>
      </p:graphicFrame>
      <p:sp>
        <p:nvSpPr>
          <p:cNvPr id="6" name="文本框 5"/>
          <p:cNvSpPr txBox="1"/>
          <p:nvPr/>
        </p:nvSpPr>
        <p:spPr>
          <a:xfrm>
            <a:off x="223520" y="717550"/>
            <a:ext cx="8517255" cy="341630"/>
          </a:xfrm>
          <a:prstGeom prst="rect">
            <a:avLst/>
          </a:prstGeom>
          <a:noFill/>
        </p:spPr>
        <p:txBody>
          <a:bodyPr wrap="square" rtlCol="0" anchor="t">
            <a:noAutofit/>
          </a:bodyPr>
          <a:p>
            <a:pPr>
              <a:spcAft>
                <a:spcPct val="60000"/>
              </a:spcAft>
            </a:pPr>
            <a:endParaRPr lang="en-US" altLang="zh-CN" sz="1600">
              <a:sym typeface="+mn-ea"/>
            </a:endParaRPr>
          </a:p>
        </p:txBody>
      </p:sp>
      <p:sp>
        <p:nvSpPr>
          <p:cNvPr id="7" name="Text 3"/>
          <p:cNvSpPr/>
          <p:nvPr/>
        </p:nvSpPr>
        <p:spPr>
          <a:xfrm>
            <a:off x="223520" y="717550"/>
            <a:ext cx="6528435" cy="427355"/>
          </a:xfrm>
          <a:prstGeom prst="rect">
            <a:avLst/>
          </a:prstGeom>
          <a:noFill/>
        </p:spPr>
        <p:txBody>
          <a:bodyPr wrap="square" lIns="0" tIns="0" rIns="0" bIns="0" rtlCol="0" anchor="t"/>
          <a:lstStyle/>
          <a:p>
            <a:pPr>
              <a:spcAft>
                <a:spcPct val="60000"/>
              </a:spcAft>
            </a:pPr>
            <a:r>
              <a:rPr lang="en-US" altLang="zh-CN" sz="1600">
                <a:solidFill>
                  <a:schemeClr val="accent2">
                    <a:lumMod val="75000"/>
                  </a:schemeClr>
                </a:solidFill>
                <a:sym typeface="+mn-ea"/>
              </a:rPr>
              <a:t>Files modified and used unchanged from the original TA-class framework:</a:t>
            </a:r>
            <a:endParaRPr lang="en-US" altLang="zh-CN" sz="1600" b="1" dirty="0">
              <a:solidFill>
                <a:schemeClr val="accent2">
                  <a:lumMod val="75000"/>
                </a:schemeClr>
              </a:solidFill>
              <a:latin typeface="Georgia" panose="02040502050405020303" pitchFamily="34" charset="0"/>
              <a:ea typeface="Georgia" panose="02040502050405020303" pitchFamily="34" charset="-122"/>
              <a:cs typeface="Georgia" panose="02040502050405020303" pitchFamily="34" charset="-120"/>
              <a:sym typeface="+mn-ea"/>
            </a:endParaRPr>
          </a:p>
        </p:txBody>
      </p:sp>
      <p:sp>
        <p:nvSpPr>
          <p:cNvPr id="8" name="Text 3"/>
          <p:cNvSpPr/>
          <p:nvPr/>
        </p:nvSpPr>
        <p:spPr>
          <a:xfrm>
            <a:off x="223520" y="4555490"/>
            <a:ext cx="8517890" cy="523240"/>
          </a:xfrm>
          <a:prstGeom prst="rect">
            <a:avLst/>
          </a:prstGeom>
          <a:noFill/>
        </p:spPr>
        <p:txBody>
          <a:bodyPr wrap="square" lIns="0" tIns="0" rIns="0" bIns="0" rtlCol="0" anchor="t"/>
          <a:lstStyle/>
          <a:p>
            <a:pPr>
              <a:spcAft>
                <a:spcPct val="60000"/>
              </a:spcAft>
            </a:pPr>
            <a:r>
              <a:rPr lang="en-US" altLang="zh-CN" sz="1600">
                <a:solidFill>
                  <a:schemeClr val="accent2">
                    <a:lumMod val="75000"/>
                  </a:schemeClr>
                </a:solidFill>
                <a:sym typeface="+mn-ea"/>
              </a:rPr>
              <a:t>External data inputs: sentiment_scores (hardcoded in main.py), sourced from Exercise 1 NLP pipeline; 2023Q4 scores used for Window 1, 2024Q2 scores used for Window 2.</a:t>
            </a:r>
            <a:endParaRPr lang="en-US" altLang="zh-CN" sz="1600" b="1" dirty="0">
              <a:solidFill>
                <a:schemeClr val="accent2">
                  <a:lumMod val="75000"/>
                </a:schemeClr>
              </a:solidFill>
              <a:latin typeface="Georgia" panose="02040502050405020303" pitchFamily="34" charset="0"/>
              <a:ea typeface="Georgia" panose="02040502050405020303" pitchFamily="34" charset="-122"/>
              <a:cs typeface="Georgia" panose="02040502050405020303" pitchFamily="34" charset="-120"/>
              <a:sym typeface="+mn-ea"/>
            </a:endParaRPr>
          </a:p>
        </p:txBody>
      </p:sp>
      <p:graphicFrame>
        <p:nvGraphicFramePr>
          <p:cNvPr id="9" name="对象 8">
            <a:hlinkClick r:id="" action="ppaction://ole?verb="/>
          </p:cNvPr>
          <p:cNvGraphicFramePr>
            <a:graphicFrameLocks noChangeAspect="1"/>
          </p:cNvGraphicFramePr>
          <p:nvPr/>
        </p:nvGraphicFramePr>
        <p:xfrm>
          <a:off x="2009775" y="1386205"/>
          <a:ext cx="360000" cy="458824"/>
        </p:xfrm>
        <a:graphic>
          <a:graphicData uri="http://schemas.openxmlformats.org/presentationml/2006/ole">
            <mc:AlternateContent xmlns:mc="http://schemas.openxmlformats.org/markup-compatibility/2006">
              <mc:Choice xmlns:v="urn:schemas-microsoft-com:vml" Requires="v">
                <p:oleObj spid="_x0000_s2049" name="" showAsIcon="1" r:id="rId2" imgW="971550" imgH="1238250" progId="Package">
                  <p:embed/>
                </p:oleObj>
              </mc:Choice>
              <mc:Fallback>
                <p:oleObj name="" showAsIcon="1" r:id="rId2" imgW="971550" imgH="1238250" progId="Package">
                  <p:embed/>
                  <p:pic>
                    <p:nvPicPr>
                      <p:cNvPr id="0" name="图片 2048"/>
                      <p:cNvPicPr/>
                      <p:nvPr/>
                    </p:nvPicPr>
                    <p:blipFill>
                      <a:blip r:embed="rId3"/>
                      <a:stretch>
                        <a:fillRect/>
                      </a:stretch>
                    </p:blipFill>
                    <p:spPr>
                      <a:xfrm>
                        <a:off x="2009775" y="1386205"/>
                        <a:ext cx="360000" cy="458824"/>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2009775" y="2480945"/>
          <a:ext cx="360000" cy="458824"/>
        </p:xfrm>
        <a:graphic>
          <a:graphicData uri="http://schemas.openxmlformats.org/presentationml/2006/ole">
            <mc:AlternateContent xmlns:mc="http://schemas.openxmlformats.org/markup-compatibility/2006">
              <mc:Choice xmlns:v="urn:schemas-microsoft-com:vml" Requires="v">
                <p:oleObj spid="_x0000_s2050" name="" showAsIcon="1" r:id="rId4" imgW="971550" imgH="1238250" progId="Package">
                  <p:embed/>
                </p:oleObj>
              </mc:Choice>
              <mc:Fallback>
                <p:oleObj name="" showAsIcon="1" r:id="rId4" imgW="971550" imgH="1238250" progId="Package">
                  <p:embed/>
                  <p:pic>
                    <p:nvPicPr>
                      <p:cNvPr id="0" name="图片 2049"/>
                      <p:cNvPicPr/>
                      <p:nvPr/>
                    </p:nvPicPr>
                    <p:blipFill>
                      <a:blip r:embed="rId5"/>
                      <a:stretch>
                        <a:fillRect/>
                      </a:stretch>
                    </p:blipFill>
                    <p:spPr>
                      <a:xfrm>
                        <a:off x="2009775" y="2480945"/>
                        <a:ext cx="360000" cy="458824"/>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2009775" y="3014345"/>
          <a:ext cx="360000" cy="458824"/>
        </p:xfrm>
        <a:graphic>
          <a:graphicData uri="http://schemas.openxmlformats.org/presentationml/2006/ole">
            <mc:AlternateContent xmlns:mc="http://schemas.openxmlformats.org/markup-compatibility/2006">
              <mc:Choice xmlns:v="urn:schemas-microsoft-com:vml" Requires="v">
                <p:oleObj spid="_x0000_s2051" name="" showAsIcon="1" r:id="rId6" imgW="971550" imgH="1238250" progId="Package">
                  <p:embed/>
                </p:oleObj>
              </mc:Choice>
              <mc:Fallback>
                <p:oleObj name="" showAsIcon="1" r:id="rId6" imgW="971550" imgH="1238250" progId="Package">
                  <p:embed/>
                  <p:pic>
                    <p:nvPicPr>
                      <p:cNvPr id="0" name="图片 2050"/>
                      <p:cNvPicPr/>
                      <p:nvPr/>
                    </p:nvPicPr>
                    <p:blipFill>
                      <a:blip r:embed="rId7"/>
                      <a:stretch>
                        <a:fillRect/>
                      </a:stretch>
                    </p:blipFill>
                    <p:spPr>
                      <a:xfrm>
                        <a:off x="2009775" y="3014345"/>
                        <a:ext cx="360000" cy="458824"/>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2009775" y="3376930"/>
          <a:ext cx="360000" cy="458824"/>
        </p:xfrm>
        <a:graphic>
          <a:graphicData uri="http://schemas.openxmlformats.org/presentationml/2006/ole">
            <mc:AlternateContent xmlns:mc="http://schemas.openxmlformats.org/markup-compatibility/2006">
              <mc:Choice xmlns:v="urn:schemas-microsoft-com:vml" Requires="v">
                <p:oleObj spid="_x0000_s2052" name="" showAsIcon="1" r:id="rId8" imgW="971550" imgH="1238250" progId="Package">
                  <p:embed/>
                </p:oleObj>
              </mc:Choice>
              <mc:Fallback>
                <p:oleObj name="" showAsIcon="1" r:id="rId8" imgW="971550" imgH="1238250" progId="Package">
                  <p:embed/>
                  <p:pic>
                    <p:nvPicPr>
                      <p:cNvPr id="0" name="图片 2051"/>
                      <p:cNvPicPr/>
                      <p:nvPr/>
                    </p:nvPicPr>
                    <p:blipFill>
                      <a:blip r:embed="rId9"/>
                      <a:stretch>
                        <a:fillRect/>
                      </a:stretch>
                    </p:blipFill>
                    <p:spPr>
                      <a:xfrm>
                        <a:off x="2009775" y="3376930"/>
                        <a:ext cx="360000" cy="458824"/>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2009775" y="3784600"/>
          <a:ext cx="360000" cy="458824"/>
        </p:xfrm>
        <a:graphic>
          <a:graphicData uri="http://schemas.openxmlformats.org/presentationml/2006/ole">
            <mc:AlternateContent xmlns:mc="http://schemas.openxmlformats.org/markup-compatibility/2006">
              <mc:Choice xmlns:v="urn:schemas-microsoft-com:vml" Requires="v">
                <p:oleObj spid="_x0000_s2053" name="" showAsIcon="1" r:id="rId10" imgW="971550" imgH="1238250" progId="Package">
                  <p:embed/>
                </p:oleObj>
              </mc:Choice>
              <mc:Fallback>
                <p:oleObj name="" showAsIcon="1" r:id="rId10" imgW="971550" imgH="1238250" progId="Package">
                  <p:embed/>
                  <p:pic>
                    <p:nvPicPr>
                      <p:cNvPr id="0" name="图片 2052"/>
                      <p:cNvPicPr/>
                      <p:nvPr/>
                    </p:nvPicPr>
                    <p:blipFill>
                      <a:blip r:embed="rId11"/>
                      <a:stretch>
                        <a:fillRect/>
                      </a:stretch>
                    </p:blipFill>
                    <p:spPr>
                      <a:xfrm>
                        <a:off x="2009775" y="3784600"/>
                        <a:ext cx="360000" cy="458824"/>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2009775" y="4185920"/>
          <a:ext cx="360000" cy="458824"/>
        </p:xfrm>
        <a:graphic>
          <a:graphicData uri="http://schemas.openxmlformats.org/presentationml/2006/ole">
            <mc:AlternateContent xmlns:mc="http://schemas.openxmlformats.org/markup-compatibility/2006">
              <mc:Choice xmlns:v="urn:schemas-microsoft-com:vml" Requires="v">
                <p:oleObj spid="_x0000_s2054" name="" showAsIcon="1" r:id="rId12" imgW="971550" imgH="1238250" progId="Package">
                  <p:embed/>
                </p:oleObj>
              </mc:Choice>
              <mc:Fallback>
                <p:oleObj name="" showAsIcon="1" r:id="rId12" imgW="971550" imgH="1238250" progId="Package">
                  <p:embed/>
                  <p:pic>
                    <p:nvPicPr>
                      <p:cNvPr id="0" name="图片 2053"/>
                      <p:cNvPicPr/>
                      <p:nvPr/>
                    </p:nvPicPr>
                    <p:blipFill>
                      <a:blip r:embed="rId13"/>
                      <a:stretch>
                        <a:fillRect/>
                      </a:stretch>
                    </p:blipFill>
                    <p:spPr>
                      <a:xfrm>
                        <a:off x="2009775" y="4185920"/>
                        <a:ext cx="360000" cy="458824"/>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2009775" y="1933575"/>
          <a:ext cx="360000" cy="458824"/>
        </p:xfrm>
        <a:graphic>
          <a:graphicData uri="http://schemas.openxmlformats.org/presentationml/2006/ole">
            <mc:AlternateContent xmlns:mc="http://schemas.openxmlformats.org/markup-compatibility/2006">
              <mc:Choice xmlns:v="urn:schemas-microsoft-com:vml" Requires="v">
                <p:oleObj spid="_x0000_s2055" name="" showAsIcon="1" r:id="rId14" imgW="971550" imgH="1238250" progId="Package">
                  <p:embed/>
                </p:oleObj>
              </mc:Choice>
              <mc:Fallback>
                <p:oleObj name="" showAsIcon="1" r:id="rId14" imgW="971550" imgH="1238250" progId="Package">
                  <p:embed/>
                  <p:pic>
                    <p:nvPicPr>
                      <p:cNvPr id="0" name="图片 2054"/>
                      <p:cNvPicPr/>
                      <p:nvPr/>
                    </p:nvPicPr>
                    <p:blipFill>
                      <a:blip r:embed="rId15"/>
                      <a:stretch>
                        <a:fillRect/>
                      </a:stretch>
                    </p:blipFill>
                    <p:spPr>
                      <a:xfrm>
                        <a:off x="2009775" y="1933575"/>
                        <a:ext cx="360000" cy="458824"/>
                      </a:xfrm>
                      <a:prstGeom prst="rect">
                        <a:avLst/>
                      </a:prstGeom>
                    </p:spPr>
                  </p:pic>
                </p:oleObj>
              </mc:Fallback>
            </mc:AlternateContent>
          </a:graphicData>
        </a:graphic>
      </p:graphicFrame>
    </p:spTree>
  </p:cSld>
  <p:clrMapOvr>
    <a:masterClrMapping/>
  </p:clrMapOvr>
</p:sld>
</file>

<file path=ppt/tags/tag1.xml><?xml version="1.0" encoding="utf-8"?>
<p:tagLst xmlns:p="http://schemas.openxmlformats.org/presentationml/2006/main">
  <p:tag name="KSO_WM_DIAGRAM_VIRTUALLY_FRAME" val="{&quot;height&quot;:273.6,&quot;left&quot;:306,&quot;top&quot;:64.8,&quot;width&quot;:394.56000000000006}"/>
</p:tagLst>
</file>

<file path=ppt/tags/tag2.xml><?xml version="1.0" encoding="utf-8"?>
<p:tagLst xmlns:p="http://schemas.openxmlformats.org/presentationml/2006/main">
  <p:tag name="KSO_WM_DIAGRAM_VIRTUALLY_FRAME" val="{&quot;height&quot;:273.6,&quot;left&quot;:306,&quot;top&quot;:64.8,&quot;width&quot;:394.56000000000006}"/>
</p:tagLst>
</file>

<file path=ppt/tags/tag3.xml><?xml version="1.0" encoding="utf-8"?>
<p:tagLst xmlns:p="http://schemas.openxmlformats.org/presentationml/2006/main">
  <p:tag name="KSO_WM_DIAGRAM_VIRTUALLY_FRAME" val="{&quot;height&quot;:273.6,&quot;left&quot;:306,&quot;top&quot;:64.8,&quot;width&quot;:394.56000000000006}"/>
</p:tagLst>
</file>

<file path=ppt/tags/tag4.xml><?xml version="1.0" encoding="utf-8"?>
<p:tagLst xmlns:p="http://schemas.openxmlformats.org/presentationml/2006/main">
  <p:tag name="KSO_WM_DIAGRAM_VIRTUALLY_FRAME" val="{&quot;height&quot;:273.6,&quot;left&quot;:306,&quot;top&quot;:64.8,&quot;width&quot;:394.56000000000006}"/>
</p:tagLst>
</file>

<file path=ppt/tags/tag5.xml><?xml version="1.0" encoding="utf-8"?>
<p:tagLst xmlns:p="http://schemas.openxmlformats.org/presentationml/2006/main">
  <p:tag name="KSO_WM_DIAGRAM_VIRTUALLY_FRAME" val="{&quot;height&quot;:273.6,&quot;left&quot;:306,&quot;top&quot;:64.8,&quot;width&quot;:394.56000000000006}"/>
</p:tagLst>
</file>

<file path=ppt/tags/tag6.xml><?xml version="1.0" encoding="utf-8"?>
<p:tagLst xmlns:p="http://schemas.openxmlformats.org/presentationml/2006/main">
  <p:tag name="KSO_WM_DIAGRAM_VIRTUALLY_FRAME" val="{&quot;height&quot;:273.6,&quot;left&quot;:306,&quot;top&quot;:64.8,&quot;width&quot;:394.56000000000006}"/>
</p:tagLst>
</file>

<file path=ppt/tags/tag7.xml><?xml version="1.0" encoding="utf-8"?>
<p:tagLst xmlns:p="http://schemas.openxmlformats.org/presentationml/2006/main">
  <p:tag name="KSO_WM_DIAGRAM_VIRTUALLY_FRAME" val="{&quot;height&quot;:273.6,&quot;left&quot;:306,&quot;top&quot;:64.8,&quot;width&quot;:394.56000000000006}"/>
</p:tagLst>
</file>

<file path=ppt/tags/tag8.xml><?xml version="1.0" encoding="utf-8"?>
<p:tagLst xmlns:p="http://schemas.openxmlformats.org/presentationml/2006/main">
  <p:tag name="KSO_WM_DIAGRAM_VIRTUALLY_FRAME" val="{&quot;height&quot;:273.6,&quot;left&quot;:306,&quot;top&quot;:64.8,&quot;width&quot;:394.56000000000006}"/>
</p:tagLst>
</file>

<file path=ppt/tags/tag9.xml><?xml version="1.0" encoding="utf-8"?>
<p:tagLst xmlns:p="http://schemas.openxmlformats.org/presentationml/2006/main">
  <p:tag name="KSO_WM_DIAGRAM_VIRTUALLY_FRAME" val="{&quot;height&quot;:273.6,&quot;left&quot;:306,&quot;top&quot;:64.8,&quot;width&quot;:394.56000000000006}"/>
</p:tagLst>
</file>

<file path=ppt/tags/tag10.xml><?xml version="1.0" encoding="utf-8"?>
<p:tagLst xmlns:p="http://schemas.openxmlformats.org/presentationml/2006/main">
  <p:tag name="KSO_WM_DIAGRAM_VIRTUALLY_FRAME" val="{&quot;height&quot;:273.6,&quot;left&quot;:306,&quot;top&quot;:64.8,&quot;width&quot;:394.56000000000006}"/>
</p:tagLst>
</file>

<file path=ppt/tags/tag11.xml><?xml version="1.0" encoding="utf-8"?>
<p:tagLst xmlns:p="http://schemas.openxmlformats.org/presentationml/2006/main">
  <p:tag name="KSO_WM_DIAGRAM_VIRTUALLY_FRAME" val="{&quot;height&quot;:273.6,&quot;left&quot;:306,&quot;top&quot;:64.8,&quot;width&quot;:394.56000000000006}"/>
</p:tagLst>
</file>

<file path=ppt/tags/tag12.xml><?xml version="1.0" encoding="utf-8"?>
<p:tagLst xmlns:p="http://schemas.openxmlformats.org/presentationml/2006/main">
  <p:tag name="KSO_WM_DIAGRAM_VIRTUALLY_FRAME" val="{&quot;height&quot;:273.6,&quot;left&quot;:306,&quot;top&quot;:64.8,&quot;width&quot;:394.56000000000006}"/>
</p:tagLst>
</file>

<file path=ppt/tags/tag13.xml><?xml version="1.0" encoding="utf-8"?>
<p:tagLst xmlns:p="http://schemas.openxmlformats.org/presentationml/2006/main">
  <p:tag name="KSO_WM_DIAGRAM_VIRTUALLY_FRAME" val="{&quot;height&quot;:273.6,&quot;left&quot;:306,&quot;top&quot;:64.8,&quot;width&quot;:394.56000000000006}"/>
</p:tagLst>
</file>

<file path=ppt/tags/tag14.xml><?xml version="1.0" encoding="utf-8"?>
<p:tagLst xmlns:p="http://schemas.openxmlformats.org/presentationml/2006/main">
  <p:tag name="KSO_WM_DIAGRAM_VIRTUALLY_FRAME" val="{&quot;height&quot;:273.6,&quot;left&quot;:306,&quot;top&quot;:64.8,&quot;width&quot;:394.56000000000006}"/>
</p:tagLst>
</file>

<file path=ppt/tags/tag15.xml><?xml version="1.0" encoding="utf-8"?>
<p:tagLst xmlns:p="http://schemas.openxmlformats.org/presentationml/2006/main">
  <p:tag name="KSO_WM_DIAGRAM_VIRTUALLY_FRAME" val="{&quot;height&quot;:273.6,&quot;left&quot;:306,&quot;top&quot;:64.8,&quot;width&quot;:394.56000000000006}"/>
</p:tagLst>
</file>

<file path=ppt/tags/tag16.xml><?xml version="1.0" encoding="utf-8"?>
<p:tagLst xmlns:p="http://schemas.openxmlformats.org/presentationml/2006/main">
  <p:tag name="KSO_WM_DIAGRAM_VIRTUALLY_FRAME" val="{&quot;height&quot;:273.6,&quot;left&quot;:306,&quot;top&quot;:64.8,&quot;width&quot;:394.56000000000006}"/>
</p:tagLst>
</file>

<file path=ppt/tags/tag17.xml><?xml version="1.0" encoding="utf-8"?>
<p:tagLst xmlns:p="http://schemas.openxmlformats.org/presentationml/2006/main">
  <p:tag name="KSO_WM_DIAGRAM_VIRTUALLY_FRAME" val="{&quot;height&quot;:273.6,&quot;left&quot;:306,&quot;top&quot;:64.8,&quot;width&quot;:394.56000000000006}"/>
</p:tagLst>
</file>

<file path=ppt/tags/tag18.xml><?xml version="1.0" encoding="utf-8"?>
<p:tagLst xmlns:p="http://schemas.openxmlformats.org/presentationml/2006/main">
  <p:tag name="KSO_WM_DIAGRAM_VIRTUALLY_FRAME" val="{&quot;height&quot;:273.6,&quot;left&quot;:306,&quot;top&quot;:64.8,&quot;width&quot;:394.56000000000006}"/>
</p:tagLst>
</file>

<file path=ppt/tags/tag19.xml><?xml version="1.0" encoding="utf-8"?>
<p:tagLst xmlns:p="http://schemas.openxmlformats.org/presentationml/2006/main">
  <p:tag name="KSO_WM_DIAGRAM_VIRTUALLY_FRAME" val="{&quot;height&quot;:273.6,&quot;left&quot;:306,&quot;top&quot;:64.8,&quot;width&quot;:394.56000000000006}"/>
</p:tagLst>
</file>

<file path=ppt/tags/tag20.xml><?xml version="1.0" encoding="utf-8"?>
<p:tagLst xmlns:p="http://schemas.openxmlformats.org/presentationml/2006/main">
  <p:tag name="KSO_WM_DIAGRAM_VIRTUALLY_FRAME" val="{&quot;height&quot;:273.6,&quot;left&quot;:306,&quot;top&quot;:64.8,&quot;width&quot;:394.56000000000006}"/>
</p:tagLst>
</file>

<file path=ppt/tags/tag21.xml><?xml version="1.0" encoding="utf-8"?>
<p:tagLst xmlns:p="http://schemas.openxmlformats.org/presentationml/2006/main">
  <p:tag name="KSO_WM_DIAGRAM_VIRTUALLY_FRAME" val="{&quot;height&quot;:79.2,&quot;left&quot;:25.2,&quot;top&quot;:61.2,&quot;width&quot;:665.2800000000001}"/>
</p:tagLst>
</file>

<file path=ppt/tags/tag22.xml><?xml version="1.0" encoding="utf-8"?>
<p:tagLst xmlns:p="http://schemas.openxmlformats.org/presentationml/2006/main">
  <p:tag name="KSO_WM_DIAGRAM_VIRTUALLY_FRAME" val="{&quot;height&quot;:79.2,&quot;left&quot;:25.2,&quot;top&quot;:61.2,&quot;width&quot;:665.2800000000001}"/>
</p:tagLst>
</file>

<file path=ppt/tags/tag23.xml><?xml version="1.0" encoding="utf-8"?>
<p:tagLst xmlns:p="http://schemas.openxmlformats.org/presentationml/2006/main">
  <p:tag name="KSO_WM_DIAGRAM_VIRTUALLY_FRAME" val="{&quot;height&quot;:79.2,&quot;left&quot;:25.2,&quot;top&quot;:61.2,&quot;width&quot;:665.2800000000001}"/>
</p:tagLst>
</file>

<file path=ppt/tags/tag24.xml><?xml version="1.0" encoding="utf-8"?>
<p:tagLst xmlns:p="http://schemas.openxmlformats.org/presentationml/2006/main">
  <p:tag name="KSO_WM_DIAGRAM_VIRTUALLY_FRAME" val="{&quot;height&quot;:79.2,&quot;left&quot;:25.2,&quot;top&quot;:61.2,&quot;width&quot;:665.2800000000001}"/>
</p:tagLst>
</file>

<file path=ppt/tags/tag25.xml><?xml version="1.0" encoding="utf-8"?>
<p:tagLst xmlns:p="http://schemas.openxmlformats.org/presentationml/2006/main">
  <p:tag name="KSO_WM_DIAGRAM_VIRTUALLY_FRAME" val="{&quot;height&quot;:79.2,&quot;left&quot;:25.2,&quot;top&quot;:61.2,&quot;width&quot;:665.2800000000001}"/>
</p:tagLst>
</file>

<file path=ppt/tags/tag26.xml><?xml version="1.0" encoding="utf-8"?>
<p:tagLst xmlns:p="http://schemas.openxmlformats.org/presentationml/2006/main">
  <p:tag name="KSO_WM_DIAGRAM_VIRTUALLY_FRAME" val="{&quot;height&quot;:79.2,&quot;left&quot;:25.2,&quot;top&quot;:61.2,&quot;width&quot;:665.2800000000001}"/>
</p:tagLst>
</file>

<file path=ppt/tags/tag27.xml><?xml version="1.0" encoding="utf-8"?>
<p:tagLst xmlns:p="http://schemas.openxmlformats.org/presentationml/2006/main">
  <p:tag name="KSO_WM_DIAGRAM_VIRTUALLY_FRAME" val="{&quot;height&quot;:79.2,&quot;left&quot;:25.2,&quot;top&quot;:61.2,&quot;width&quot;:665.2800000000001}"/>
</p:tagLst>
</file>

<file path=ppt/tags/tag28.xml><?xml version="1.0" encoding="utf-8"?>
<p:tagLst xmlns:p="http://schemas.openxmlformats.org/presentationml/2006/main">
  <p:tag name="KSO_WM_DIAGRAM_VIRTUALLY_FRAME" val="{&quot;height&quot;:79.2,&quot;left&quot;:25.2,&quot;top&quot;:61.2,&quot;width&quot;:665.2800000000001}"/>
</p:tagLst>
</file>

<file path=ppt/tags/tag29.xml><?xml version="1.0" encoding="utf-8"?>
<p:tagLst xmlns:p="http://schemas.openxmlformats.org/presentationml/2006/main">
  <p:tag name="KSO_WM_DIAGRAM_VIRTUALLY_FRAME" val="{&quot;height&quot;:79.2,&quot;left&quot;:25.2,&quot;top&quot;:61.2,&quot;width&quot;:665.2800000000001}"/>
</p:tagLst>
</file>

<file path=ppt/tags/tag30.xml><?xml version="1.0" encoding="utf-8"?>
<p:tagLst xmlns:p="http://schemas.openxmlformats.org/presentationml/2006/main">
  <p:tag name="KSO_WM_DIAGRAM_VIRTUALLY_FRAME" val="{&quot;height&quot;:79.2,&quot;left&quot;:25.2,&quot;top&quot;:61.2,&quot;width&quot;:665.2800000000001}"/>
</p:tagLst>
</file>

<file path=ppt/tags/tag31.xml><?xml version="1.0" encoding="utf-8"?>
<p:tagLst xmlns:p="http://schemas.openxmlformats.org/presentationml/2006/main">
  <p:tag name="KSO_WM_DIAGRAM_VIRTUALLY_FRAME" val="{&quot;height&quot;:79.2,&quot;left&quot;:25.2,&quot;top&quot;:61.2,&quot;width&quot;:665.2800000000001}"/>
</p:tagLst>
</file>

<file path=ppt/tags/tag32.xml><?xml version="1.0" encoding="utf-8"?>
<p:tagLst xmlns:p="http://schemas.openxmlformats.org/presentationml/2006/main">
  <p:tag name="KSO_WM_DIAGRAM_VIRTUALLY_FRAME" val="{&quot;height&quot;:79.2,&quot;left&quot;:25.2,&quot;top&quot;:61.2,&quot;width&quot;:665.2800000000001}"/>
</p:tagLst>
</file>

<file path=ppt/tags/tag33.xml><?xml version="1.0" encoding="utf-8"?>
<p:tagLst xmlns:p="http://schemas.openxmlformats.org/presentationml/2006/main">
  <p:tag name="KSO_WM_DIAGRAM_VIRTUALLY_FRAME" val="{&quot;height&quot;:79.2,&quot;left&quot;:25.2,&quot;top&quot;:61.2,&quot;width&quot;:665.2800000000001}"/>
</p:tagLst>
</file>

<file path=ppt/tags/tag34.xml><?xml version="1.0" encoding="utf-8"?>
<p:tagLst xmlns:p="http://schemas.openxmlformats.org/presentationml/2006/main">
  <p:tag name="KSO_WM_DIAGRAM_VIRTUALLY_FRAME" val="{&quot;height&quot;:79.2,&quot;left&quot;:25.2,&quot;top&quot;:61.2,&quot;width&quot;:665.2800000000001}"/>
</p:tagLst>
</file>

<file path=ppt/tags/tag35.xml><?xml version="1.0" encoding="utf-8"?>
<p:tagLst xmlns:p="http://schemas.openxmlformats.org/presentationml/2006/main">
  <p:tag name="KSO_WM_DIAGRAM_VIRTUALLY_FRAME" val="{&quot;height&quot;:79.2,&quot;left&quot;:25.2,&quot;top&quot;:61.2,&quot;width&quot;:665.2800000000001}"/>
</p:tagLst>
</file>

<file path=ppt/tags/tag36.xml><?xml version="1.0" encoding="utf-8"?>
<p:tagLst xmlns:p="http://schemas.openxmlformats.org/presentationml/2006/main">
  <p:tag name="KSO_WM_DIAGRAM_VIRTUALLY_FRAME" val="{&quot;height&quot;:79.2,&quot;left&quot;:25.2,&quot;top&quot;:61.2,&quot;width&quot;:665.2800000000001}"/>
</p:tagLst>
</file>

<file path=ppt/tags/tag37.xml><?xml version="1.0" encoding="utf-8"?>
<p:tagLst xmlns:p="http://schemas.openxmlformats.org/presentationml/2006/main">
  <p:tag name="KSO_WM_DIAGRAM_VIRTUALLY_FRAME" val="{&quot;height&quot;:122.4,&quot;left&quot;:183.6,&quot;top&quot;:64.8,&quot;width&quot;:518.4}"/>
</p:tagLst>
</file>

<file path=ppt/tags/tag38.xml><?xml version="1.0" encoding="utf-8"?>
<p:tagLst xmlns:p="http://schemas.openxmlformats.org/presentationml/2006/main">
  <p:tag name="KSO_WM_DIAGRAM_VIRTUALLY_FRAME" val="{&quot;height&quot;:122.4,&quot;left&quot;:183.6,&quot;top&quot;:64.8,&quot;width&quot;:518.4}"/>
</p:tagLst>
</file>

<file path=ppt/tags/tag39.xml><?xml version="1.0" encoding="utf-8"?>
<p:tagLst xmlns:p="http://schemas.openxmlformats.org/presentationml/2006/main">
  <p:tag name="KSO_WM_DIAGRAM_VIRTUALLY_FRAME" val="{&quot;height&quot;:122.4,&quot;left&quot;:183.6,&quot;top&quot;:64.8,&quot;width&quot;:518.4}"/>
</p:tagLst>
</file>

<file path=ppt/tags/tag40.xml><?xml version="1.0" encoding="utf-8"?>
<p:tagLst xmlns:p="http://schemas.openxmlformats.org/presentationml/2006/main">
  <p:tag name="KSO_WM_DIAGRAM_VIRTUALLY_FRAME" val="{&quot;height&quot;:122.4,&quot;left&quot;:183.6,&quot;top&quot;:64.8,&quot;width&quot;:518.4}"/>
</p:tagLst>
</file>

<file path=ppt/tags/tag41.xml><?xml version="1.0" encoding="utf-8"?>
<p:tagLst xmlns:p="http://schemas.openxmlformats.org/presentationml/2006/main">
  <p:tag name="KSO_WM_DIAGRAM_VIRTUALLY_FRAME" val="{&quot;height&quot;:122.4,&quot;left&quot;:183.6,&quot;top&quot;:64.8,&quot;width&quot;:518.4}"/>
</p:tagLst>
</file>

<file path=ppt/tags/tag42.xml><?xml version="1.0" encoding="utf-8"?>
<p:tagLst xmlns:p="http://schemas.openxmlformats.org/presentationml/2006/main">
  <p:tag name="KSO_WM_DIAGRAM_VIRTUALLY_FRAME" val="{&quot;height&quot;:122.4,&quot;left&quot;:183.6,&quot;top&quot;:64.8,&quot;width&quot;:518.4}"/>
</p:tagLst>
</file>

<file path=ppt/tags/tag43.xml><?xml version="1.0" encoding="utf-8"?>
<p:tagLst xmlns:p="http://schemas.openxmlformats.org/presentationml/2006/main">
  <p:tag name="KSO_WM_DIAGRAM_VIRTUALLY_FRAME" val="{&quot;height&quot;:122.4,&quot;left&quot;:183.6,&quot;top&quot;:64.8,&quot;width&quot;:518.4}"/>
</p:tagLst>
</file>

<file path=ppt/tags/tag44.xml><?xml version="1.0" encoding="utf-8"?>
<p:tagLst xmlns:p="http://schemas.openxmlformats.org/presentationml/2006/main">
  <p:tag name="KSO_WM_DIAGRAM_VIRTUALLY_FRAME" val="{&quot;height&quot;:122.4,&quot;left&quot;:183.6,&quot;top&quot;:64.8,&quot;width&quot;:518.4}"/>
</p:tagLst>
</file>

<file path=ppt/tags/tag45.xml><?xml version="1.0" encoding="utf-8"?>
<p:tagLst xmlns:p="http://schemas.openxmlformats.org/presentationml/2006/main">
  <p:tag name="KSO_WM_DIAGRAM_VIRTUALLY_FRAME" val="{&quot;height&quot;:122.4,&quot;left&quot;:183.6,&quot;top&quot;:64.8,&quot;width&quot;:518.4}"/>
</p:tagLst>
</file>

<file path=ppt/tags/tag46.xml><?xml version="1.0" encoding="utf-8"?>
<p:tagLst xmlns:p="http://schemas.openxmlformats.org/presentationml/2006/main">
  <p:tag name="KSO_WM_DIAGRAM_VIRTUALLY_FRAME" val="{&quot;height&quot;:122.4,&quot;left&quot;:183.6,&quot;top&quot;:64.8,&quot;width&quot;:518.4}"/>
</p:tagLst>
</file>

<file path=ppt/tags/tag47.xml><?xml version="1.0" encoding="utf-8"?>
<p:tagLst xmlns:p="http://schemas.openxmlformats.org/presentationml/2006/main">
  <p:tag name="KSO_WM_DIAGRAM_VIRTUALLY_FRAME" val="{&quot;height&quot;:122.4,&quot;left&quot;:183.6,&quot;top&quot;:64.8,&quot;width&quot;:518.4}"/>
</p:tagLst>
</file>

<file path=ppt/tags/tag48.xml><?xml version="1.0" encoding="utf-8"?>
<p:tagLst xmlns:p="http://schemas.openxmlformats.org/presentationml/2006/main">
  <p:tag name="KSO_WM_DIAGRAM_VIRTUALLY_FRAME" val="{&quot;height&quot;:122.4,&quot;left&quot;:183.6,&quot;top&quot;:64.8,&quot;width&quot;:518.4}"/>
</p:tagLst>
</file>

<file path=ppt/tags/tag49.xml><?xml version="1.0" encoding="utf-8"?>
<p:tagLst xmlns:p="http://schemas.openxmlformats.org/presentationml/2006/main">
  <p:tag name="KSO_WM_DIAGRAM_VIRTUALLY_FRAME" val="{&quot;height&quot;:122.4,&quot;left&quot;:183.6,&quot;top&quot;:64.8,&quot;width&quot;:518.4}"/>
</p:tagLst>
</file>

<file path=ppt/tags/tag50.xml><?xml version="1.0" encoding="utf-8"?>
<p:tagLst xmlns:p="http://schemas.openxmlformats.org/presentationml/2006/main">
  <p:tag name="KSO_WM_DIAGRAM_VIRTUALLY_FRAME" val="{&quot;height&quot;:122.4,&quot;left&quot;:183.6,&quot;top&quot;:64.8,&quot;width&quot;:518.4}"/>
</p:tagLst>
</file>

<file path=ppt/tags/tag51.xml><?xml version="1.0" encoding="utf-8"?>
<p:tagLst xmlns:p="http://schemas.openxmlformats.org/presentationml/2006/main">
  <p:tag name="KSO_WM_DIAGRAM_VIRTUALLY_FRAME" val="{&quot;height&quot;:122.4,&quot;left&quot;:183.6,&quot;top&quot;:64.8,&quot;width&quot;:518.4}"/>
</p:tagLst>
</file>

<file path=ppt/tags/tag52.xml><?xml version="1.0" encoding="utf-8"?>
<p:tagLst xmlns:p="http://schemas.openxmlformats.org/presentationml/2006/main">
  <p:tag name="TABLE_ENDDRAG_ORIGIN_RECT" val="329*156"/>
  <p:tag name="TABLE_ENDDRAG_RECT" val="24*225*329*156"/>
</p:tagLst>
</file>

<file path=ppt/tags/tag53.xml><?xml version="1.0" encoding="utf-8"?>
<p:tagLst xmlns:p="http://schemas.openxmlformats.org/presentationml/2006/main">
  <p:tag name="KSO_WM_DIAGRAM_VIRTUALLY_FRAME" val="{&quot;height&quot;:190.09,&quot;left&quot;:25.2,&quot;top&quot;:63.35,&quot;width&quot;:679.7}"/>
</p:tagLst>
</file>

<file path=ppt/tags/tag54.xml><?xml version="1.0" encoding="utf-8"?>
<p:tagLst xmlns:p="http://schemas.openxmlformats.org/presentationml/2006/main">
  <p:tag name="KSO_WM_DIAGRAM_VIRTUALLY_FRAME" val="{&quot;height&quot;:190.09,&quot;left&quot;:25.2,&quot;top&quot;:63.35,&quot;width&quot;:679.7}"/>
</p:tagLst>
</file>

<file path=ppt/tags/tag55.xml><?xml version="1.0" encoding="utf-8"?>
<p:tagLst xmlns:p="http://schemas.openxmlformats.org/presentationml/2006/main">
  <p:tag name="KSO_WM_DIAGRAM_VIRTUALLY_FRAME" val="{&quot;height&quot;:190.09,&quot;left&quot;:25.2,&quot;top&quot;:63.35,&quot;width&quot;:679.7}"/>
</p:tagLst>
</file>

<file path=ppt/tags/tag56.xml><?xml version="1.0" encoding="utf-8"?>
<p:tagLst xmlns:p="http://schemas.openxmlformats.org/presentationml/2006/main">
  <p:tag name="KSO_WM_DIAGRAM_VIRTUALLY_FRAME" val="{&quot;height&quot;:190.09,&quot;left&quot;:25.2,&quot;top&quot;:63.35,&quot;width&quot;:679.7}"/>
</p:tagLst>
</file>

<file path=ppt/tags/tag57.xml><?xml version="1.0" encoding="utf-8"?>
<p:tagLst xmlns:p="http://schemas.openxmlformats.org/presentationml/2006/main">
  <p:tag name="KSO_WM_DIAGRAM_VIRTUALLY_FRAME" val="{&quot;height&quot;:190.09,&quot;left&quot;:25.2,&quot;top&quot;:63.35,&quot;width&quot;:679.7}"/>
</p:tagLst>
</file>

<file path=ppt/tags/tag58.xml><?xml version="1.0" encoding="utf-8"?>
<p:tagLst xmlns:p="http://schemas.openxmlformats.org/presentationml/2006/main">
  <p:tag name="KSO_WM_DIAGRAM_VIRTUALLY_FRAME" val="{&quot;height&quot;:190.09,&quot;left&quot;:25.2,&quot;top&quot;:63.35,&quot;width&quot;:679.7}"/>
</p:tagLst>
</file>

<file path=ppt/tags/tag59.xml><?xml version="1.0" encoding="utf-8"?>
<p:tagLst xmlns:p="http://schemas.openxmlformats.org/presentationml/2006/main">
  <p:tag name="KSO_WM_DIAGRAM_VIRTUALLY_FRAME" val="{&quot;height&quot;:190.09,&quot;left&quot;:25.2,&quot;top&quot;:63.35,&quot;width&quot;:679.7}"/>
</p:tagLst>
</file>

<file path=ppt/tags/tag60.xml><?xml version="1.0" encoding="utf-8"?>
<p:tagLst xmlns:p="http://schemas.openxmlformats.org/presentationml/2006/main">
  <p:tag name="KSO_WM_DIAGRAM_VIRTUALLY_FRAME" val="{&quot;height&quot;:190.09,&quot;left&quot;:25.2,&quot;top&quot;:63.35,&quot;width&quot;:679.7}"/>
</p:tagLst>
</file>

<file path=ppt/tags/tag61.xml><?xml version="1.0" encoding="utf-8"?>
<p:tagLst xmlns:p="http://schemas.openxmlformats.org/presentationml/2006/main">
  <p:tag name="KSO_WM_DIAGRAM_VIRTUALLY_FRAME" val="{&quot;height&quot;:190.09,&quot;left&quot;:25.2,&quot;top&quot;:63.35,&quot;width&quot;:679.7}"/>
</p:tagLst>
</file>

<file path=ppt/tags/tag62.xml><?xml version="1.0" encoding="utf-8"?>
<p:tagLst xmlns:p="http://schemas.openxmlformats.org/presentationml/2006/main">
  <p:tag name="KSO_WM_DIAGRAM_VIRTUALLY_FRAME" val="{&quot;height&quot;:190.09,&quot;left&quot;:25.2,&quot;top&quot;:63.35,&quot;width&quot;:679.7}"/>
</p:tagLst>
</file>

<file path=ppt/tags/tag63.xml><?xml version="1.0" encoding="utf-8"?>
<p:tagLst xmlns:p="http://schemas.openxmlformats.org/presentationml/2006/main">
  <p:tag name="KSO_WM_DIAGRAM_VIRTUALLY_FRAME" val="{&quot;height&quot;:190.09,&quot;left&quot;:25.2,&quot;top&quot;:63.35,&quot;width&quot;:679.7}"/>
</p:tagLst>
</file>

<file path=ppt/tags/tag64.xml><?xml version="1.0" encoding="utf-8"?>
<p:tagLst xmlns:p="http://schemas.openxmlformats.org/presentationml/2006/main">
  <p:tag name="KSO_WM_DIAGRAM_VIRTUALLY_FRAME" val="{&quot;height&quot;:190.09,&quot;left&quot;:25.2,&quot;top&quot;:63.35,&quot;width&quot;:679.7}"/>
</p:tagLst>
</file>

<file path=ppt/tags/tag65.xml><?xml version="1.0" encoding="utf-8"?>
<p:tagLst xmlns:p="http://schemas.openxmlformats.org/presentationml/2006/main">
  <p:tag name="KSO_WM_DIAGRAM_VIRTUALLY_FRAME" val="{&quot;height&quot;:190.09,&quot;left&quot;:25.2,&quot;top&quot;:63.35,&quot;width&quot;:679.7}"/>
</p:tagLst>
</file>

<file path=ppt/tags/tag66.xml><?xml version="1.0" encoding="utf-8"?>
<p:tagLst xmlns:p="http://schemas.openxmlformats.org/presentationml/2006/main">
  <p:tag name="KSO_WM_DIAGRAM_VIRTUALLY_FRAME" val="{&quot;height&quot;:190.09,&quot;left&quot;:25.2,&quot;top&quot;:63.35,&quot;width&quot;:679.7}"/>
</p:tagLst>
</file>

<file path=ppt/tags/tag67.xml><?xml version="1.0" encoding="utf-8"?>
<p:tagLst xmlns:p="http://schemas.openxmlformats.org/presentationml/2006/main">
  <p:tag name="KSO_WM_DIAGRAM_VIRTUALLY_FRAME" val="{&quot;height&quot;:190.09,&quot;left&quot;:25.2,&quot;top&quot;:63.35,&quot;width&quot;:679.7}"/>
</p:tagLst>
</file>

<file path=ppt/tags/tag68.xml><?xml version="1.0" encoding="utf-8"?>
<p:tagLst xmlns:p="http://schemas.openxmlformats.org/presentationml/2006/main">
  <p:tag name="KSO_WM_DIAGRAM_VIRTUALLY_FRAME" val="{&quot;height&quot;:190.09,&quot;left&quot;:25.2,&quot;top&quot;:63.35,&quot;width&quot;:679.7}"/>
</p:tagLst>
</file>

<file path=ppt/tags/tag69.xml><?xml version="1.0" encoding="utf-8"?>
<p:tagLst xmlns:p="http://schemas.openxmlformats.org/presentationml/2006/main">
  <p:tag name="KSO_WM_DIAGRAM_VIRTUALLY_FRAME" val="{&quot;height&quot;:190.09,&quot;left&quot;:25.2,&quot;top&quot;:63.35,&quot;width&quot;:679.7}"/>
</p:tagLst>
</file>

<file path=ppt/tags/tag70.xml><?xml version="1.0" encoding="utf-8"?>
<p:tagLst xmlns:p="http://schemas.openxmlformats.org/presentationml/2006/main">
  <p:tag name="KSO_WM_DIAGRAM_VIRTUALLY_FRAME" val="{&quot;height&quot;:190.09,&quot;left&quot;:25.2,&quot;top&quot;:63.35,&quot;width&quot;:679.7}"/>
</p:tagLst>
</file>

<file path=ppt/tags/tag71.xml><?xml version="1.0" encoding="utf-8"?>
<p:tagLst xmlns:p="http://schemas.openxmlformats.org/presentationml/2006/main">
  <p:tag name="KSO_WM_DIAGRAM_VIRTUALLY_FRAME" val="{&quot;height&quot;:190.09,&quot;left&quot;:25.2,&quot;top&quot;:63.35,&quot;width&quot;:679.7}"/>
</p:tagLst>
</file>

<file path=ppt/tags/tag72.xml><?xml version="1.0" encoding="utf-8"?>
<p:tagLst xmlns:p="http://schemas.openxmlformats.org/presentationml/2006/main">
  <p:tag name="KSO_WM_DIAGRAM_VIRTUALLY_FRAME" val="{&quot;height&quot;:190.09,&quot;left&quot;:25.2,&quot;top&quot;:63.35,&quot;width&quot;:679.7}"/>
</p:tagLst>
</file>

<file path=ppt/tags/tag73.xml><?xml version="1.0" encoding="utf-8"?>
<p:tagLst xmlns:p="http://schemas.openxmlformats.org/presentationml/2006/main">
  <p:tag name="KSO_WM_DIAGRAM_VIRTUALLY_FRAME" val="{&quot;height&quot;:190.09,&quot;left&quot;:25.2,&quot;top&quot;:63.35,&quot;width&quot;:679.7}"/>
</p:tagLst>
</file>

<file path=ppt/tags/tag74.xml><?xml version="1.0" encoding="utf-8"?>
<p:tagLst xmlns:p="http://schemas.openxmlformats.org/presentationml/2006/main">
  <p:tag name="KSO_WM_DIAGRAM_VIRTUALLY_FRAME" val="{&quot;height&quot;:252.01000000000005,&quot;left&quot;:385.2,&quot;top&quot;:84.95,&quot;width&quot;:309.6}"/>
</p:tagLst>
</file>

<file path=ppt/tags/tag75.xml><?xml version="1.0" encoding="utf-8"?>
<p:tagLst xmlns:p="http://schemas.openxmlformats.org/presentationml/2006/main">
  <p:tag name="KSO_WM_DIAGRAM_VIRTUALLY_FRAME" val="{&quot;height&quot;:252.01000000000005,&quot;left&quot;:385.2,&quot;top&quot;:84.95,&quot;width&quot;:309.6}"/>
</p:tagLst>
</file>

<file path=ppt/tags/tag76.xml><?xml version="1.0" encoding="utf-8"?>
<p:tagLst xmlns:p="http://schemas.openxmlformats.org/presentationml/2006/main">
  <p:tag name="KSO_WM_DIAGRAM_VIRTUALLY_FRAME" val="{&quot;height&quot;:252.01000000000005,&quot;left&quot;:385.2,&quot;top&quot;:84.95,&quot;width&quot;:309.6}"/>
</p:tagLst>
</file>

<file path=ppt/tags/tag77.xml><?xml version="1.0" encoding="utf-8"?>
<p:tagLst xmlns:p="http://schemas.openxmlformats.org/presentationml/2006/main">
  <p:tag name="KSO_WM_DIAGRAM_VIRTUALLY_FRAME" val="{&quot;height&quot;:252.01000000000005,&quot;left&quot;:385.2,&quot;top&quot;:84.95,&quot;width&quot;:309.6}"/>
</p:tagLst>
</file>

<file path=ppt/tags/tag78.xml><?xml version="1.0" encoding="utf-8"?>
<p:tagLst xmlns:p="http://schemas.openxmlformats.org/presentationml/2006/main">
  <p:tag name="KSO_WM_DIAGRAM_VIRTUALLY_FRAME" val="{&quot;height&quot;:252.01000000000005,&quot;left&quot;:385.2,&quot;top&quot;:84.95,&quot;width&quot;:309.6}"/>
</p:tagLst>
</file>

<file path=ppt/tags/tag79.xml><?xml version="1.0" encoding="utf-8"?>
<p:tagLst xmlns:p="http://schemas.openxmlformats.org/presentationml/2006/main">
  <p:tag name="KSO_WM_DIAGRAM_VIRTUALLY_FRAME" val="{&quot;height&quot;:252.01000000000005,&quot;left&quot;:385.2,&quot;top&quot;:84.95,&quot;width&quot;:309.6}"/>
</p:tagLst>
</file>

<file path=ppt/tags/tag80.xml><?xml version="1.0" encoding="utf-8"?>
<p:tagLst xmlns:p="http://schemas.openxmlformats.org/presentationml/2006/main">
  <p:tag name="KSO_WM_DIAGRAM_VIRTUALLY_FRAME" val="{&quot;height&quot;:252.01000000000005,&quot;left&quot;:385.2,&quot;top&quot;:84.95,&quot;width&quot;:309.6}"/>
</p:tagLst>
</file>

<file path=ppt/tags/tag81.xml><?xml version="1.0" encoding="utf-8"?>
<p:tagLst xmlns:p="http://schemas.openxmlformats.org/presentationml/2006/main">
  <p:tag name="KSO_WM_DIAGRAM_VIRTUALLY_FRAME" val="{&quot;height&quot;:252.01000000000005,&quot;left&quot;:385.2,&quot;top&quot;:84.95,&quot;width&quot;:309.6}"/>
</p:tagLst>
</file>

<file path=ppt/tags/tag82.xml><?xml version="1.0" encoding="utf-8"?>
<p:tagLst xmlns:p="http://schemas.openxmlformats.org/presentationml/2006/main">
  <p:tag name="KSO_WM_DIAGRAM_VIRTUALLY_FRAME" val="{&quot;height&quot;:252.01000000000005,&quot;left&quot;:385.2,&quot;top&quot;:84.95,&quot;width&quot;:309.6}"/>
</p:tagLst>
</file>

<file path=ppt/tags/tag83.xml><?xml version="1.0" encoding="utf-8"?>
<p:tagLst xmlns:p="http://schemas.openxmlformats.org/presentationml/2006/main">
  <p:tag name="KSO_WM_DIAGRAM_VIRTUALLY_FRAME" val="{&quot;height&quot;:252.01000000000005,&quot;left&quot;:385.2,&quot;top&quot;:84.95,&quot;width&quot;:309.6}"/>
</p:tagLst>
</file>

<file path=ppt/tags/tag84.xml><?xml version="1.0" encoding="utf-8"?>
<p:tagLst xmlns:p="http://schemas.openxmlformats.org/presentationml/2006/main">
  <p:tag name="KSO_WM_DIAGRAM_VIRTUALLY_FRAME" val="{&quot;height&quot;:252.01000000000005,&quot;left&quot;:385.2,&quot;top&quot;:84.95,&quot;width&quot;:309.6}"/>
</p:tagLst>
</file>

<file path=ppt/tags/tag85.xml><?xml version="1.0" encoding="utf-8"?>
<p:tagLst xmlns:p="http://schemas.openxmlformats.org/presentationml/2006/main">
  <p:tag name="KSO_WM_DIAGRAM_VIRTUALLY_FRAME" val="{&quot;height&quot;:252.01000000000005,&quot;left&quot;:385.2,&quot;top&quot;:84.95,&quot;width&quot;:309.6}"/>
</p:tagLst>
</file>

<file path=ppt/tags/tag86.xml><?xml version="1.0" encoding="utf-8"?>
<p:tagLst xmlns:p="http://schemas.openxmlformats.org/presentationml/2006/main">
  <p:tag name="KSO_WM_DIAGRAM_VIRTUALLY_FRAME" val="{&quot;height&quot;:252.01000000000005,&quot;left&quot;:385.2,&quot;top&quot;:84.95,&quot;width&quot;:309.6}"/>
</p:tagLst>
</file>

<file path=ppt/tags/tag87.xml><?xml version="1.0" encoding="utf-8"?>
<p:tagLst xmlns:p="http://schemas.openxmlformats.org/presentationml/2006/main">
  <p:tag name="KSO_WM_DIAGRAM_VIRTUALLY_FRAME" val="{&quot;height&quot;:239.05,&quot;left&quot;:457.2,&quot;top&quot;:92.15,&quot;width&quot;:238.32}"/>
</p:tagLst>
</file>

<file path=ppt/tags/tag88.xml><?xml version="1.0" encoding="utf-8"?>
<p:tagLst xmlns:p="http://schemas.openxmlformats.org/presentationml/2006/main">
  <p:tag name="KSO_WM_DIAGRAM_VIRTUALLY_FRAME" val="{&quot;height&quot;:239.05,&quot;left&quot;:457.2,&quot;top&quot;:92.15,&quot;width&quot;:238.32}"/>
</p:tagLst>
</file>

<file path=ppt/tags/tag89.xml><?xml version="1.0" encoding="utf-8"?>
<p:tagLst xmlns:p="http://schemas.openxmlformats.org/presentationml/2006/main">
  <p:tag name="KSO_WM_DIAGRAM_VIRTUALLY_FRAME" val="{&quot;height&quot;:239.05,&quot;left&quot;:457.2,&quot;top&quot;:92.15,&quot;width&quot;:238.32}"/>
</p:tagLst>
</file>

<file path=ppt/tags/tag90.xml><?xml version="1.0" encoding="utf-8"?>
<p:tagLst xmlns:p="http://schemas.openxmlformats.org/presentationml/2006/main">
  <p:tag name="KSO_WM_DIAGRAM_VIRTUALLY_FRAME" val="{&quot;height&quot;:239.05,&quot;left&quot;:457.2,&quot;top&quot;:92.15,&quot;width&quot;:238.32}"/>
</p:tagLst>
</file>

<file path=ppt/tags/tag91.xml><?xml version="1.0" encoding="utf-8"?>
<p:tagLst xmlns:p="http://schemas.openxmlformats.org/presentationml/2006/main">
  <p:tag name="KSO_WM_DIAGRAM_VIRTUALLY_FRAME" val="{&quot;height&quot;:239.05,&quot;left&quot;:457.2,&quot;top&quot;:92.15,&quot;width&quot;:238.32}"/>
</p:tagLst>
</file>

<file path=ppt/tags/tag92.xml><?xml version="1.0" encoding="utf-8"?>
<p:tagLst xmlns:p="http://schemas.openxmlformats.org/presentationml/2006/main">
  <p:tag name="KSO_WM_DIAGRAM_VIRTUALLY_FRAME" val="{&quot;height&quot;:239.05,&quot;left&quot;:457.2,&quot;top&quot;:92.15,&quot;width&quot;:238.32}"/>
</p:tagLst>
</file>

<file path=ppt/tags/tag93.xml><?xml version="1.0" encoding="utf-8"?>
<p:tagLst xmlns:p="http://schemas.openxmlformats.org/presentationml/2006/main">
  <p:tag name="KSO_WM_DIAGRAM_VIRTUALLY_FRAME" val="{&quot;height&quot;:239.05,&quot;left&quot;:457.2,&quot;top&quot;:92.15,&quot;width&quot;:238.32}"/>
</p:tagLst>
</file>

<file path=ppt/tags/tag94.xml><?xml version="1.0" encoding="utf-8"?>
<p:tagLst xmlns:p="http://schemas.openxmlformats.org/presentationml/2006/main">
  <p:tag name="KSO_WM_DIAGRAM_VIRTUALLY_FRAME" val="{&quot;height&quot;:239.05,&quot;left&quot;:457.2,&quot;top&quot;:92.15,&quot;width&quot;:238.32}"/>
</p:tagLst>
</file>

<file path=ppt/tags/tag95.xml><?xml version="1.0" encoding="utf-8"?>
<p:tagLst xmlns:p="http://schemas.openxmlformats.org/presentationml/2006/main">
  <p:tag name="KSO_WM_DIAGRAM_VIRTUALLY_FRAME" val="{&quot;height&quot;:239.05,&quot;left&quot;:457.2,&quot;top&quot;:92.15,&quot;width&quot;:238.32}"/>
</p:tagLst>
</file>

<file path=ppt/tags/tag96.xml><?xml version="1.0" encoding="utf-8"?>
<p:tagLst xmlns:p="http://schemas.openxmlformats.org/presentationml/2006/main">
  <p:tag name="KSO_WM_DIAGRAM_VIRTUALLY_FRAME" val="{&quot;height&quot;:239.05,&quot;left&quot;:457.2,&quot;top&quot;:92.15,&quot;width&quot;:238.32}"/>
</p:tagLst>
</file>

<file path=ppt/tags/tag97.xml><?xml version="1.0" encoding="utf-8"?>
<p:tagLst xmlns:p="http://schemas.openxmlformats.org/presentationml/2006/main">
  <p:tag name="KSO_WM_DIAGRAM_VIRTUALLY_FRAME" val="{&quot;height&quot;:239.05,&quot;left&quot;:457.2,&quot;top&quot;:92.15,&quot;width&quot;:238.32}"/>
</p:tagLst>
</file>

<file path=ppt/tags/tag98.xml><?xml version="1.0" encoding="utf-8"?>
<p:tagLst xmlns:p="http://schemas.openxmlformats.org/presentationml/2006/main">
  <p:tag name="KSO_WM_DIAGRAM_VIRTUALLY_FRAME" val="{&quot;height&quot;:239.05,&quot;left&quot;:457.2,&quot;top&quot;:92.15,&quot;width&quot;:238.32}"/>
</p:tagLst>
</file>

<file path=ppt/tags/tag99.xml><?xml version="1.0" encoding="utf-8"?>
<p:tagLst xmlns:p="http://schemas.openxmlformats.org/presentationml/2006/main">
  <p:tag name="KSO_WM_DIAGRAM_VIRTUALLY_FRAME" val="{&quot;height&quot;:239.05,&quot;left&quot;:457.2,&quot;top&quot;:92.15,&quot;width&quot;:238.32}"/>
</p:tagLst>
</file>

<file path=ppt/tags/tag100.xml><?xml version="1.0" encoding="utf-8"?>
<p:tagLst xmlns:p="http://schemas.openxmlformats.org/presentationml/2006/main">
  <p:tag name="KSO_WM_DIAGRAM_VIRTUALLY_FRAME" val="{&quot;height&quot;:239.05,&quot;left&quot;:457.2,&quot;top&quot;:92.15,&quot;width&quot;:238.32}"/>
</p:tagLst>
</file>

<file path=ppt/tags/tag101.xml><?xml version="1.0" encoding="utf-8"?>
<p:tagLst xmlns:p="http://schemas.openxmlformats.org/presentationml/2006/main">
  <p:tag name="KSO_WM_DIAGRAM_VIRTUALLY_FRAME" val="{&quot;height&quot;:239.05,&quot;left&quot;:457.2,&quot;top&quot;:92.15,&quot;width&quot;:238.32}"/>
</p:tagLst>
</file>

<file path=ppt/tags/tag102.xml><?xml version="1.0" encoding="utf-8"?>
<p:tagLst xmlns:p="http://schemas.openxmlformats.org/presentationml/2006/main">
  <p:tag name="KSO_WM_DIAGRAM_VIRTUALLY_FRAME" val="{&quot;height&quot;:239.05,&quot;left&quot;:457.2,&quot;top&quot;:92.15,&quot;width&quot;:238.32}"/>
</p:tagLst>
</file>

<file path=ppt/tags/tag103.xml><?xml version="1.0" encoding="utf-8"?>
<p:tagLst xmlns:p="http://schemas.openxmlformats.org/presentationml/2006/main">
  <p:tag name="KSO_WM_DIAGRAM_VIRTUALLY_FRAME" val="{&quot;height&quot;:111.6,&quot;left&quot;:25.2,&quot;top&quot;:266.05,&quot;width&quot;:644.25}"/>
</p:tagLst>
</file>

<file path=ppt/tags/tag104.xml><?xml version="1.0" encoding="utf-8"?>
<p:tagLst xmlns:p="http://schemas.openxmlformats.org/presentationml/2006/main">
  <p:tag name="KSO_WM_DIAGRAM_VIRTUALLY_FRAME" val="{&quot;height&quot;:111.6,&quot;left&quot;:25.2,&quot;top&quot;:266.05,&quot;width&quot;:644.25}"/>
</p:tagLst>
</file>

<file path=ppt/tags/tag105.xml><?xml version="1.0" encoding="utf-8"?>
<p:tagLst xmlns:p="http://schemas.openxmlformats.org/presentationml/2006/main">
  <p:tag name="KSO_WM_DIAGRAM_VIRTUALLY_FRAME" val="{&quot;height&quot;:111.6,&quot;left&quot;:25.2,&quot;top&quot;:266.05,&quot;width&quot;:644.25}"/>
</p:tagLst>
</file>

<file path=ppt/tags/tag106.xml><?xml version="1.0" encoding="utf-8"?>
<p:tagLst xmlns:p="http://schemas.openxmlformats.org/presentationml/2006/main">
  <p:tag name="KSO_WM_DIAGRAM_VIRTUALLY_FRAME" val="{&quot;height&quot;:111.6,&quot;left&quot;:25.2,&quot;top&quot;:266.05,&quot;width&quot;:644.25}"/>
</p:tagLst>
</file>

<file path=ppt/tags/tag107.xml><?xml version="1.0" encoding="utf-8"?>
<p:tagLst xmlns:p="http://schemas.openxmlformats.org/presentationml/2006/main">
  <p:tag name="KSO_WM_DIAGRAM_VIRTUALLY_FRAME" val="{&quot;height&quot;:111.6,&quot;left&quot;:25.2,&quot;top&quot;:266.05,&quot;width&quot;:644.25}"/>
</p:tagLst>
</file>

<file path=ppt/tags/tag108.xml><?xml version="1.0" encoding="utf-8"?>
<p:tagLst xmlns:p="http://schemas.openxmlformats.org/presentationml/2006/main">
  <p:tag name="KSO_WM_DIAGRAM_VIRTUALLY_FRAME" val="{&quot;height&quot;:111.6,&quot;left&quot;:25.2,&quot;top&quot;:266.05,&quot;width&quot;:644.25}"/>
</p:tagLst>
</file>

<file path=ppt/tags/tag109.xml><?xml version="1.0" encoding="utf-8"?>
<p:tagLst xmlns:p="http://schemas.openxmlformats.org/presentationml/2006/main">
  <p:tag name="KSO_WM_DIAGRAM_VIRTUALLY_FRAME" val="{&quot;height&quot;:111.6,&quot;left&quot;:25.2,&quot;top&quot;:266.05,&quot;width&quot;:644.25}"/>
</p:tagLst>
</file>

<file path=ppt/tags/tag110.xml><?xml version="1.0" encoding="utf-8"?>
<p:tagLst xmlns:p="http://schemas.openxmlformats.org/presentationml/2006/main">
  <p:tag name="KSO_WM_DIAGRAM_VIRTUALLY_FRAME" val="{&quot;height&quot;:111.6,&quot;left&quot;:25.2,&quot;top&quot;:266.05,&quot;width&quot;:644.25}"/>
</p:tagLst>
</file>

<file path=ppt/tags/tag111.xml><?xml version="1.0" encoding="utf-8"?>
<p:tagLst xmlns:p="http://schemas.openxmlformats.org/presentationml/2006/main">
  <p:tag name="KSO_WM_DIAGRAM_VIRTUALLY_FRAME" val="{&quot;height&quot;:111.6,&quot;left&quot;:25.2,&quot;top&quot;:266.05,&quot;width&quot;:644.25}"/>
</p:tagLst>
</file>

<file path=ppt/tags/tag112.xml><?xml version="1.0" encoding="utf-8"?>
<p:tagLst xmlns:p="http://schemas.openxmlformats.org/presentationml/2006/main">
  <p:tag name="KSO_WM_DIAGRAM_VIRTUALLY_FRAME" val="{&quot;height&quot;:111.6,&quot;left&quot;:25.2,&quot;top&quot;:266.05,&quot;width&quot;:644.25}"/>
</p:tagLst>
</file>

<file path=ppt/tags/tag113.xml><?xml version="1.0" encoding="utf-8"?>
<p:tagLst xmlns:p="http://schemas.openxmlformats.org/presentationml/2006/main">
  <p:tag name="KSO_WM_DIAGRAM_VIRTUALLY_FRAME" val="{&quot;height&quot;:48.959999999999994,&quot;left&quot;:25.2,&quot;top&quot;:327.6,&quot;width&quot;:673.92}"/>
</p:tagLst>
</file>

<file path=ppt/tags/tag114.xml><?xml version="1.0" encoding="utf-8"?>
<p:tagLst xmlns:p="http://schemas.openxmlformats.org/presentationml/2006/main">
  <p:tag name="KSO_WM_DIAGRAM_VIRTUALLY_FRAME" val="{&quot;height&quot;:48.959999999999994,&quot;left&quot;:25.2,&quot;top&quot;:327.6,&quot;width&quot;:673.92}"/>
</p:tagLst>
</file>

<file path=ppt/tags/tag115.xml><?xml version="1.0" encoding="utf-8"?>
<p:tagLst xmlns:p="http://schemas.openxmlformats.org/presentationml/2006/main">
  <p:tag name="KSO_WM_DIAGRAM_VIRTUALLY_FRAME" val="{&quot;height&quot;:48.959999999999994,&quot;left&quot;:25.2,&quot;top&quot;:327.6,&quot;width&quot;:673.92}"/>
</p:tagLst>
</file>

<file path=ppt/tags/tag116.xml><?xml version="1.0" encoding="utf-8"?>
<p:tagLst xmlns:p="http://schemas.openxmlformats.org/presentationml/2006/main">
  <p:tag name="KSO_WM_DIAGRAM_VIRTUALLY_FRAME" val="{&quot;height&quot;:48.959999999999994,&quot;left&quot;:25.2,&quot;top&quot;:327.6,&quot;width&quot;:673.92}"/>
</p:tagLst>
</file>

<file path=ppt/tags/tag117.xml><?xml version="1.0" encoding="utf-8"?>
<p:tagLst xmlns:p="http://schemas.openxmlformats.org/presentationml/2006/main">
  <p:tag name="KSO_WM_DIAGRAM_VIRTUALLY_FRAME" val="{&quot;height&quot;:48.959999999999994,&quot;left&quot;:25.2,&quot;top&quot;:327.6,&quot;width&quot;:673.92}"/>
</p:tagLst>
</file>

<file path=ppt/tags/tag118.xml><?xml version="1.0" encoding="utf-8"?>
<p:tagLst xmlns:p="http://schemas.openxmlformats.org/presentationml/2006/main">
  <p:tag name="KSO_WM_DIAGRAM_VIRTUALLY_FRAME" val="{&quot;height&quot;:48.959999999999994,&quot;left&quot;:25.2,&quot;top&quot;:327.6,&quot;width&quot;:673.92}"/>
</p:tagLst>
</file>

<file path=ppt/tags/tag119.xml><?xml version="1.0" encoding="utf-8"?>
<p:tagLst xmlns:p="http://schemas.openxmlformats.org/presentationml/2006/main">
  <p:tag name="KSO_WM_DIAGRAM_VIRTUALLY_FRAME" val="{&quot;height&quot;:48.959999999999994,&quot;left&quot;:25.2,&quot;top&quot;:327.6,&quot;width&quot;:673.92}"/>
</p:tagLst>
</file>

<file path=ppt/tags/tag120.xml><?xml version="1.0" encoding="utf-8"?>
<p:tagLst xmlns:p="http://schemas.openxmlformats.org/presentationml/2006/main">
  <p:tag name="KSO_WM_DIAGRAM_VIRTUALLY_FRAME" val="{&quot;height&quot;:48.959999999999994,&quot;left&quot;:25.2,&quot;top&quot;:327.6,&quot;width&quot;:673.92}"/>
</p:tagLst>
</file>

<file path=ppt/tags/tag121.xml><?xml version="1.0" encoding="utf-8"?>
<p:tagLst xmlns:p="http://schemas.openxmlformats.org/presentationml/2006/main">
  <p:tag name="KSO_WM_DIAGRAM_VIRTUALLY_FRAME" val="{&quot;height&quot;:48.959999999999994,&quot;left&quot;:25.2,&quot;top&quot;:327.6,&quot;width&quot;:673.92}"/>
</p:tagLst>
</file>

<file path=ppt/tags/tag122.xml><?xml version="1.0" encoding="utf-8"?>
<p:tagLst xmlns:p="http://schemas.openxmlformats.org/presentationml/2006/main">
  <p:tag name="KSO_WM_DIAGRAM_VIRTUALLY_FRAME" val="{&quot;height&quot;:241.92,&quot;left&quot;:460.8,&quot;top&quot;:93.6,&quot;width&quot;:234}"/>
</p:tagLst>
</file>

<file path=ppt/tags/tag123.xml><?xml version="1.0" encoding="utf-8"?>
<p:tagLst xmlns:p="http://schemas.openxmlformats.org/presentationml/2006/main">
  <p:tag name="KSO_WM_DIAGRAM_VIRTUALLY_FRAME" val="{&quot;height&quot;:241.92,&quot;left&quot;:460.8,&quot;top&quot;:93.6,&quot;width&quot;:234}"/>
</p:tagLst>
</file>

<file path=ppt/tags/tag124.xml><?xml version="1.0" encoding="utf-8"?>
<p:tagLst xmlns:p="http://schemas.openxmlformats.org/presentationml/2006/main">
  <p:tag name="KSO_WM_DIAGRAM_VIRTUALLY_FRAME" val="{&quot;height&quot;:241.92,&quot;left&quot;:460.8,&quot;top&quot;:93.6,&quot;width&quot;:234}"/>
</p:tagLst>
</file>

<file path=ppt/tags/tag125.xml><?xml version="1.0" encoding="utf-8"?>
<p:tagLst xmlns:p="http://schemas.openxmlformats.org/presentationml/2006/main">
  <p:tag name="KSO_WM_DIAGRAM_VIRTUALLY_FRAME" val="{&quot;height&quot;:241.92,&quot;left&quot;:460.8,&quot;top&quot;:93.6,&quot;width&quot;:234}"/>
</p:tagLst>
</file>

<file path=ppt/tags/tag126.xml><?xml version="1.0" encoding="utf-8"?>
<p:tagLst xmlns:p="http://schemas.openxmlformats.org/presentationml/2006/main">
  <p:tag name="KSO_WM_DIAGRAM_VIRTUALLY_FRAME" val="{&quot;height&quot;:241.92,&quot;left&quot;:460.8,&quot;top&quot;:93.6,&quot;width&quot;:234}"/>
</p:tagLst>
</file>

<file path=ppt/tags/tag127.xml><?xml version="1.0" encoding="utf-8"?>
<p:tagLst xmlns:p="http://schemas.openxmlformats.org/presentationml/2006/main">
  <p:tag name="KSO_WM_DIAGRAM_VIRTUALLY_FRAME" val="{&quot;height&quot;:241.92,&quot;left&quot;:460.8,&quot;top&quot;:93.6,&quot;width&quot;:234}"/>
</p:tagLst>
</file>

<file path=ppt/tags/tag128.xml><?xml version="1.0" encoding="utf-8"?>
<p:tagLst xmlns:p="http://schemas.openxmlformats.org/presentationml/2006/main">
  <p:tag name="KSO_WM_DIAGRAM_VIRTUALLY_FRAME" val="{&quot;height&quot;:241.92,&quot;left&quot;:460.8,&quot;top&quot;:93.6,&quot;width&quot;:234}"/>
</p:tagLst>
</file>

<file path=ppt/tags/tag129.xml><?xml version="1.0" encoding="utf-8"?>
<p:tagLst xmlns:p="http://schemas.openxmlformats.org/presentationml/2006/main">
  <p:tag name="KSO_WM_DIAGRAM_VIRTUALLY_FRAME" val="{&quot;height&quot;:241.92,&quot;left&quot;:460.8,&quot;top&quot;:93.6,&quot;width&quot;:234}"/>
</p:tagLst>
</file>

<file path=ppt/tags/tag130.xml><?xml version="1.0" encoding="utf-8"?>
<p:tagLst xmlns:p="http://schemas.openxmlformats.org/presentationml/2006/main">
  <p:tag name="KSO_WM_DIAGRAM_VIRTUALLY_FRAME" val="{&quot;height&quot;:241.92,&quot;left&quot;:460.8,&quot;top&quot;:93.6,&quot;width&quot;:234}"/>
</p:tagLst>
</file>

<file path=ppt/tags/tag131.xml><?xml version="1.0" encoding="utf-8"?>
<p:tagLst xmlns:p="http://schemas.openxmlformats.org/presentationml/2006/main">
  <p:tag name="KSO_WM_DIAGRAM_VIRTUALLY_FRAME" val="{&quot;height&quot;:241.92,&quot;left&quot;:460.8,&quot;top&quot;:93.6,&quot;width&quot;:234}"/>
</p:tagLst>
</file>

<file path=ppt/tags/tag132.xml><?xml version="1.0" encoding="utf-8"?>
<p:tagLst xmlns:p="http://schemas.openxmlformats.org/presentationml/2006/main">
  <p:tag name="KSO_WM_DIAGRAM_VIRTUALLY_FRAME" val="{&quot;height&quot;:241.92,&quot;left&quot;:460.8,&quot;top&quot;:93.6,&quot;width&quot;:234}"/>
</p:tagLst>
</file>

<file path=ppt/tags/tag133.xml><?xml version="1.0" encoding="utf-8"?>
<p:tagLst xmlns:p="http://schemas.openxmlformats.org/presentationml/2006/main">
  <p:tag name="KSO_WM_DIAGRAM_VIRTUALLY_FRAME" val="{&quot;height&quot;:241.92,&quot;left&quot;:460.8,&quot;top&quot;:93.6,&quot;width&quot;:234}"/>
</p:tagLst>
</file>

<file path=ppt/tags/tag134.xml><?xml version="1.0" encoding="utf-8"?>
<p:tagLst xmlns:p="http://schemas.openxmlformats.org/presentationml/2006/main">
  <p:tag name="KSO_WM_DIAGRAM_VIRTUALLY_FRAME" val="{&quot;height&quot;:297.36,&quot;left&quot;:507.6,&quot;top&quot;:63.36,&quot;width&quot;:187.2}"/>
</p:tagLst>
</file>

<file path=ppt/tags/tag135.xml><?xml version="1.0" encoding="utf-8"?>
<p:tagLst xmlns:p="http://schemas.openxmlformats.org/presentationml/2006/main">
  <p:tag name="KSO_WM_DIAGRAM_VIRTUALLY_FRAME" val="{&quot;height&quot;:297.36,&quot;left&quot;:507.6,&quot;top&quot;:63.36,&quot;width&quot;:187.2}"/>
</p:tagLst>
</file>

<file path=ppt/tags/tag136.xml><?xml version="1.0" encoding="utf-8"?>
<p:tagLst xmlns:p="http://schemas.openxmlformats.org/presentationml/2006/main">
  <p:tag name="KSO_WM_DIAGRAM_VIRTUALLY_FRAME" val="{&quot;height&quot;:297.36,&quot;left&quot;:507.6,&quot;top&quot;:63.36,&quot;width&quot;:187.2}"/>
</p:tagLst>
</file>

<file path=ppt/tags/tag137.xml><?xml version="1.0" encoding="utf-8"?>
<p:tagLst xmlns:p="http://schemas.openxmlformats.org/presentationml/2006/main">
  <p:tag name="KSO_WM_DIAGRAM_VIRTUALLY_FRAME" val="{&quot;height&quot;:297.36,&quot;left&quot;:507.6,&quot;top&quot;:63.36,&quot;width&quot;:187.2}"/>
</p:tagLst>
</file>

<file path=ppt/tags/tag138.xml><?xml version="1.0" encoding="utf-8"?>
<p:tagLst xmlns:p="http://schemas.openxmlformats.org/presentationml/2006/main">
  <p:tag name="KSO_WM_DIAGRAM_VIRTUALLY_FRAME" val="{&quot;height&quot;:297.36,&quot;left&quot;:507.6,&quot;top&quot;:63.36,&quot;width&quot;:187.2}"/>
</p:tagLst>
</file>

<file path=ppt/tags/tag139.xml><?xml version="1.0" encoding="utf-8"?>
<p:tagLst xmlns:p="http://schemas.openxmlformats.org/presentationml/2006/main">
  <p:tag name="KSO_WM_DIAGRAM_VIRTUALLY_FRAME" val="{&quot;height&quot;:268.56000000000006,&quot;left&quot;:507.6,&quot;top&quot;:92.16,&quot;width&quot;:187.2}"/>
</p:tagLst>
</file>

<file path=ppt/tags/tag140.xml><?xml version="1.0" encoding="utf-8"?>
<p:tagLst xmlns:p="http://schemas.openxmlformats.org/presentationml/2006/main">
  <p:tag name="KSO_WM_DIAGRAM_VIRTUALLY_FRAME" val="{&quot;height&quot;:297.36,&quot;left&quot;:507.6,&quot;top&quot;:63.36,&quot;width&quot;:187.2}"/>
</p:tagLst>
</file>

<file path=ppt/tags/tag141.xml><?xml version="1.0" encoding="utf-8"?>
<p:tagLst xmlns:p="http://schemas.openxmlformats.org/presentationml/2006/main">
  <p:tag name="KSO_WM_DIAGRAM_VIRTUALLY_FRAME" val="{&quot;height&quot;:268.56000000000006,&quot;left&quot;:507.6,&quot;top&quot;:92.16,&quot;width&quot;:187.2}"/>
</p:tagLst>
</file>

<file path=ppt/tags/tag142.xml><?xml version="1.0" encoding="utf-8"?>
<p:tagLst xmlns:p="http://schemas.openxmlformats.org/presentationml/2006/main">
  <p:tag name="KSO_WM_DIAGRAM_VIRTUALLY_FRAME" val="{&quot;height&quot;:268.56000000000006,&quot;left&quot;:507.6,&quot;top&quot;:92.16,&quot;width&quot;:187.2}"/>
</p:tagLst>
</file>

<file path=ppt/tags/tag143.xml><?xml version="1.0" encoding="utf-8"?>
<p:tagLst xmlns:p="http://schemas.openxmlformats.org/presentationml/2006/main">
  <p:tag name="KSO_WM_DIAGRAM_VIRTUALLY_FRAME" val="{&quot;height&quot;:268.56000000000006,&quot;left&quot;:507.6,&quot;top&quot;:92.16,&quot;width&quot;:187.2}"/>
</p:tagLst>
</file>

<file path=ppt/tags/tag144.xml><?xml version="1.0" encoding="utf-8"?>
<p:tagLst xmlns:p="http://schemas.openxmlformats.org/presentationml/2006/main">
  <p:tag name="KSO_WM_DIAGRAM_VIRTUALLY_FRAME" val="{&quot;height&quot;:268.56000000000006,&quot;left&quot;:507.6,&quot;top&quot;:92.16,&quot;width&quot;:187.2}"/>
</p:tagLst>
</file>

<file path=ppt/tags/tag145.xml><?xml version="1.0" encoding="utf-8"?>
<p:tagLst xmlns:p="http://schemas.openxmlformats.org/presentationml/2006/main">
  <p:tag name="KSO_WM_DIAGRAM_VIRTUALLY_FRAME" val="{&quot;height&quot;:268.56000000000006,&quot;left&quot;:507.6,&quot;top&quot;:92.16,&quot;width&quot;:187.2}"/>
</p:tagLst>
</file>

<file path=ppt/tags/tag146.xml><?xml version="1.0" encoding="utf-8"?>
<p:tagLst xmlns:p="http://schemas.openxmlformats.org/presentationml/2006/main">
  <p:tag name="KSO_WM_DIAGRAM_VIRTUALLY_FRAME" val="{&quot;height&quot;:268.56000000000006,&quot;left&quot;:507.6,&quot;top&quot;:92.16,&quot;width&quot;:187.2}"/>
</p:tagLst>
</file>

<file path=ppt/tags/tag147.xml><?xml version="1.0" encoding="utf-8"?>
<p:tagLst xmlns:p="http://schemas.openxmlformats.org/presentationml/2006/main">
  <p:tag name="KSO_WM_DIAGRAM_VIRTUALLY_FRAME" val="{&quot;height&quot;:297.36,&quot;left&quot;:507.6,&quot;top&quot;:63.36,&quot;width&quot;:187.2}"/>
</p:tagLst>
</file>

<file path=ppt/tags/tag148.xml><?xml version="1.0" encoding="utf-8"?>
<p:tagLst xmlns:p="http://schemas.openxmlformats.org/presentationml/2006/main">
  <p:tag name="KSO_WM_DIAGRAM_VIRTUALLY_FRAME" val="{&quot;height&quot;:297.36,&quot;left&quot;:507.6,&quot;top&quot;:63.36,&quot;width&quot;:187.2}"/>
</p:tagLst>
</file>

<file path=ppt/tags/tag149.xml><?xml version="1.0" encoding="utf-8"?>
<p:tagLst xmlns:p="http://schemas.openxmlformats.org/presentationml/2006/main">
  <p:tag name="KSO_WM_DIAGRAM_VIRTUALLY_FRAME" val="{&quot;height&quot;:268.56000000000006,&quot;left&quot;:507.6,&quot;top&quot;:92.16,&quot;width&quot;:187.2}"/>
</p:tagLst>
</file>

<file path=ppt/tags/tag150.xml><?xml version="1.0" encoding="utf-8"?>
<p:tagLst xmlns:p="http://schemas.openxmlformats.org/presentationml/2006/main">
  <p:tag name="KSO_WM_DIAGRAM_VIRTUALLY_FRAME" val="{&quot;height&quot;:65.1,&quot;left&quot;:51.1,&quot;top&quot;:306.7,&quot;width&quot;:442.1}"/>
</p:tagLst>
</file>

<file path=ppt/tags/tag151.xml><?xml version="1.0" encoding="utf-8"?>
<p:tagLst xmlns:p="http://schemas.openxmlformats.org/presentationml/2006/main">
  <p:tag name="KSO_WM_DIAGRAM_VIRTUALLY_FRAME" val="{&quot;height&quot;:65.1,&quot;left&quot;:51.1,&quot;top&quot;:306.7,&quot;width&quot;:442.1}"/>
</p:tagLst>
</file>

<file path=ppt/tags/tag152.xml><?xml version="1.0" encoding="utf-8"?>
<p:tagLst xmlns:p="http://schemas.openxmlformats.org/presentationml/2006/main">
  <p:tag name="KSO_WM_DIAGRAM_VIRTUALLY_FRAME" val="{&quot;height&quot;:65.1,&quot;left&quot;:51.1,&quot;top&quot;:306.7,&quot;width&quot;:442.1}"/>
</p:tagLst>
</file>

<file path=ppt/tags/tag153.xml><?xml version="1.0" encoding="utf-8"?>
<p:tagLst xmlns:p="http://schemas.openxmlformats.org/presentationml/2006/main">
  <p:tag name="KSO_WM_DIAGRAM_VIRTUALLY_FRAME" val="{&quot;height&quot;:65.1,&quot;left&quot;:51.1,&quot;top&quot;:306.7,&quot;width&quot;:442.1}"/>
</p:tagLst>
</file>

<file path=ppt/tags/tag154.xml><?xml version="1.0" encoding="utf-8"?>
<p:tagLst xmlns:p="http://schemas.openxmlformats.org/presentationml/2006/main">
  <p:tag name="KSO_WM_DIAGRAM_VIRTUALLY_FRAME" val="{&quot;height&quot;:65.1,&quot;left&quot;:51.1,&quot;top&quot;:306.7,&quot;width&quot;:442.1}"/>
</p:tagLst>
</file>

<file path=ppt/tags/tag155.xml><?xml version="1.0" encoding="utf-8"?>
<p:tagLst xmlns:p="http://schemas.openxmlformats.org/presentationml/2006/main">
  <p:tag name="KSO_WM_DIAGRAM_VIRTUALLY_FRAME" val="{&quot;height&quot;:65.1,&quot;left&quot;:51.1,&quot;top&quot;:306.7,&quot;width&quot;:442.1}"/>
</p:tagLst>
</file>

<file path=ppt/tags/tag156.xml><?xml version="1.0" encoding="utf-8"?>
<p:tagLst xmlns:p="http://schemas.openxmlformats.org/presentationml/2006/main">
  <p:tag name="KSO_WM_DIAGRAM_VIRTUALLY_FRAME" val="{&quot;height&quot;:65.1,&quot;left&quot;:51.1,&quot;top&quot;:306.7,&quot;width&quot;:442.1}"/>
</p:tagLst>
</file>

<file path=ppt/tags/tag157.xml><?xml version="1.0" encoding="utf-8"?>
<p:tagLst xmlns:p="http://schemas.openxmlformats.org/presentationml/2006/main">
  <p:tag name="KSO_WM_DIAGRAM_VIRTUALLY_FRAME" val="{&quot;height&quot;:297.36,&quot;left&quot;:507.6,&quot;top&quot;:63.36,&quot;width&quot;:187.2}"/>
</p:tagLst>
</file>

<file path=ppt/tags/tag158.xml><?xml version="1.0" encoding="utf-8"?>
<p:tagLst xmlns:p="http://schemas.openxmlformats.org/presentationml/2006/main">
  <p:tag name="KSO_WM_DIAGRAM_VIRTUALLY_FRAME" val="{&quot;height&quot;:297.36,&quot;left&quot;:507.6,&quot;top&quot;:63.36,&quot;width&quot;:187.2}"/>
</p:tagLst>
</file>

<file path=ppt/tags/tag159.xml><?xml version="1.0" encoding="utf-8"?>
<p:tagLst xmlns:p="http://schemas.openxmlformats.org/presentationml/2006/main">
  <p:tag name="KSO_WM_DIAGRAM_VIRTUALLY_FRAME" val="{&quot;height&quot;:297.36,&quot;left&quot;:507.6,&quot;top&quot;:63.36,&quot;width&quot;:187.2}"/>
</p:tagLst>
</file>

<file path=ppt/tags/tag160.xml><?xml version="1.0" encoding="utf-8"?>
<p:tagLst xmlns:p="http://schemas.openxmlformats.org/presentationml/2006/main">
  <p:tag name="TABLE_ENDDRAG_ORIGIN_RECT" val="394*227"/>
  <p:tag name="TABLE_ENDDRAG_RECT" val="25*89*394*227"/>
</p:tagLst>
</file>

<file path=ppt/tags/tag161.xml><?xml version="1.0" encoding="utf-8"?>
<p:tagLst xmlns:p="http://schemas.openxmlformats.org/presentationml/2006/main">
  <p:tag name="TABLE_ENDDRAG_ORIGIN_RECT" val="670*274"/>
  <p:tag name="TABLE_ENDDRAG_RECT" val="17*81*670*274"/>
</p:tagLst>
</file>

<file path=ppt/tags/tag162.xml><?xml version="1.0" encoding="utf-8"?>
<p:tagLst xmlns:p="http://schemas.openxmlformats.org/presentationml/2006/main">
  <p:tag name="TABLE_ENDDRAG_ORIGIN_RECT" val="670*254"/>
  <p:tag name="TABLE_ENDDRAG_RECT" val="17*98*670*2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19737</Words>
  <Application>WPS 演示</Application>
  <PresentationFormat>On-screen Show (16:9)</PresentationFormat>
  <Paragraphs>943</Paragraphs>
  <Slides>23</Slides>
  <Notes>14</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12</vt:i4>
      </vt:variant>
      <vt:variant>
        <vt:lpstr>幻灯片标题</vt:lpstr>
      </vt:variant>
      <vt:variant>
        <vt:i4>23</vt:i4>
      </vt:variant>
    </vt:vector>
  </HeadingPairs>
  <TitlesOfParts>
    <vt:vector size="58" baseType="lpstr">
      <vt:lpstr>Arial</vt:lpstr>
      <vt:lpstr>宋体</vt:lpstr>
      <vt:lpstr>Wingdings</vt:lpstr>
      <vt:lpstr>Calibri</vt:lpstr>
      <vt:lpstr>Calibri</vt:lpstr>
      <vt:lpstr>Calibri</vt:lpstr>
      <vt:lpstr>Georgia</vt:lpstr>
      <vt:lpstr>Georgia</vt:lpstr>
      <vt:lpstr>Georgia</vt:lpstr>
      <vt:lpstr>微软雅黑</vt:lpstr>
      <vt:lpstr>Arial Unicode MS</vt:lpstr>
      <vt:lpstr>等线</vt:lpstr>
      <vt:lpstr>Calibri</vt:lpstr>
      <vt:lpstr>Courier New</vt:lpstr>
      <vt:lpstr>Courier New</vt:lpstr>
      <vt:lpstr>Consolas</vt:lpstr>
      <vt:lpstr>-apple-system</vt:lpstr>
      <vt:lpstr>Segoe Print</vt:lpstr>
      <vt:lpstr>Google Sans Text</vt:lpstr>
      <vt:lpstr>Aptos</vt:lpstr>
      <vt:lpstr>Arial</vt:lpstr>
      <vt:lpstr>Segoe UI</vt:lpstr>
      <vt:lpstr>Office Theme</vt:lpstr>
      <vt:lpstr>Package</vt:lpstr>
      <vt:lpstr>Package</vt:lpstr>
      <vt:lpstr>Package</vt:lpstr>
      <vt:lpstr>Package</vt:lpstr>
      <vt:lpstr>Package</vt:lpstr>
      <vt:lpstr>Package</vt:lpstr>
      <vt:lpstr>Package</vt:lpstr>
      <vt:lpstr>Package</vt:lpstr>
      <vt:lpstr>Package</vt:lpstr>
      <vt:lpstr>Package</vt:lpstr>
      <vt:lpstr>Package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F550 Project – Exercise 1</dc:title>
  <dc:creator>PptxGenJS</dc:creator>
  <dc:subject>PptxGenJS Presentation</dc:subject>
  <cp:lastModifiedBy>我是不是有点胖了</cp:lastModifiedBy>
  <cp:revision>33</cp:revision>
  <dcterms:created xsi:type="dcterms:W3CDTF">2026-03-30T21:15:00Z</dcterms:created>
  <dcterms:modified xsi:type="dcterms:W3CDTF">2026-03-31T03:07:51Z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D07FC06650364BC9AE0D2CFE486BDF96_12</vt:lpwstr>
  </property>
</Properties>
</file>